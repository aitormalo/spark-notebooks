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8" r:id="rId2"/>
    <p:sldId id="257" r:id="rId3"/>
    <p:sldId id="270" r:id="rId4"/>
    <p:sldId id="273" r:id="rId5"/>
    <p:sldId id="276" r:id="rId6"/>
    <p:sldId id="271" r:id="rId7"/>
    <p:sldId id="259" r:id="rId8"/>
    <p:sldId id="274" r:id="rId9"/>
    <p:sldId id="275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8236B-8D1E-3AB4-76C7-D75D7A102D5B}" v="1795" dt="2026-01-14T00:35:58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14/01/2026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14/01/2026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emf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8B514A2-D5F1-4295-9947-805B7C2958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6912023-AE0D-4548-9487-75E047750798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C7334C-D094-45E2-BBEC-50394B6877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38" y="5756774"/>
            <a:ext cx="2849562" cy="271463"/>
            <a:chOff x="485" y="4130"/>
            <a:chExt cx="1795" cy="17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1DECA5A9-7A0A-4F46-8245-CC72DA0148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4176"/>
              <a:ext cx="92" cy="122"/>
            </a:xfrm>
            <a:custGeom>
              <a:avLst/>
              <a:gdLst>
                <a:gd name="T0" fmla="*/ 306 w 306"/>
                <a:gd name="T1" fmla="*/ 188 h 406"/>
                <a:gd name="T2" fmla="*/ 306 w 306"/>
                <a:gd name="T3" fmla="*/ 385 h 406"/>
                <a:gd name="T4" fmla="*/ 251 w 306"/>
                <a:gd name="T5" fmla="*/ 401 h 406"/>
                <a:gd name="T6" fmla="*/ 192 w 306"/>
                <a:gd name="T7" fmla="*/ 406 h 406"/>
                <a:gd name="T8" fmla="*/ 87 w 306"/>
                <a:gd name="T9" fmla="*/ 381 h 406"/>
                <a:gd name="T10" fmla="*/ 22 w 306"/>
                <a:gd name="T11" fmla="*/ 310 h 406"/>
                <a:gd name="T12" fmla="*/ 0 w 306"/>
                <a:gd name="T13" fmla="*/ 202 h 406"/>
                <a:gd name="T14" fmla="*/ 24 w 306"/>
                <a:gd name="T15" fmla="*/ 92 h 406"/>
                <a:gd name="T16" fmla="*/ 91 w 306"/>
                <a:gd name="T17" fmla="*/ 23 h 406"/>
                <a:gd name="T18" fmla="*/ 194 w 306"/>
                <a:gd name="T19" fmla="*/ 0 h 406"/>
                <a:gd name="T20" fmla="*/ 253 w 306"/>
                <a:gd name="T21" fmla="*/ 5 h 406"/>
                <a:gd name="T22" fmla="*/ 302 w 306"/>
                <a:gd name="T23" fmla="*/ 18 h 406"/>
                <a:gd name="T24" fmla="*/ 294 w 306"/>
                <a:gd name="T25" fmla="*/ 56 h 406"/>
                <a:gd name="T26" fmla="*/ 194 w 306"/>
                <a:gd name="T27" fmla="*/ 38 h 406"/>
                <a:gd name="T28" fmla="*/ 113 w 306"/>
                <a:gd name="T29" fmla="*/ 56 h 406"/>
                <a:gd name="T30" fmla="*/ 60 w 306"/>
                <a:gd name="T31" fmla="*/ 112 h 406"/>
                <a:gd name="T32" fmla="*/ 42 w 306"/>
                <a:gd name="T33" fmla="*/ 200 h 406"/>
                <a:gd name="T34" fmla="*/ 59 w 306"/>
                <a:gd name="T35" fmla="*/ 292 h 406"/>
                <a:gd name="T36" fmla="*/ 112 w 306"/>
                <a:gd name="T37" fmla="*/ 349 h 406"/>
                <a:gd name="T38" fmla="*/ 195 w 306"/>
                <a:gd name="T39" fmla="*/ 368 h 406"/>
                <a:gd name="T40" fmla="*/ 230 w 306"/>
                <a:gd name="T41" fmla="*/ 366 h 406"/>
                <a:gd name="T42" fmla="*/ 266 w 306"/>
                <a:gd name="T43" fmla="*/ 358 h 406"/>
                <a:gd name="T44" fmla="*/ 266 w 306"/>
                <a:gd name="T45" fmla="*/ 188 h 406"/>
                <a:gd name="T46" fmla="*/ 306 w 306"/>
                <a:gd name="T47" fmla="*/ 188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6" h="406">
                  <a:moveTo>
                    <a:pt x="306" y="188"/>
                  </a:moveTo>
                  <a:cubicBezTo>
                    <a:pt x="306" y="385"/>
                    <a:pt x="306" y="385"/>
                    <a:pt x="306" y="385"/>
                  </a:cubicBezTo>
                  <a:cubicBezTo>
                    <a:pt x="289" y="392"/>
                    <a:pt x="270" y="397"/>
                    <a:pt x="251" y="401"/>
                  </a:cubicBezTo>
                  <a:cubicBezTo>
                    <a:pt x="231" y="404"/>
                    <a:pt x="211" y="406"/>
                    <a:pt x="192" y="406"/>
                  </a:cubicBezTo>
                  <a:cubicBezTo>
                    <a:pt x="151" y="406"/>
                    <a:pt x="116" y="398"/>
                    <a:pt x="87" y="381"/>
                  </a:cubicBezTo>
                  <a:cubicBezTo>
                    <a:pt x="58" y="364"/>
                    <a:pt x="37" y="341"/>
                    <a:pt x="22" y="310"/>
                  </a:cubicBezTo>
                  <a:cubicBezTo>
                    <a:pt x="8" y="279"/>
                    <a:pt x="0" y="243"/>
                    <a:pt x="0" y="202"/>
                  </a:cubicBezTo>
                  <a:cubicBezTo>
                    <a:pt x="0" y="159"/>
                    <a:pt x="8" y="122"/>
                    <a:pt x="24" y="92"/>
                  </a:cubicBezTo>
                  <a:cubicBezTo>
                    <a:pt x="39" y="61"/>
                    <a:pt x="62" y="39"/>
                    <a:pt x="91" y="23"/>
                  </a:cubicBezTo>
                  <a:cubicBezTo>
                    <a:pt x="120" y="8"/>
                    <a:pt x="154" y="0"/>
                    <a:pt x="194" y="0"/>
                  </a:cubicBezTo>
                  <a:cubicBezTo>
                    <a:pt x="215" y="0"/>
                    <a:pt x="234" y="2"/>
                    <a:pt x="253" y="5"/>
                  </a:cubicBezTo>
                  <a:cubicBezTo>
                    <a:pt x="271" y="8"/>
                    <a:pt x="287" y="12"/>
                    <a:pt x="302" y="18"/>
                  </a:cubicBezTo>
                  <a:cubicBezTo>
                    <a:pt x="301" y="31"/>
                    <a:pt x="298" y="44"/>
                    <a:pt x="294" y="56"/>
                  </a:cubicBezTo>
                  <a:cubicBezTo>
                    <a:pt x="263" y="44"/>
                    <a:pt x="229" y="38"/>
                    <a:pt x="194" y="38"/>
                  </a:cubicBezTo>
                  <a:cubicBezTo>
                    <a:pt x="163" y="38"/>
                    <a:pt x="136" y="44"/>
                    <a:pt x="113" y="56"/>
                  </a:cubicBezTo>
                  <a:cubicBezTo>
                    <a:pt x="90" y="69"/>
                    <a:pt x="72" y="87"/>
                    <a:pt x="60" y="112"/>
                  </a:cubicBezTo>
                  <a:cubicBezTo>
                    <a:pt x="48" y="136"/>
                    <a:pt x="42" y="166"/>
                    <a:pt x="42" y="200"/>
                  </a:cubicBezTo>
                  <a:cubicBezTo>
                    <a:pt x="42" y="236"/>
                    <a:pt x="48" y="267"/>
                    <a:pt x="59" y="292"/>
                  </a:cubicBezTo>
                  <a:cubicBezTo>
                    <a:pt x="71" y="317"/>
                    <a:pt x="89" y="336"/>
                    <a:pt x="112" y="349"/>
                  </a:cubicBezTo>
                  <a:cubicBezTo>
                    <a:pt x="135" y="362"/>
                    <a:pt x="162" y="368"/>
                    <a:pt x="195" y="368"/>
                  </a:cubicBezTo>
                  <a:cubicBezTo>
                    <a:pt x="206" y="368"/>
                    <a:pt x="218" y="367"/>
                    <a:pt x="230" y="366"/>
                  </a:cubicBezTo>
                  <a:cubicBezTo>
                    <a:pt x="243" y="364"/>
                    <a:pt x="255" y="361"/>
                    <a:pt x="266" y="358"/>
                  </a:cubicBezTo>
                  <a:cubicBezTo>
                    <a:pt x="266" y="188"/>
                    <a:pt x="266" y="188"/>
                    <a:pt x="266" y="188"/>
                  </a:cubicBezTo>
                  <a:lnTo>
                    <a:pt x="306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7D360805-C97D-4CF2-A7E9-8C1EFE5FB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07" y="4178"/>
              <a:ext cx="12" cy="118"/>
            </a:xfrm>
            <a:custGeom>
              <a:avLst/>
              <a:gdLst>
                <a:gd name="T0" fmla="*/ 0 w 39"/>
                <a:gd name="T1" fmla="*/ 6 h 393"/>
                <a:gd name="T2" fmla="*/ 20 w 39"/>
                <a:gd name="T3" fmla="*/ 2 h 393"/>
                <a:gd name="T4" fmla="*/ 39 w 39"/>
                <a:gd name="T5" fmla="*/ 0 h 393"/>
                <a:gd name="T6" fmla="*/ 39 w 39"/>
                <a:gd name="T7" fmla="*/ 393 h 393"/>
                <a:gd name="T8" fmla="*/ 0 w 39"/>
                <a:gd name="T9" fmla="*/ 393 h 393"/>
                <a:gd name="T10" fmla="*/ 0 w 39"/>
                <a:gd name="T11" fmla="*/ 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93">
                  <a:moveTo>
                    <a:pt x="0" y="6"/>
                  </a:moveTo>
                  <a:cubicBezTo>
                    <a:pt x="6" y="4"/>
                    <a:pt x="12" y="3"/>
                    <a:pt x="20" y="2"/>
                  </a:cubicBezTo>
                  <a:cubicBezTo>
                    <a:pt x="27" y="0"/>
                    <a:pt x="33" y="0"/>
                    <a:pt x="39" y="0"/>
                  </a:cubicBezTo>
                  <a:cubicBezTo>
                    <a:pt x="39" y="393"/>
                    <a:pt x="39" y="393"/>
                    <a:pt x="39" y="393"/>
                  </a:cubicBezTo>
                  <a:cubicBezTo>
                    <a:pt x="0" y="393"/>
                    <a:pt x="0" y="393"/>
                    <a:pt x="0" y="393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91B945D-4732-4E63-B310-2A17008772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35" y="4206"/>
              <a:ext cx="83" cy="92"/>
            </a:xfrm>
            <a:custGeom>
              <a:avLst/>
              <a:gdLst>
                <a:gd name="T0" fmla="*/ 62 w 276"/>
                <a:gd name="T1" fmla="*/ 286 h 305"/>
                <a:gd name="T2" fmla="*/ 16 w 276"/>
                <a:gd name="T3" fmla="*/ 233 h 305"/>
                <a:gd name="T4" fmla="*/ 0 w 276"/>
                <a:gd name="T5" fmla="*/ 154 h 305"/>
                <a:gd name="T6" fmla="*/ 17 w 276"/>
                <a:gd name="T7" fmla="*/ 72 h 305"/>
                <a:gd name="T8" fmla="*/ 65 w 276"/>
                <a:gd name="T9" fmla="*/ 19 h 305"/>
                <a:gd name="T10" fmla="*/ 140 w 276"/>
                <a:gd name="T11" fmla="*/ 0 h 305"/>
                <a:gd name="T12" fmla="*/ 215 w 276"/>
                <a:gd name="T13" fmla="*/ 20 h 305"/>
                <a:gd name="T14" fmla="*/ 261 w 276"/>
                <a:gd name="T15" fmla="*/ 73 h 305"/>
                <a:gd name="T16" fmla="*/ 276 w 276"/>
                <a:gd name="T17" fmla="*/ 150 h 305"/>
                <a:gd name="T18" fmla="*/ 260 w 276"/>
                <a:gd name="T19" fmla="*/ 233 h 305"/>
                <a:gd name="T20" fmla="*/ 212 w 276"/>
                <a:gd name="T21" fmla="*/ 286 h 305"/>
                <a:gd name="T22" fmla="*/ 136 w 276"/>
                <a:gd name="T23" fmla="*/ 305 h 305"/>
                <a:gd name="T24" fmla="*/ 62 w 276"/>
                <a:gd name="T25" fmla="*/ 286 h 305"/>
                <a:gd name="T26" fmla="*/ 211 w 276"/>
                <a:gd name="T27" fmla="*/ 239 h 305"/>
                <a:gd name="T28" fmla="*/ 236 w 276"/>
                <a:gd name="T29" fmla="*/ 153 h 305"/>
                <a:gd name="T30" fmla="*/ 211 w 276"/>
                <a:gd name="T31" fmla="*/ 66 h 305"/>
                <a:gd name="T32" fmla="*/ 139 w 276"/>
                <a:gd name="T33" fmla="*/ 36 h 305"/>
                <a:gd name="T34" fmla="*/ 66 w 276"/>
                <a:gd name="T35" fmla="*/ 67 h 305"/>
                <a:gd name="T36" fmla="*/ 40 w 276"/>
                <a:gd name="T37" fmla="*/ 152 h 305"/>
                <a:gd name="T38" fmla="*/ 66 w 276"/>
                <a:gd name="T39" fmla="*/ 239 h 305"/>
                <a:gd name="T40" fmla="*/ 139 w 276"/>
                <a:gd name="T41" fmla="*/ 270 h 305"/>
                <a:gd name="T42" fmla="*/ 211 w 276"/>
                <a:gd name="T43" fmla="*/ 239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6" h="305">
                  <a:moveTo>
                    <a:pt x="62" y="286"/>
                  </a:moveTo>
                  <a:cubicBezTo>
                    <a:pt x="42" y="273"/>
                    <a:pt x="26" y="255"/>
                    <a:pt x="16" y="233"/>
                  </a:cubicBezTo>
                  <a:cubicBezTo>
                    <a:pt x="6" y="210"/>
                    <a:pt x="0" y="184"/>
                    <a:pt x="0" y="154"/>
                  </a:cubicBezTo>
                  <a:cubicBezTo>
                    <a:pt x="0" y="123"/>
                    <a:pt x="6" y="96"/>
                    <a:pt x="17" y="72"/>
                  </a:cubicBezTo>
                  <a:cubicBezTo>
                    <a:pt x="28" y="49"/>
                    <a:pt x="44" y="31"/>
                    <a:pt x="65" y="19"/>
                  </a:cubicBezTo>
                  <a:cubicBezTo>
                    <a:pt x="86" y="7"/>
                    <a:pt x="111" y="0"/>
                    <a:pt x="140" y="0"/>
                  </a:cubicBezTo>
                  <a:cubicBezTo>
                    <a:pt x="169" y="0"/>
                    <a:pt x="195" y="7"/>
                    <a:pt x="215" y="20"/>
                  </a:cubicBezTo>
                  <a:cubicBezTo>
                    <a:pt x="236" y="32"/>
                    <a:pt x="251" y="50"/>
                    <a:pt x="261" y="73"/>
                  </a:cubicBezTo>
                  <a:cubicBezTo>
                    <a:pt x="271" y="95"/>
                    <a:pt x="276" y="121"/>
                    <a:pt x="276" y="150"/>
                  </a:cubicBezTo>
                  <a:cubicBezTo>
                    <a:pt x="276" y="182"/>
                    <a:pt x="271" y="210"/>
                    <a:pt x="260" y="233"/>
                  </a:cubicBezTo>
                  <a:cubicBezTo>
                    <a:pt x="249" y="256"/>
                    <a:pt x="233" y="274"/>
                    <a:pt x="212" y="286"/>
                  </a:cubicBezTo>
                  <a:cubicBezTo>
                    <a:pt x="191" y="299"/>
                    <a:pt x="166" y="305"/>
                    <a:pt x="136" y="305"/>
                  </a:cubicBezTo>
                  <a:cubicBezTo>
                    <a:pt x="107" y="305"/>
                    <a:pt x="82" y="299"/>
                    <a:pt x="62" y="286"/>
                  </a:cubicBezTo>
                  <a:close/>
                  <a:moveTo>
                    <a:pt x="211" y="239"/>
                  </a:moveTo>
                  <a:cubicBezTo>
                    <a:pt x="228" y="218"/>
                    <a:pt x="236" y="189"/>
                    <a:pt x="236" y="153"/>
                  </a:cubicBezTo>
                  <a:cubicBezTo>
                    <a:pt x="236" y="116"/>
                    <a:pt x="228" y="87"/>
                    <a:pt x="211" y="66"/>
                  </a:cubicBezTo>
                  <a:cubicBezTo>
                    <a:pt x="194" y="46"/>
                    <a:pt x="170" y="36"/>
                    <a:pt x="139" y="36"/>
                  </a:cubicBezTo>
                  <a:cubicBezTo>
                    <a:pt x="107" y="36"/>
                    <a:pt x="82" y="46"/>
                    <a:pt x="66" y="67"/>
                  </a:cubicBezTo>
                  <a:cubicBezTo>
                    <a:pt x="49" y="88"/>
                    <a:pt x="40" y="116"/>
                    <a:pt x="40" y="152"/>
                  </a:cubicBezTo>
                  <a:cubicBezTo>
                    <a:pt x="40" y="190"/>
                    <a:pt x="49" y="219"/>
                    <a:pt x="66" y="239"/>
                  </a:cubicBezTo>
                  <a:cubicBezTo>
                    <a:pt x="82" y="259"/>
                    <a:pt x="107" y="270"/>
                    <a:pt x="139" y="270"/>
                  </a:cubicBezTo>
                  <a:cubicBezTo>
                    <a:pt x="171" y="270"/>
                    <a:pt x="195" y="259"/>
                    <a:pt x="211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788F65C-0746-449C-BD12-8CB55C7A58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5" y="4178"/>
              <a:ext cx="72" cy="120"/>
            </a:xfrm>
            <a:custGeom>
              <a:avLst/>
              <a:gdLst>
                <a:gd name="T0" fmla="*/ 210 w 244"/>
                <a:gd name="T1" fmla="*/ 135 h 400"/>
                <a:gd name="T2" fmla="*/ 244 w 244"/>
                <a:gd name="T3" fmla="*/ 247 h 400"/>
                <a:gd name="T4" fmla="*/ 207 w 244"/>
                <a:gd name="T5" fmla="*/ 360 h 400"/>
                <a:gd name="T6" fmla="*/ 96 w 244"/>
                <a:gd name="T7" fmla="*/ 400 h 400"/>
                <a:gd name="T8" fmla="*/ 0 w 244"/>
                <a:gd name="T9" fmla="*/ 384 h 400"/>
                <a:gd name="T10" fmla="*/ 0 w 244"/>
                <a:gd name="T11" fmla="*/ 6 h 400"/>
                <a:gd name="T12" fmla="*/ 39 w 244"/>
                <a:gd name="T13" fmla="*/ 0 h 400"/>
                <a:gd name="T14" fmla="*/ 39 w 244"/>
                <a:gd name="T15" fmla="*/ 109 h 400"/>
                <a:gd name="T16" fmla="*/ 108 w 244"/>
                <a:gd name="T17" fmla="*/ 95 h 400"/>
                <a:gd name="T18" fmla="*/ 210 w 244"/>
                <a:gd name="T19" fmla="*/ 135 h 400"/>
                <a:gd name="T20" fmla="*/ 178 w 244"/>
                <a:gd name="T21" fmla="*/ 335 h 400"/>
                <a:gd name="T22" fmla="*/ 204 w 244"/>
                <a:gd name="T23" fmla="*/ 247 h 400"/>
                <a:gd name="T24" fmla="*/ 103 w 244"/>
                <a:gd name="T25" fmla="*/ 130 h 400"/>
                <a:gd name="T26" fmla="*/ 39 w 244"/>
                <a:gd name="T27" fmla="*/ 143 h 400"/>
                <a:gd name="T28" fmla="*/ 39 w 244"/>
                <a:gd name="T29" fmla="*/ 357 h 400"/>
                <a:gd name="T30" fmla="*/ 99 w 244"/>
                <a:gd name="T31" fmla="*/ 365 h 400"/>
                <a:gd name="T32" fmla="*/ 178 w 244"/>
                <a:gd name="T33" fmla="*/ 33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4" h="400">
                  <a:moveTo>
                    <a:pt x="210" y="135"/>
                  </a:moveTo>
                  <a:cubicBezTo>
                    <a:pt x="233" y="161"/>
                    <a:pt x="244" y="198"/>
                    <a:pt x="244" y="247"/>
                  </a:cubicBezTo>
                  <a:cubicBezTo>
                    <a:pt x="244" y="296"/>
                    <a:pt x="232" y="334"/>
                    <a:pt x="207" y="360"/>
                  </a:cubicBezTo>
                  <a:cubicBezTo>
                    <a:pt x="182" y="387"/>
                    <a:pt x="145" y="400"/>
                    <a:pt x="96" y="400"/>
                  </a:cubicBezTo>
                  <a:cubicBezTo>
                    <a:pt x="60" y="400"/>
                    <a:pt x="28" y="395"/>
                    <a:pt x="0" y="38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2" y="2"/>
                    <a:pt x="25" y="0"/>
                    <a:pt x="39" y="0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60" y="100"/>
                    <a:pt x="84" y="95"/>
                    <a:pt x="108" y="95"/>
                  </a:cubicBezTo>
                  <a:cubicBezTo>
                    <a:pt x="153" y="95"/>
                    <a:pt x="187" y="109"/>
                    <a:pt x="210" y="135"/>
                  </a:cubicBezTo>
                  <a:close/>
                  <a:moveTo>
                    <a:pt x="178" y="335"/>
                  </a:moveTo>
                  <a:cubicBezTo>
                    <a:pt x="196" y="315"/>
                    <a:pt x="204" y="286"/>
                    <a:pt x="204" y="247"/>
                  </a:cubicBezTo>
                  <a:cubicBezTo>
                    <a:pt x="204" y="169"/>
                    <a:pt x="171" y="130"/>
                    <a:pt x="103" y="130"/>
                  </a:cubicBezTo>
                  <a:cubicBezTo>
                    <a:pt x="82" y="130"/>
                    <a:pt x="60" y="135"/>
                    <a:pt x="39" y="143"/>
                  </a:cubicBezTo>
                  <a:cubicBezTo>
                    <a:pt x="39" y="357"/>
                    <a:pt x="39" y="357"/>
                    <a:pt x="39" y="357"/>
                  </a:cubicBezTo>
                  <a:cubicBezTo>
                    <a:pt x="59" y="362"/>
                    <a:pt x="79" y="365"/>
                    <a:pt x="99" y="365"/>
                  </a:cubicBezTo>
                  <a:cubicBezTo>
                    <a:pt x="134" y="365"/>
                    <a:pt x="160" y="355"/>
                    <a:pt x="178" y="3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36F833DC-7BD8-428C-B0BB-F3B8D714A1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19" y="4206"/>
              <a:ext cx="72" cy="92"/>
            </a:xfrm>
            <a:custGeom>
              <a:avLst/>
              <a:gdLst>
                <a:gd name="T0" fmla="*/ 199 w 244"/>
                <a:gd name="T1" fmla="*/ 4 h 305"/>
                <a:gd name="T2" fmla="*/ 244 w 244"/>
                <a:gd name="T3" fmla="*/ 16 h 305"/>
                <a:gd name="T4" fmla="*/ 244 w 244"/>
                <a:gd name="T5" fmla="*/ 298 h 305"/>
                <a:gd name="T6" fmla="*/ 207 w 244"/>
                <a:gd name="T7" fmla="*/ 298 h 305"/>
                <a:gd name="T8" fmla="*/ 206 w 244"/>
                <a:gd name="T9" fmla="*/ 276 h 305"/>
                <a:gd name="T10" fmla="*/ 171 w 244"/>
                <a:gd name="T11" fmla="*/ 297 h 305"/>
                <a:gd name="T12" fmla="*/ 129 w 244"/>
                <a:gd name="T13" fmla="*/ 305 h 305"/>
                <a:gd name="T14" fmla="*/ 60 w 244"/>
                <a:gd name="T15" fmla="*/ 288 h 305"/>
                <a:gd name="T16" fmla="*/ 15 w 244"/>
                <a:gd name="T17" fmla="*/ 236 h 305"/>
                <a:gd name="T18" fmla="*/ 0 w 244"/>
                <a:gd name="T19" fmla="*/ 155 h 305"/>
                <a:gd name="T20" fmla="*/ 37 w 244"/>
                <a:gd name="T21" fmla="*/ 40 h 305"/>
                <a:gd name="T22" fmla="*/ 150 w 244"/>
                <a:gd name="T23" fmla="*/ 0 h 305"/>
                <a:gd name="T24" fmla="*/ 199 w 244"/>
                <a:gd name="T25" fmla="*/ 4 h 305"/>
                <a:gd name="T26" fmla="*/ 63 w 244"/>
                <a:gd name="T27" fmla="*/ 241 h 305"/>
                <a:gd name="T28" fmla="*/ 133 w 244"/>
                <a:gd name="T29" fmla="*/ 272 h 305"/>
                <a:gd name="T30" fmla="*/ 204 w 244"/>
                <a:gd name="T31" fmla="*/ 244 h 305"/>
                <a:gd name="T32" fmla="*/ 204 w 244"/>
                <a:gd name="T33" fmla="*/ 42 h 305"/>
                <a:gd name="T34" fmla="*/ 150 w 244"/>
                <a:gd name="T35" fmla="*/ 35 h 305"/>
                <a:gd name="T36" fmla="*/ 67 w 244"/>
                <a:gd name="T37" fmla="*/ 66 h 305"/>
                <a:gd name="T38" fmla="*/ 40 w 244"/>
                <a:gd name="T39" fmla="*/ 155 h 305"/>
                <a:gd name="T40" fmla="*/ 63 w 244"/>
                <a:gd name="T41" fmla="*/ 2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4" h="305">
                  <a:moveTo>
                    <a:pt x="199" y="4"/>
                  </a:moveTo>
                  <a:cubicBezTo>
                    <a:pt x="214" y="7"/>
                    <a:pt x="229" y="11"/>
                    <a:pt x="244" y="16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6" y="276"/>
                    <a:pt x="206" y="276"/>
                    <a:pt x="206" y="276"/>
                  </a:cubicBezTo>
                  <a:cubicBezTo>
                    <a:pt x="196" y="285"/>
                    <a:pt x="184" y="292"/>
                    <a:pt x="171" y="297"/>
                  </a:cubicBezTo>
                  <a:cubicBezTo>
                    <a:pt x="158" y="303"/>
                    <a:pt x="144" y="305"/>
                    <a:pt x="129" y="305"/>
                  </a:cubicBezTo>
                  <a:cubicBezTo>
                    <a:pt x="103" y="305"/>
                    <a:pt x="80" y="299"/>
                    <a:pt x="60" y="288"/>
                  </a:cubicBezTo>
                  <a:cubicBezTo>
                    <a:pt x="41" y="276"/>
                    <a:pt x="26" y="259"/>
                    <a:pt x="15" y="236"/>
                  </a:cubicBezTo>
                  <a:cubicBezTo>
                    <a:pt x="5" y="214"/>
                    <a:pt x="0" y="187"/>
                    <a:pt x="0" y="155"/>
                  </a:cubicBezTo>
                  <a:cubicBezTo>
                    <a:pt x="0" y="105"/>
                    <a:pt x="12" y="66"/>
                    <a:pt x="37" y="40"/>
                  </a:cubicBezTo>
                  <a:cubicBezTo>
                    <a:pt x="62" y="14"/>
                    <a:pt x="100" y="0"/>
                    <a:pt x="150" y="0"/>
                  </a:cubicBezTo>
                  <a:cubicBezTo>
                    <a:pt x="167" y="0"/>
                    <a:pt x="184" y="2"/>
                    <a:pt x="199" y="4"/>
                  </a:cubicBezTo>
                  <a:close/>
                  <a:moveTo>
                    <a:pt x="63" y="241"/>
                  </a:moveTo>
                  <a:cubicBezTo>
                    <a:pt x="79" y="262"/>
                    <a:pt x="102" y="272"/>
                    <a:pt x="133" y="272"/>
                  </a:cubicBezTo>
                  <a:cubicBezTo>
                    <a:pt x="161" y="272"/>
                    <a:pt x="184" y="263"/>
                    <a:pt x="204" y="244"/>
                  </a:cubicBezTo>
                  <a:cubicBezTo>
                    <a:pt x="204" y="42"/>
                    <a:pt x="204" y="42"/>
                    <a:pt x="204" y="42"/>
                  </a:cubicBezTo>
                  <a:cubicBezTo>
                    <a:pt x="188" y="38"/>
                    <a:pt x="169" y="35"/>
                    <a:pt x="150" y="35"/>
                  </a:cubicBezTo>
                  <a:cubicBezTo>
                    <a:pt x="112" y="35"/>
                    <a:pt x="85" y="46"/>
                    <a:pt x="67" y="66"/>
                  </a:cubicBezTo>
                  <a:cubicBezTo>
                    <a:pt x="49" y="87"/>
                    <a:pt x="40" y="116"/>
                    <a:pt x="40" y="155"/>
                  </a:cubicBezTo>
                  <a:cubicBezTo>
                    <a:pt x="40" y="192"/>
                    <a:pt x="48" y="221"/>
                    <a:pt x="63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7CFCC83-6751-4E6A-A098-9F6245C975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4" y="4178"/>
              <a:ext cx="12" cy="118"/>
            </a:xfrm>
            <a:custGeom>
              <a:avLst/>
              <a:gdLst>
                <a:gd name="T0" fmla="*/ 0 w 39"/>
                <a:gd name="T1" fmla="*/ 6 h 393"/>
                <a:gd name="T2" fmla="*/ 20 w 39"/>
                <a:gd name="T3" fmla="*/ 2 h 393"/>
                <a:gd name="T4" fmla="*/ 39 w 39"/>
                <a:gd name="T5" fmla="*/ 0 h 393"/>
                <a:gd name="T6" fmla="*/ 39 w 39"/>
                <a:gd name="T7" fmla="*/ 393 h 393"/>
                <a:gd name="T8" fmla="*/ 0 w 39"/>
                <a:gd name="T9" fmla="*/ 393 h 393"/>
                <a:gd name="T10" fmla="*/ 0 w 39"/>
                <a:gd name="T11" fmla="*/ 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93">
                  <a:moveTo>
                    <a:pt x="0" y="6"/>
                  </a:moveTo>
                  <a:cubicBezTo>
                    <a:pt x="6" y="4"/>
                    <a:pt x="12" y="3"/>
                    <a:pt x="20" y="2"/>
                  </a:cubicBezTo>
                  <a:cubicBezTo>
                    <a:pt x="27" y="0"/>
                    <a:pt x="34" y="0"/>
                    <a:pt x="39" y="0"/>
                  </a:cubicBezTo>
                  <a:cubicBezTo>
                    <a:pt x="39" y="393"/>
                    <a:pt x="39" y="393"/>
                    <a:pt x="39" y="393"/>
                  </a:cubicBezTo>
                  <a:cubicBezTo>
                    <a:pt x="0" y="393"/>
                    <a:pt x="0" y="393"/>
                    <a:pt x="0" y="393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8C966FE8-12EF-44D6-AEB2-D6A4FFF2F5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0" y="4179"/>
              <a:ext cx="89" cy="117"/>
            </a:xfrm>
            <a:custGeom>
              <a:avLst/>
              <a:gdLst>
                <a:gd name="T0" fmla="*/ 294 w 299"/>
                <a:gd name="T1" fmla="*/ 38 h 390"/>
                <a:gd name="T2" fmla="*/ 169 w 299"/>
                <a:gd name="T3" fmla="*/ 38 h 390"/>
                <a:gd name="T4" fmla="*/ 169 w 299"/>
                <a:gd name="T5" fmla="*/ 390 h 390"/>
                <a:gd name="T6" fmla="*/ 129 w 299"/>
                <a:gd name="T7" fmla="*/ 390 h 390"/>
                <a:gd name="T8" fmla="*/ 129 w 299"/>
                <a:gd name="T9" fmla="*/ 38 h 390"/>
                <a:gd name="T10" fmla="*/ 0 w 299"/>
                <a:gd name="T11" fmla="*/ 38 h 390"/>
                <a:gd name="T12" fmla="*/ 4 w 299"/>
                <a:gd name="T13" fmla="*/ 0 h 390"/>
                <a:gd name="T14" fmla="*/ 299 w 299"/>
                <a:gd name="T15" fmla="*/ 0 h 390"/>
                <a:gd name="T16" fmla="*/ 294 w 299"/>
                <a:gd name="T17" fmla="*/ 38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390">
                  <a:moveTo>
                    <a:pt x="294" y="38"/>
                  </a:moveTo>
                  <a:cubicBezTo>
                    <a:pt x="169" y="38"/>
                    <a:pt x="169" y="38"/>
                    <a:pt x="169" y="38"/>
                  </a:cubicBezTo>
                  <a:cubicBezTo>
                    <a:pt x="169" y="390"/>
                    <a:pt x="169" y="390"/>
                    <a:pt x="169" y="390"/>
                  </a:cubicBezTo>
                  <a:cubicBezTo>
                    <a:pt x="129" y="390"/>
                    <a:pt x="129" y="390"/>
                    <a:pt x="129" y="390"/>
                  </a:cubicBezTo>
                  <a:cubicBezTo>
                    <a:pt x="129" y="38"/>
                    <a:pt x="129" y="38"/>
                    <a:pt x="129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3"/>
                    <a:pt x="2" y="10"/>
                    <a:pt x="4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8" y="15"/>
                    <a:pt x="296" y="27"/>
                    <a:pt x="29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B41E27-F05A-4C82-B19E-C647C67327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42" y="4206"/>
              <a:ext cx="76" cy="92"/>
            </a:xfrm>
            <a:custGeom>
              <a:avLst/>
              <a:gdLst>
                <a:gd name="T0" fmla="*/ 250 w 252"/>
                <a:gd name="T1" fmla="*/ 166 h 305"/>
                <a:gd name="T2" fmla="*/ 41 w 252"/>
                <a:gd name="T3" fmla="*/ 166 h 305"/>
                <a:gd name="T4" fmla="*/ 71 w 252"/>
                <a:gd name="T5" fmla="*/ 244 h 305"/>
                <a:gd name="T6" fmla="*/ 146 w 252"/>
                <a:gd name="T7" fmla="*/ 270 h 305"/>
                <a:gd name="T8" fmla="*/ 194 w 252"/>
                <a:gd name="T9" fmla="*/ 264 h 305"/>
                <a:gd name="T10" fmla="*/ 240 w 252"/>
                <a:gd name="T11" fmla="*/ 246 h 305"/>
                <a:gd name="T12" fmla="*/ 234 w 252"/>
                <a:gd name="T13" fmla="*/ 284 h 305"/>
                <a:gd name="T14" fmla="*/ 192 w 252"/>
                <a:gd name="T15" fmla="*/ 300 h 305"/>
                <a:gd name="T16" fmla="*/ 144 w 252"/>
                <a:gd name="T17" fmla="*/ 305 h 305"/>
                <a:gd name="T18" fmla="*/ 65 w 252"/>
                <a:gd name="T19" fmla="*/ 287 h 305"/>
                <a:gd name="T20" fmla="*/ 17 w 252"/>
                <a:gd name="T21" fmla="*/ 234 h 305"/>
                <a:gd name="T22" fmla="*/ 0 w 252"/>
                <a:gd name="T23" fmla="*/ 151 h 305"/>
                <a:gd name="T24" fmla="*/ 14 w 252"/>
                <a:gd name="T25" fmla="*/ 74 h 305"/>
                <a:gd name="T26" fmla="*/ 57 w 252"/>
                <a:gd name="T27" fmla="*/ 20 h 305"/>
                <a:gd name="T28" fmla="*/ 131 w 252"/>
                <a:gd name="T29" fmla="*/ 0 h 305"/>
                <a:gd name="T30" fmla="*/ 199 w 252"/>
                <a:gd name="T31" fmla="*/ 18 h 305"/>
                <a:gd name="T32" fmla="*/ 239 w 252"/>
                <a:gd name="T33" fmla="*/ 64 h 305"/>
                <a:gd name="T34" fmla="*/ 252 w 252"/>
                <a:gd name="T35" fmla="*/ 131 h 305"/>
                <a:gd name="T36" fmla="*/ 250 w 252"/>
                <a:gd name="T37" fmla="*/ 166 h 305"/>
                <a:gd name="T38" fmla="*/ 66 w 252"/>
                <a:gd name="T39" fmla="*/ 60 h 305"/>
                <a:gd name="T40" fmla="*/ 41 w 252"/>
                <a:gd name="T41" fmla="*/ 131 h 305"/>
                <a:gd name="T42" fmla="*/ 212 w 252"/>
                <a:gd name="T43" fmla="*/ 131 h 305"/>
                <a:gd name="T44" fmla="*/ 212 w 252"/>
                <a:gd name="T45" fmla="*/ 129 h 305"/>
                <a:gd name="T46" fmla="*/ 191 w 252"/>
                <a:gd name="T47" fmla="*/ 60 h 305"/>
                <a:gd name="T48" fmla="*/ 129 w 252"/>
                <a:gd name="T49" fmla="*/ 35 h 305"/>
                <a:gd name="T50" fmla="*/ 66 w 252"/>
                <a:gd name="T51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2" h="305">
                  <a:moveTo>
                    <a:pt x="250" y="166"/>
                  </a:moveTo>
                  <a:cubicBezTo>
                    <a:pt x="41" y="166"/>
                    <a:pt x="41" y="166"/>
                    <a:pt x="41" y="166"/>
                  </a:cubicBezTo>
                  <a:cubicBezTo>
                    <a:pt x="43" y="200"/>
                    <a:pt x="53" y="226"/>
                    <a:pt x="71" y="244"/>
                  </a:cubicBezTo>
                  <a:cubicBezTo>
                    <a:pt x="89" y="261"/>
                    <a:pt x="114" y="270"/>
                    <a:pt x="146" y="270"/>
                  </a:cubicBezTo>
                  <a:cubicBezTo>
                    <a:pt x="162" y="270"/>
                    <a:pt x="178" y="268"/>
                    <a:pt x="194" y="264"/>
                  </a:cubicBezTo>
                  <a:cubicBezTo>
                    <a:pt x="210" y="260"/>
                    <a:pt x="226" y="254"/>
                    <a:pt x="240" y="246"/>
                  </a:cubicBezTo>
                  <a:cubicBezTo>
                    <a:pt x="239" y="259"/>
                    <a:pt x="237" y="272"/>
                    <a:pt x="234" y="284"/>
                  </a:cubicBezTo>
                  <a:cubicBezTo>
                    <a:pt x="221" y="292"/>
                    <a:pt x="207" y="297"/>
                    <a:pt x="192" y="300"/>
                  </a:cubicBezTo>
                  <a:cubicBezTo>
                    <a:pt x="178" y="303"/>
                    <a:pt x="162" y="305"/>
                    <a:pt x="144" y="305"/>
                  </a:cubicBezTo>
                  <a:cubicBezTo>
                    <a:pt x="113" y="305"/>
                    <a:pt x="87" y="299"/>
                    <a:pt x="65" y="287"/>
                  </a:cubicBezTo>
                  <a:cubicBezTo>
                    <a:pt x="44" y="275"/>
                    <a:pt x="28" y="257"/>
                    <a:pt x="17" y="234"/>
                  </a:cubicBezTo>
                  <a:cubicBezTo>
                    <a:pt x="6" y="211"/>
                    <a:pt x="0" y="183"/>
                    <a:pt x="0" y="151"/>
                  </a:cubicBezTo>
                  <a:cubicBezTo>
                    <a:pt x="0" y="122"/>
                    <a:pt x="5" y="96"/>
                    <a:pt x="14" y="74"/>
                  </a:cubicBezTo>
                  <a:cubicBezTo>
                    <a:pt x="23" y="51"/>
                    <a:pt x="37" y="33"/>
                    <a:pt x="57" y="20"/>
                  </a:cubicBezTo>
                  <a:cubicBezTo>
                    <a:pt x="77" y="7"/>
                    <a:pt x="101" y="0"/>
                    <a:pt x="131" y="0"/>
                  </a:cubicBezTo>
                  <a:cubicBezTo>
                    <a:pt x="158" y="0"/>
                    <a:pt x="181" y="6"/>
                    <a:pt x="199" y="18"/>
                  </a:cubicBezTo>
                  <a:cubicBezTo>
                    <a:pt x="217" y="29"/>
                    <a:pt x="231" y="45"/>
                    <a:pt x="239" y="64"/>
                  </a:cubicBezTo>
                  <a:cubicBezTo>
                    <a:pt x="248" y="84"/>
                    <a:pt x="252" y="106"/>
                    <a:pt x="252" y="131"/>
                  </a:cubicBezTo>
                  <a:cubicBezTo>
                    <a:pt x="252" y="144"/>
                    <a:pt x="251" y="156"/>
                    <a:pt x="250" y="166"/>
                  </a:cubicBezTo>
                  <a:close/>
                  <a:moveTo>
                    <a:pt x="66" y="60"/>
                  </a:moveTo>
                  <a:cubicBezTo>
                    <a:pt x="51" y="77"/>
                    <a:pt x="43" y="100"/>
                    <a:pt x="41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2" y="129"/>
                    <a:pt x="212" y="129"/>
                    <a:pt x="212" y="129"/>
                  </a:cubicBezTo>
                  <a:cubicBezTo>
                    <a:pt x="212" y="100"/>
                    <a:pt x="205" y="77"/>
                    <a:pt x="191" y="60"/>
                  </a:cubicBezTo>
                  <a:cubicBezTo>
                    <a:pt x="177" y="43"/>
                    <a:pt x="156" y="35"/>
                    <a:pt x="129" y="35"/>
                  </a:cubicBezTo>
                  <a:cubicBezTo>
                    <a:pt x="102" y="35"/>
                    <a:pt x="81" y="43"/>
                    <a:pt x="6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1D3E465-621F-43D5-AD2F-DA7D685DF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9" y="4206"/>
              <a:ext cx="65" cy="92"/>
            </a:xfrm>
            <a:custGeom>
              <a:avLst/>
              <a:gdLst>
                <a:gd name="T0" fmla="*/ 65 w 216"/>
                <a:gd name="T1" fmla="*/ 287 h 305"/>
                <a:gd name="T2" fmla="*/ 17 w 216"/>
                <a:gd name="T3" fmla="*/ 236 h 305"/>
                <a:gd name="T4" fmla="*/ 0 w 216"/>
                <a:gd name="T5" fmla="*/ 154 h 305"/>
                <a:gd name="T6" fmla="*/ 17 w 216"/>
                <a:gd name="T7" fmla="*/ 73 h 305"/>
                <a:gd name="T8" fmla="*/ 67 w 216"/>
                <a:gd name="T9" fmla="*/ 19 h 305"/>
                <a:gd name="T10" fmla="*/ 149 w 216"/>
                <a:gd name="T11" fmla="*/ 0 h 305"/>
                <a:gd name="T12" fmla="*/ 216 w 216"/>
                <a:gd name="T13" fmla="*/ 14 h 305"/>
                <a:gd name="T14" fmla="*/ 212 w 216"/>
                <a:gd name="T15" fmla="*/ 48 h 305"/>
                <a:gd name="T16" fmla="*/ 149 w 216"/>
                <a:gd name="T17" fmla="*/ 35 h 305"/>
                <a:gd name="T18" fmla="*/ 68 w 216"/>
                <a:gd name="T19" fmla="*/ 66 h 305"/>
                <a:gd name="T20" fmla="*/ 40 w 216"/>
                <a:gd name="T21" fmla="*/ 153 h 305"/>
                <a:gd name="T22" fmla="*/ 53 w 216"/>
                <a:gd name="T23" fmla="*/ 218 h 305"/>
                <a:gd name="T24" fmla="*/ 89 w 216"/>
                <a:gd name="T25" fmla="*/ 257 h 305"/>
                <a:gd name="T26" fmla="*/ 141 w 216"/>
                <a:gd name="T27" fmla="*/ 270 h 305"/>
                <a:gd name="T28" fmla="*/ 180 w 216"/>
                <a:gd name="T29" fmla="*/ 264 h 305"/>
                <a:gd name="T30" fmla="*/ 216 w 216"/>
                <a:gd name="T31" fmla="*/ 248 h 305"/>
                <a:gd name="T32" fmla="*/ 211 w 216"/>
                <a:gd name="T33" fmla="*/ 285 h 305"/>
                <a:gd name="T34" fmla="*/ 138 w 216"/>
                <a:gd name="T35" fmla="*/ 305 h 305"/>
                <a:gd name="T36" fmla="*/ 65 w 216"/>
                <a:gd name="T37" fmla="*/ 287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305">
                  <a:moveTo>
                    <a:pt x="65" y="287"/>
                  </a:moveTo>
                  <a:cubicBezTo>
                    <a:pt x="44" y="275"/>
                    <a:pt x="28" y="258"/>
                    <a:pt x="17" y="236"/>
                  </a:cubicBezTo>
                  <a:cubicBezTo>
                    <a:pt x="6" y="213"/>
                    <a:pt x="0" y="186"/>
                    <a:pt x="0" y="154"/>
                  </a:cubicBezTo>
                  <a:cubicBezTo>
                    <a:pt x="0" y="123"/>
                    <a:pt x="6" y="96"/>
                    <a:pt x="17" y="73"/>
                  </a:cubicBezTo>
                  <a:cubicBezTo>
                    <a:pt x="28" y="50"/>
                    <a:pt x="45" y="32"/>
                    <a:pt x="67" y="19"/>
                  </a:cubicBezTo>
                  <a:cubicBezTo>
                    <a:pt x="89" y="7"/>
                    <a:pt x="116" y="0"/>
                    <a:pt x="149" y="0"/>
                  </a:cubicBezTo>
                  <a:cubicBezTo>
                    <a:pt x="173" y="0"/>
                    <a:pt x="196" y="5"/>
                    <a:pt x="216" y="14"/>
                  </a:cubicBezTo>
                  <a:cubicBezTo>
                    <a:pt x="216" y="25"/>
                    <a:pt x="214" y="36"/>
                    <a:pt x="212" y="48"/>
                  </a:cubicBezTo>
                  <a:cubicBezTo>
                    <a:pt x="193" y="40"/>
                    <a:pt x="172" y="35"/>
                    <a:pt x="149" y="35"/>
                  </a:cubicBezTo>
                  <a:cubicBezTo>
                    <a:pt x="113" y="35"/>
                    <a:pt x="86" y="46"/>
                    <a:pt x="68" y="66"/>
                  </a:cubicBezTo>
                  <a:cubicBezTo>
                    <a:pt x="49" y="86"/>
                    <a:pt x="40" y="115"/>
                    <a:pt x="40" y="153"/>
                  </a:cubicBezTo>
                  <a:cubicBezTo>
                    <a:pt x="40" y="179"/>
                    <a:pt x="45" y="201"/>
                    <a:pt x="53" y="218"/>
                  </a:cubicBezTo>
                  <a:cubicBezTo>
                    <a:pt x="62" y="236"/>
                    <a:pt x="74" y="249"/>
                    <a:pt x="89" y="257"/>
                  </a:cubicBezTo>
                  <a:cubicBezTo>
                    <a:pt x="104" y="266"/>
                    <a:pt x="121" y="270"/>
                    <a:pt x="141" y="270"/>
                  </a:cubicBezTo>
                  <a:cubicBezTo>
                    <a:pt x="154" y="270"/>
                    <a:pt x="167" y="268"/>
                    <a:pt x="180" y="264"/>
                  </a:cubicBezTo>
                  <a:cubicBezTo>
                    <a:pt x="193" y="260"/>
                    <a:pt x="205" y="255"/>
                    <a:pt x="216" y="248"/>
                  </a:cubicBezTo>
                  <a:cubicBezTo>
                    <a:pt x="214" y="262"/>
                    <a:pt x="213" y="275"/>
                    <a:pt x="211" y="285"/>
                  </a:cubicBezTo>
                  <a:cubicBezTo>
                    <a:pt x="192" y="299"/>
                    <a:pt x="168" y="305"/>
                    <a:pt x="138" y="305"/>
                  </a:cubicBezTo>
                  <a:cubicBezTo>
                    <a:pt x="110" y="305"/>
                    <a:pt x="86" y="299"/>
                    <a:pt x="65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24AE1DB-E925-4771-BB43-A3766A5658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11" y="4178"/>
              <a:ext cx="69" cy="118"/>
            </a:xfrm>
            <a:custGeom>
              <a:avLst/>
              <a:gdLst>
                <a:gd name="T0" fmla="*/ 205 w 233"/>
                <a:gd name="T1" fmla="*/ 124 h 393"/>
                <a:gd name="T2" fmla="*/ 233 w 233"/>
                <a:gd name="T3" fmla="*/ 205 h 393"/>
                <a:gd name="T4" fmla="*/ 233 w 233"/>
                <a:gd name="T5" fmla="*/ 393 h 393"/>
                <a:gd name="T6" fmla="*/ 194 w 233"/>
                <a:gd name="T7" fmla="*/ 393 h 393"/>
                <a:gd name="T8" fmla="*/ 194 w 233"/>
                <a:gd name="T9" fmla="*/ 216 h 393"/>
                <a:gd name="T10" fmla="*/ 186 w 233"/>
                <a:gd name="T11" fmla="*/ 168 h 393"/>
                <a:gd name="T12" fmla="*/ 160 w 233"/>
                <a:gd name="T13" fmla="*/ 140 h 393"/>
                <a:gd name="T14" fmla="*/ 113 w 233"/>
                <a:gd name="T15" fmla="*/ 130 h 393"/>
                <a:gd name="T16" fmla="*/ 40 w 233"/>
                <a:gd name="T17" fmla="*/ 145 h 393"/>
                <a:gd name="T18" fmla="*/ 40 w 233"/>
                <a:gd name="T19" fmla="*/ 393 h 393"/>
                <a:gd name="T20" fmla="*/ 0 w 233"/>
                <a:gd name="T21" fmla="*/ 393 h 393"/>
                <a:gd name="T22" fmla="*/ 0 w 233"/>
                <a:gd name="T23" fmla="*/ 5 h 393"/>
                <a:gd name="T24" fmla="*/ 40 w 233"/>
                <a:gd name="T25" fmla="*/ 0 h 393"/>
                <a:gd name="T26" fmla="*/ 40 w 233"/>
                <a:gd name="T27" fmla="*/ 111 h 393"/>
                <a:gd name="T28" fmla="*/ 117 w 233"/>
                <a:gd name="T29" fmla="*/ 95 h 393"/>
                <a:gd name="T30" fmla="*/ 205 w 233"/>
                <a:gd name="T31" fmla="*/ 12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3" h="393">
                  <a:moveTo>
                    <a:pt x="205" y="124"/>
                  </a:moveTo>
                  <a:cubicBezTo>
                    <a:pt x="224" y="142"/>
                    <a:pt x="233" y="170"/>
                    <a:pt x="233" y="205"/>
                  </a:cubicBezTo>
                  <a:cubicBezTo>
                    <a:pt x="233" y="393"/>
                    <a:pt x="233" y="393"/>
                    <a:pt x="233" y="393"/>
                  </a:cubicBezTo>
                  <a:cubicBezTo>
                    <a:pt x="194" y="393"/>
                    <a:pt x="194" y="393"/>
                    <a:pt x="194" y="393"/>
                  </a:cubicBezTo>
                  <a:cubicBezTo>
                    <a:pt x="194" y="216"/>
                    <a:pt x="194" y="216"/>
                    <a:pt x="194" y="216"/>
                  </a:cubicBezTo>
                  <a:cubicBezTo>
                    <a:pt x="194" y="196"/>
                    <a:pt x="191" y="180"/>
                    <a:pt x="186" y="168"/>
                  </a:cubicBezTo>
                  <a:cubicBezTo>
                    <a:pt x="180" y="155"/>
                    <a:pt x="172" y="146"/>
                    <a:pt x="160" y="140"/>
                  </a:cubicBezTo>
                  <a:cubicBezTo>
                    <a:pt x="149" y="134"/>
                    <a:pt x="133" y="130"/>
                    <a:pt x="113" y="130"/>
                  </a:cubicBezTo>
                  <a:cubicBezTo>
                    <a:pt x="86" y="130"/>
                    <a:pt x="62" y="135"/>
                    <a:pt x="40" y="145"/>
                  </a:cubicBezTo>
                  <a:cubicBezTo>
                    <a:pt x="40" y="393"/>
                    <a:pt x="40" y="393"/>
                    <a:pt x="40" y="393"/>
                  </a:cubicBezTo>
                  <a:cubicBezTo>
                    <a:pt x="0" y="393"/>
                    <a:pt x="0" y="393"/>
                    <a:pt x="0" y="39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2" y="1"/>
                    <a:pt x="25" y="0"/>
                    <a:pt x="40" y="0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65" y="101"/>
                    <a:pt x="91" y="95"/>
                    <a:pt x="117" y="95"/>
                  </a:cubicBezTo>
                  <a:cubicBezTo>
                    <a:pt x="158" y="95"/>
                    <a:pt x="187" y="105"/>
                    <a:pt x="205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50C8768-1135-4478-A887-60866663FA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91" y="4176"/>
              <a:ext cx="92" cy="122"/>
            </a:xfrm>
            <a:custGeom>
              <a:avLst/>
              <a:gdLst>
                <a:gd name="T0" fmla="*/ 306 w 306"/>
                <a:gd name="T1" fmla="*/ 188 h 406"/>
                <a:gd name="T2" fmla="*/ 306 w 306"/>
                <a:gd name="T3" fmla="*/ 385 h 406"/>
                <a:gd name="T4" fmla="*/ 251 w 306"/>
                <a:gd name="T5" fmla="*/ 401 h 406"/>
                <a:gd name="T6" fmla="*/ 192 w 306"/>
                <a:gd name="T7" fmla="*/ 406 h 406"/>
                <a:gd name="T8" fmla="*/ 87 w 306"/>
                <a:gd name="T9" fmla="*/ 381 h 406"/>
                <a:gd name="T10" fmla="*/ 22 w 306"/>
                <a:gd name="T11" fmla="*/ 310 h 406"/>
                <a:gd name="T12" fmla="*/ 0 w 306"/>
                <a:gd name="T13" fmla="*/ 202 h 406"/>
                <a:gd name="T14" fmla="*/ 24 w 306"/>
                <a:gd name="T15" fmla="*/ 92 h 406"/>
                <a:gd name="T16" fmla="*/ 91 w 306"/>
                <a:gd name="T17" fmla="*/ 23 h 406"/>
                <a:gd name="T18" fmla="*/ 194 w 306"/>
                <a:gd name="T19" fmla="*/ 0 h 406"/>
                <a:gd name="T20" fmla="*/ 253 w 306"/>
                <a:gd name="T21" fmla="*/ 5 h 406"/>
                <a:gd name="T22" fmla="*/ 302 w 306"/>
                <a:gd name="T23" fmla="*/ 18 h 406"/>
                <a:gd name="T24" fmla="*/ 294 w 306"/>
                <a:gd name="T25" fmla="*/ 56 h 406"/>
                <a:gd name="T26" fmla="*/ 194 w 306"/>
                <a:gd name="T27" fmla="*/ 38 h 406"/>
                <a:gd name="T28" fmla="*/ 113 w 306"/>
                <a:gd name="T29" fmla="*/ 56 h 406"/>
                <a:gd name="T30" fmla="*/ 60 w 306"/>
                <a:gd name="T31" fmla="*/ 112 h 406"/>
                <a:gd name="T32" fmla="*/ 42 w 306"/>
                <a:gd name="T33" fmla="*/ 200 h 406"/>
                <a:gd name="T34" fmla="*/ 59 w 306"/>
                <a:gd name="T35" fmla="*/ 292 h 406"/>
                <a:gd name="T36" fmla="*/ 112 w 306"/>
                <a:gd name="T37" fmla="*/ 349 h 406"/>
                <a:gd name="T38" fmla="*/ 195 w 306"/>
                <a:gd name="T39" fmla="*/ 368 h 406"/>
                <a:gd name="T40" fmla="*/ 230 w 306"/>
                <a:gd name="T41" fmla="*/ 366 h 406"/>
                <a:gd name="T42" fmla="*/ 266 w 306"/>
                <a:gd name="T43" fmla="*/ 358 h 406"/>
                <a:gd name="T44" fmla="*/ 266 w 306"/>
                <a:gd name="T45" fmla="*/ 188 h 406"/>
                <a:gd name="T46" fmla="*/ 306 w 306"/>
                <a:gd name="T47" fmla="*/ 188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6" h="406">
                  <a:moveTo>
                    <a:pt x="306" y="188"/>
                  </a:moveTo>
                  <a:cubicBezTo>
                    <a:pt x="306" y="385"/>
                    <a:pt x="306" y="385"/>
                    <a:pt x="306" y="385"/>
                  </a:cubicBezTo>
                  <a:cubicBezTo>
                    <a:pt x="289" y="392"/>
                    <a:pt x="270" y="397"/>
                    <a:pt x="251" y="401"/>
                  </a:cubicBezTo>
                  <a:cubicBezTo>
                    <a:pt x="231" y="404"/>
                    <a:pt x="211" y="406"/>
                    <a:pt x="192" y="406"/>
                  </a:cubicBezTo>
                  <a:cubicBezTo>
                    <a:pt x="151" y="406"/>
                    <a:pt x="116" y="398"/>
                    <a:pt x="87" y="381"/>
                  </a:cubicBezTo>
                  <a:cubicBezTo>
                    <a:pt x="58" y="364"/>
                    <a:pt x="37" y="341"/>
                    <a:pt x="22" y="310"/>
                  </a:cubicBezTo>
                  <a:cubicBezTo>
                    <a:pt x="8" y="279"/>
                    <a:pt x="0" y="243"/>
                    <a:pt x="0" y="202"/>
                  </a:cubicBezTo>
                  <a:cubicBezTo>
                    <a:pt x="0" y="159"/>
                    <a:pt x="8" y="122"/>
                    <a:pt x="24" y="92"/>
                  </a:cubicBezTo>
                  <a:cubicBezTo>
                    <a:pt x="39" y="61"/>
                    <a:pt x="62" y="39"/>
                    <a:pt x="91" y="23"/>
                  </a:cubicBezTo>
                  <a:cubicBezTo>
                    <a:pt x="120" y="8"/>
                    <a:pt x="154" y="0"/>
                    <a:pt x="194" y="0"/>
                  </a:cubicBezTo>
                  <a:cubicBezTo>
                    <a:pt x="215" y="0"/>
                    <a:pt x="234" y="2"/>
                    <a:pt x="253" y="5"/>
                  </a:cubicBezTo>
                  <a:cubicBezTo>
                    <a:pt x="271" y="8"/>
                    <a:pt x="287" y="12"/>
                    <a:pt x="302" y="18"/>
                  </a:cubicBezTo>
                  <a:cubicBezTo>
                    <a:pt x="301" y="31"/>
                    <a:pt x="298" y="44"/>
                    <a:pt x="294" y="56"/>
                  </a:cubicBezTo>
                  <a:cubicBezTo>
                    <a:pt x="263" y="44"/>
                    <a:pt x="229" y="38"/>
                    <a:pt x="194" y="38"/>
                  </a:cubicBezTo>
                  <a:cubicBezTo>
                    <a:pt x="163" y="38"/>
                    <a:pt x="136" y="44"/>
                    <a:pt x="113" y="56"/>
                  </a:cubicBezTo>
                  <a:cubicBezTo>
                    <a:pt x="90" y="69"/>
                    <a:pt x="72" y="87"/>
                    <a:pt x="60" y="112"/>
                  </a:cubicBezTo>
                  <a:cubicBezTo>
                    <a:pt x="48" y="136"/>
                    <a:pt x="42" y="166"/>
                    <a:pt x="42" y="200"/>
                  </a:cubicBezTo>
                  <a:cubicBezTo>
                    <a:pt x="42" y="236"/>
                    <a:pt x="48" y="267"/>
                    <a:pt x="59" y="292"/>
                  </a:cubicBezTo>
                  <a:cubicBezTo>
                    <a:pt x="71" y="317"/>
                    <a:pt x="89" y="336"/>
                    <a:pt x="112" y="349"/>
                  </a:cubicBezTo>
                  <a:cubicBezTo>
                    <a:pt x="135" y="362"/>
                    <a:pt x="162" y="368"/>
                    <a:pt x="195" y="368"/>
                  </a:cubicBezTo>
                  <a:cubicBezTo>
                    <a:pt x="206" y="368"/>
                    <a:pt x="218" y="367"/>
                    <a:pt x="230" y="366"/>
                  </a:cubicBezTo>
                  <a:cubicBezTo>
                    <a:pt x="243" y="364"/>
                    <a:pt x="255" y="361"/>
                    <a:pt x="266" y="358"/>
                  </a:cubicBezTo>
                  <a:cubicBezTo>
                    <a:pt x="266" y="188"/>
                    <a:pt x="266" y="188"/>
                    <a:pt x="266" y="188"/>
                  </a:cubicBezTo>
                  <a:lnTo>
                    <a:pt x="306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8D0397AA-916B-4CE0-8B98-554AD1F06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07" y="4178"/>
              <a:ext cx="12" cy="118"/>
            </a:xfrm>
            <a:custGeom>
              <a:avLst/>
              <a:gdLst>
                <a:gd name="T0" fmla="*/ 0 w 39"/>
                <a:gd name="T1" fmla="*/ 6 h 393"/>
                <a:gd name="T2" fmla="*/ 20 w 39"/>
                <a:gd name="T3" fmla="*/ 2 h 393"/>
                <a:gd name="T4" fmla="*/ 39 w 39"/>
                <a:gd name="T5" fmla="*/ 0 h 393"/>
                <a:gd name="T6" fmla="*/ 39 w 39"/>
                <a:gd name="T7" fmla="*/ 393 h 393"/>
                <a:gd name="T8" fmla="*/ 0 w 39"/>
                <a:gd name="T9" fmla="*/ 393 h 393"/>
                <a:gd name="T10" fmla="*/ 0 w 39"/>
                <a:gd name="T11" fmla="*/ 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93">
                  <a:moveTo>
                    <a:pt x="0" y="6"/>
                  </a:moveTo>
                  <a:cubicBezTo>
                    <a:pt x="6" y="4"/>
                    <a:pt x="12" y="3"/>
                    <a:pt x="20" y="2"/>
                  </a:cubicBezTo>
                  <a:cubicBezTo>
                    <a:pt x="27" y="0"/>
                    <a:pt x="33" y="0"/>
                    <a:pt x="39" y="0"/>
                  </a:cubicBezTo>
                  <a:cubicBezTo>
                    <a:pt x="39" y="393"/>
                    <a:pt x="39" y="393"/>
                    <a:pt x="39" y="393"/>
                  </a:cubicBezTo>
                  <a:cubicBezTo>
                    <a:pt x="0" y="393"/>
                    <a:pt x="0" y="393"/>
                    <a:pt x="0" y="393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746879E-EC38-45D3-A60C-D080122E4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35" y="4206"/>
              <a:ext cx="83" cy="92"/>
            </a:xfrm>
            <a:custGeom>
              <a:avLst/>
              <a:gdLst>
                <a:gd name="T0" fmla="*/ 62 w 276"/>
                <a:gd name="T1" fmla="*/ 286 h 305"/>
                <a:gd name="T2" fmla="*/ 16 w 276"/>
                <a:gd name="T3" fmla="*/ 233 h 305"/>
                <a:gd name="T4" fmla="*/ 0 w 276"/>
                <a:gd name="T5" fmla="*/ 154 h 305"/>
                <a:gd name="T6" fmla="*/ 17 w 276"/>
                <a:gd name="T7" fmla="*/ 72 h 305"/>
                <a:gd name="T8" fmla="*/ 65 w 276"/>
                <a:gd name="T9" fmla="*/ 19 h 305"/>
                <a:gd name="T10" fmla="*/ 140 w 276"/>
                <a:gd name="T11" fmla="*/ 0 h 305"/>
                <a:gd name="T12" fmla="*/ 215 w 276"/>
                <a:gd name="T13" fmla="*/ 20 h 305"/>
                <a:gd name="T14" fmla="*/ 261 w 276"/>
                <a:gd name="T15" fmla="*/ 73 h 305"/>
                <a:gd name="T16" fmla="*/ 276 w 276"/>
                <a:gd name="T17" fmla="*/ 150 h 305"/>
                <a:gd name="T18" fmla="*/ 260 w 276"/>
                <a:gd name="T19" fmla="*/ 233 h 305"/>
                <a:gd name="T20" fmla="*/ 212 w 276"/>
                <a:gd name="T21" fmla="*/ 286 h 305"/>
                <a:gd name="T22" fmla="*/ 136 w 276"/>
                <a:gd name="T23" fmla="*/ 305 h 305"/>
                <a:gd name="T24" fmla="*/ 62 w 276"/>
                <a:gd name="T25" fmla="*/ 286 h 305"/>
                <a:gd name="T26" fmla="*/ 211 w 276"/>
                <a:gd name="T27" fmla="*/ 239 h 305"/>
                <a:gd name="T28" fmla="*/ 236 w 276"/>
                <a:gd name="T29" fmla="*/ 153 h 305"/>
                <a:gd name="T30" fmla="*/ 211 w 276"/>
                <a:gd name="T31" fmla="*/ 66 h 305"/>
                <a:gd name="T32" fmla="*/ 139 w 276"/>
                <a:gd name="T33" fmla="*/ 36 h 305"/>
                <a:gd name="T34" fmla="*/ 66 w 276"/>
                <a:gd name="T35" fmla="*/ 67 h 305"/>
                <a:gd name="T36" fmla="*/ 40 w 276"/>
                <a:gd name="T37" fmla="*/ 152 h 305"/>
                <a:gd name="T38" fmla="*/ 66 w 276"/>
                <a:gd name="T39" fmla="*/ 239 h 305"/>
                <a:gd name="T40" fmla="*/ 139 w 276"/>
                <a:gd name="T41" fmla="*/ 270 h 305"/>
                <a:gd name="T42" fmla="*/ 211 w 276"/>
                <a:gd name="T43" fmla="*/ 239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6" h="305">
                  <a:moveTo>
                    <a:pt x="62" y="286"/>
                  </a:moveTo>
                  <a:cubicBezTo>
                    <a:pt x="42" y="273"/>
                    <a:pt x="26" y="255"/>
                    <a:pt x="16" y="233"/>
                  </a:cubicBezTo>
                  <a:cubicBezTo>
                    <a:pt x="6" y="210"/>
                    <a:pt x="0" y="184"/>
                    <a:pt x="0" y="154"/>
                  </a:cubicBezTo>
                  <a:cubicBezTo>
                    <a:pt x="0" y="123"/>
                    <a:pt x="6" y="96"/>
                    <a:pt x="17" y="72"/>
                  </a:cubicBezTo>
                  <a:cubicBezTo>
                    <a:pt x="28" y="49"/>
                    <a:pt x="44" y="31"/>
                    <a:pt x="65" y="19"/>
                  </a:cubicBezTo>
                  <a:cubicBezTo>
                    <a:pt x="86" y="7"/>
                    <a:pt x="111" y="0"/>
                    <a:pt x="140" y="0"/>
                  </a:cubicBezTo>
                  <a:cubicBezTo>
                    <a:pt x="169" y="0"/>
                    <a:pt x="195" y="7"/>
                    <a:pt x="215" y="20"/>
                  </a:cubicBezTo>
                  <a:cubicBezTo>
                    <a:pt x="236" y="32"/>
                    <a:pt x="251" y="50"/>
                    <a:pt x="261" y="73"/>
                  </a:cubicBezTo>
                  <a:cubicBezTo>
                    <a:pt x="271" y="95"/>
                    <a:pt x="276" y="121"/>
                    <a:pt x="276" y="150"/>
                  </a:cubicBezTo>
                  <a:cubicBezTo>
                    <a:pt x="276" y="182"/>
                    <a:pt x="271" y="210"/>
                    <a:pt x="260" y="233"/>
                  </a:cubicBezTo>
                  <a:cubicBezTo>
                    <a:pt x="249" y="256"/>
                    <a:pt x="233" y="274"/>
                    <a:pt x="212" y="286"/>
                  </a:cubicBezTo>
                  <a:cubicBezTo>
                    <a:pt x="191" y="299"/>
                    <a:pt x="166" y="305"/>
                    <a:pt x="136" y="305"/>
                  </a:cubicBezTo>
                  <a:cubicBezTo>
                    <a:pt x="107" y="305"/>
                    <a:pt x="82" y="299"/>
                    <a:pt x="62" y="286"/>
                  </a:cubicBezTo>
                  <a:close/>
                  <a:moveTo>
                    <a:pt x="211" y="239"/>
                  </a:moveTo>
                  <a:cubicBezTo>
                    <a:pt x="228" y="218"/>
                    <a:pt x="236" y="189"/>
                    <a:pt x="236" y="153"/>
                  </a:cubicBezTo>
                  <a:cubicBezTo>
                    <a:pt x="236" y="116"/>
                    <a:pt x="228" y="87"/>
                    <a:pt x="211" y="66"/>
                  </a:cubicBezTo>
                  <a:cubicBezTo>
                    <a:pt x="194" y="46"/>
                    <a:pt x="170" y="36"/>
                    <a:pt x="139" y="36"/>
                  </a:cubicBezTo>
                  <a:cubicBezTo>
                    <a:pt x="107" y="36"/>
                    <a:pt x="82" y="46"/>
                    <a:pt x="66" y="67"/>
                  </a:cubicBezTo>
                  <a:cubicBezTo>
                    <a:pt x="49" y="88"/>
                    <a:pt x="40" y="116"/>
                    <a:pt x="40" y="152"/>
                  </a:cubicBezTo>
                  <a:cubicBezTo>
                    <a:pt x="40" y="190"/>
                    <a:pt x="49" y="219"/>
                    <a:pt x="66" y="239"/>
                  </a:cubicBezTo>
                  <a:cubicBezTo>
                    <a:pt x="82" y="259"/>
                    <a:pt x="107" y="270"/>
                    <a:pt x="139" y="270"/>
                  </a:cubicBezTo>
                  <a:cubicBezTo>
                    <a:pt x="171" y="270"/>
                    <a:pt x="195" y="259"/>
                    <a:pt x="211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ADB1477A-DFFE-4A66-8904-A540F9A963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5" y="4178"/>
              <a:ext cx="72" cy="120"/>
            </a:xfrm>
            <a:custGeom>
              <a:avLst/>
              <a:gdLst>
                <a:gd name="T0" fmla="*/ 210 w 244"/>
                <a:gd name="T1" fmla="*/ 135 h 400"/>
                <a:gd name="T2" fmla="*/ 244 w 244"/>
                <a:gd name="T3" fmla="*/ 247 h 400"/>
                <a:gd name="T4" fmla="*/ 207 w 244"/>
                <a:gd name="T5" fmla="*/ 360 h 400"/>
                <a:gd name="T6" fmla="*/ 96 w 244"/>
                <a:gd name="T7" fmla="*/ 400 h 400"/>
                <a:gd name="T8" fmla="*/ 0 w 244"/>
                <a:gd name="T9" fmla="*/ 384 h 400"/>
                <a:gd name="T10" fmla="*/ 0 w 244"/>
                <a:gd name="T11" fmla="*/ 6 h 400"/>
                <a:gd name="T12" fmla="*/ 39 w 244"/>
                <a:gd name="T13" fmla="*/ 0 h 400"/>
                <a:gd name="T14" fmla="*/ 39 w 244"/>
                <a:gd name="T15" fmla="*/ 109 h 400"/>
                <a:gd name="T16" fmla="*/ 108 w 244"/>
                <a:gd name="T17" fmla="*/ 95 h 400"/>
                <a:gd name="T18" fmla="*/ 210 w 244"/>
                <a:gd name="T19" fmla="*/ 135 h 400"/>
                <a:gd name="T20" fmla="*/ 178 w 244"/>
                <a:gd name="T21" fmla="*/ 335 h 400"/>
                <a:gd name="T22" fmla="*/ 204 w 244"/>
                <a:gd name="T23" fmla="*/ 247 h 400"/>
                <a:gd name="T24" fmla="*/ 103 w 244"/>
                <a:gd name="T25" fmla="*/ 130 h 400"/>
                <a:gd name="T26" fmla="*/ 39 w 244"/>
                <a:gd name="T27" fmla="*/ 143 h 400"/>
                <a:gd name="T28" fmla="*/ 39 w 244"/>
                <a:gd name="T29" fmla="*/ 357 h 400"/>
                <a:gd name="T30" fmla="*/ 99 w 244"/>
                <a:gd name="T31" fmla="*/ 365 h 400"/>
                <a:gd name="T32" fmla="*/ 178 w 244"/>
                <a:gd name="T33" fmla="*/ 335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4" h="400">
                  <a:moveTo>
                    <a:pt x="210" y="135"/>
                  </a:moveTo>
                  <a:cubicBezTo>
                    <a:pt x="233" y="161"/>
                    <a:pt x="244" y="198"/>
                    <a:pt x="244" y="247"/>
                  </a:cubicBezTo>
                  <a:cubicBezTo>
                    <a:pt x="244" y="296"/>
                    <a:pt x="232" y="334"/>
                    <a:pt x="207" y="360"/>
                  </a:cubicBezTo>
                  <a:cubicBezTo>
                    <a:pt x="182" y="387"/>
                    <a:pt x="145" y="400"/>
                    <a:pt x="96" y="400"/>
                  </a:cubicBezTo>
                  <a:cubicBezTo>
                    <a:pt x="60" y="400"/>
                    <a:pt x="28" y="395"/>
                    <a:pt x="0" y="38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2" y="2"/>
                    <a:pt x="25" y="0"/>
                    <a:pt x="39" y="0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60" y="100"/>
                    <a:pt x="84" y="95"/>
                    <a:pt x="108" y="95"/>
                  </a:cubicBezTo>
                  <a:cubicBezTo>
                    <a:pt x="153" y="95"/>
                    <a:pt x="187" y="109"/>
                    <a:pt x="210" y="135"/>
                  </a:cubicBezTo>
                  <a:close/>
                  <a:moveTo>
                    <a:pt x="178" y="335"/>
                  </a:moveTo>
                  <a:cubicBezTo>
                    <a:pt x="196" y="315"/>
                    <a:pt x="204" y="286"/>
                    <a:pt x="204" y="247"/>
                  </a:cubicBezTo>
                  <a:cubicBezTo>
                    <a:pt x="204" y="169"/>
                    <a:pt x="171" y="130"/>
                    <a:pt x="103" y="130"/>
                  </a:cubicBezTo>
                  <a:cubicBezTo>
                    <a:pt x="82" y="130"/>
                    <a:pt x="60" y="135"/>
                    <a:pt x="39" y="143"/>
                  </a:cubicBezTo>
                  <a:cubicBezTo>
                    <a:pt x="39" y="357"/>
                    <a:pt x="39" y="357"/>
                    <a:pt x="39" y="357"/>
                  </a:cubicBezTo>
                  <a:cubicBezTo>
                    <a:pt x="59" y="362"/>
                    <a:pt x="79" y="365"/>
                    <a:pt x="99" y="365"/>
                  </a:cubicBezTo>
                  <a:cubicBezTo>
                    <a:pt x="134" y="365"/>
                    <a:pt x="160" y="355"/>
                    <a:pt x="178" y="3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9476DE7-D471-4936-88DD-63DEC85FBA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19" y="4206"/>
              <a:ext cx="72" cy="92"/>
            </a:xfrm>
            <a:custGeom>
              <a:avLst/>
              <a:gdLst>
                <a:gd name="T0" fmla="*/ 199 w 244"/>
                <a:gd name="T1" fmla="*/ 4 h 305"/>
                <a:gd name="T2" fmla="*/ 244 w 244"/>
                <a:gd name="T3" fmla="*/ 16 h 305"/>
                <a:gd name="T4" fmla="*/ 244 w 244"/>
                <a:gd name="T5" fmla="*/ 298 h 305"/>
                <a:gd name="T6" fmla="*/ 207 w 244"/>
                <a:gd name="T7" fmla="*/ 298 h 305"/>
                <a:gd name="T8" fmla="*/ 206 w 244"/>
                <a:gd name="T9" fmla="*/ 276 h 305"/>
                <a:gd name="T10" fmla="*/ 171 w 244"/>
                <a:gd name="T11" fmla="*/ 297 h 305"/>
                <a:gd name="T12" fmla="*/ 129 w 244"/>
                <a:gd name="T13" fmla="*/ 305 h 305"/>
                <a:gd name="T14" fmla="*/ 60 w 244"/>
                <a:gd name="T15" fmla="*/ 288 h 305"/>
                <a:gd name="T16" fmla="*/ 15 w 244"/>
                <a:gd name="T17" fmla="*/ 236 h 305"/>
                <a:gd name="T18" fmla="*/ 0 w 244"/>
                <a:gd name="T19" fmla="*/ 155 h 305"/>
                <a:gd name="T20" fmla="*/ 37 w 244"/>
                <a:gd name="T21" fmla="*/ 40 h 305"/>
                <a:gd name="T22" fmla="*/ 150 w 244"/>
                <a:gd name="T23" fmla="*/ 0 h 305"/>
                <a:gd name="T24" fmla="*/ 199 w 244"/>
                <a:gd name="T25" fmla="*/ 4 h 305"/>
                <a:gd name="T26" fmla="*/ 63 w 244"/>
                <a:gd name="T27" fmla="*/ 241 h 305"/>
                <a:gd name="T28" fmla="*/ 133 w 244"/>
                <a:gd name="T29" fmla="*/ 272 h 305"/>
                <a:gd name="T30" fmla="*/ 204 w 244"/>
                <a:gd name="T31" fmla="*/ 244 h 305"/>
                <a:gd name="T32" fmla="*/ 204 w 244"/>
                <a:gd name="T33" fmla="*/ 42 h 305"/>
                <a:gd name="T34" fmla="*/ 150 w 244"/>
                <a:gd name="T35" fmla="*/ 35 h 305"/>
                <a:gd name="T36" fmla="*/ 67 w 244"/>
                <a:gd name="T37" fmla="*/ 66 h 305"/>
                <a:gd name="T38" fmla="*/ 40 w 244"/>
                <a:gd name="T39" fmla="*/ 155 h 305"/>
                <a:gd name="T40" fmla="*/ 63 w 244"/>
                <a:gd name="T41" fmla="*/ 2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4" h="305">
                  <a:moveTo>
                    <a:pt x="199" y="4"/>
                  </a:moveTo>
                  <a:cubicBezTo>
                    <a:pt x="214" y="7"/>
                    <a:pt x="229" y="11"/>
                    <a:pt x="244" y="16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6" y="276"/>
                    <a:pt x="206" y="276"/>
                    <a:pt x="206" y="276"/>
                  </a:cubicBezTo>
                  <a:cubicBezTo>
                    <a:pt x="196" y="285"/>
                    <a:pt x="184" y="292"/>
                    <a:pt x="171" y="297"/>
                  </a:cubicBezTo>
                  <a:cubicBezTo>
                    <a:pt x="158" y="303"/>
                    <a:pt x="144" y="305"/>
                    <a:pt x="129" y="305"/>
                  </a:cubicBezTo>
                  <a:cubicBezTo>
                    <a:pt x="103" y="305"/>
                    <a:pt x="80" y="299"/>
                    <a:pt x="60" y="288"/>
                  </a:cubicBezTo>
                  <a:cubicBezTo>
                    <a:pt x="41" y="276"/>
                    <a:pt x="26" y="259"/>
                    <a:pt x="15" y="236"/>
                  </a:cubicBezTo>
                  <a:cubicBezTo>
                    <a:pt x="5" y="214"/>
                    <a:pt x="0" y="187"/>
                    <a:pt x="0" y="155"/>
                  </a:cubicBezTo>
                  <a:cubicBezTo>
                    <a:pt x="0" y="105"/>
                    <a:pt x="12" y="66"/>
                    <a:pt x="37" y="40"/>
                  </a:cubicBezTo>
                  <a:cubicBezTo>
                    <a:pt x="62" y="14"/>
                    <a:pt x="100" y="0"/>
                    <a:pt x="150" y="0"/>
                  </a:cubicBezTo>
                  <a:cubicBezTo>
                    <a:pt x="167" y="0"/>
                    <a:pt x="184" y="2"/>
                    <a:pt x="199" y="4"/>
                  </a:cubicBezTo>
                  <a:close/>
                  <a:moveTo>
                    <a:pt x="63" y="241"/>
                  </a:moveTo>
                  <a:cubicBezTo>
                    <a:pt x="79" y="262"/>
                    <a:pt x="102" y="272"/>
                    <a:pt x="133" y="272"/>
                  </a:cubicBezTo>
                  <a:cubicBezTo>
                    <a:pt x="161" y="272"/>
                    <a:pt x="184" y="263"/>
                    <a:pt x="204" y="244"/>
                  </a:cubicBezTo>
                  <a:cubicBezTo>
                    <a:pt x="204" y="42"/>
                    <a:pt x="204" y="42"/>
                    <a:pt x="204" y="42"/>
                  </a:cubicBezTo>
                  <a:cubicBezTo>
                    <a:pt x="188" y="38"/>
                    <a:pt x="169" y="35"/>
                    <a:pt x="150" y="35"/>
                  </a:cubicBezTo>
                  <a:cubicBezTo>
                    <a:pt x="112" y="35"/>
                    <a:pt x="85" y="46"/>
                    <a:pt x="67" y="66"/>
                  </a:cubicBezTo>
                  <a:cubicBezTo>
                    <a:pt x="49" y="87"/>
                    <a:pt x="40" y="116"/>
                    <a:pt x="40" y="155"/>
                  </a:cubicBezTo>
                  <a:cubicBezTo>
                    <a:pt x="40" y="192"/>
                    <a:pt x="48" y="221"/>
                    <a:pt x="63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2957944-45BB-4906-BCBA-581839A4FE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4" y="4178"/>
              <a:ext cx="12" cy="118"/>
            </a:xfrm>
            <a:custGeom>
              <a:avLst/>
              <a:gdLst>
                <a:gd name="T0" fmla="*/ 0 w 39"/>
                <a:gd name="T1" fmla="*/ 6 h 393"/>
                <a:gd name="T2" fmla="*/ 20 w 39"/>
                <a:gd name="T3" fmla="*/ 2 h 393"/>
                <a:gd name="T4" fmla="*/ 39 w 39"/>
                <a:gd name="T5" fmla="*/ 0 h 393"/>
                <a:gd name="T6" fmla="*/ 39 w 39"/>
                <a:gd name="T7" fmla="*/ 393 h 393"/>
                <a:gd name="T8" fmla="*/ 0 w 39"/>
                <a:gd name="T9" fmla="*/ 393 h 393"/>
                <a:gd name="T10" fmla="*/ 0 w 39"/>
                <a:gd name="T11" fmla="*/ 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93">
                  <a:moveTo>
                    <a:pt x="0" y="6"/>
                  </a:moveTo>
                  <a:cubicBezTo>
                    <a:pt x="6" y="4"/>
                    <a:pt x="12" y="3"/>
                    <a:pt x="20" y="2"/>
                  </a:cubicBezTo>
                  <a:cubicBezTo>
                    <a:pt x="27" y="0"/>
                    <a:pt x="34" y="0"/>
                    <a:pt x="39" y="0"/>
                  </a:cubicBezTo>
                  <a:cubicBezTo>
                    <a:pt x="39" y="393"/>
                    <a:pt x="39" y="393"/>
                    <a:pt x="39" y="393"/>
                  </a:cubicBezTo>
                  <a:cubicBezTo>
                    <a:pt x="0" y="393"/>
                    <a:pt x="0" y="393"/>
                    <a:pt x="0" y="393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01A2F824-EA4E-400F-98F0-4B5821DA9B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0" y="4179"/>
              <a:ext cx="89" cy="117"/>
            </a:xfrm>
            <a:custGeom>
              <a:avLst/>
              <a:gdLst>
                <a:gd name="T0" fmla="*/ 294 w 299"/>
                <a:gd name="T1" fmla="*/ 38 h 390"/>
                <a:gd name="T2" fmla="*/ 169 w 299"/>
                <a:gd name="T3" fmla="*/ 38 h 390"/>
                <a:gd name="T4" fmla="*/ 169 w 299"/>
                <a:gd name="T5" fmla="*/ 390 h 390"/>
                <a:gd name="T6" fmla="*/ 129 w 299"/>
                <a:gd name="T7" fmla="*/ 390 h 390"/>
                <a:gd name="T8" fmla="*/ 129 w 299"/>
                <a:gd name="T9" fmla="*/ 38 h 390"/>
                <a:gd name="T10" fmla="*/ 0 w 299"/>
                <a:gd name="T11" fmla="*/ 38 h 390"/>
                <a:gd name="T12" fmla="*/ 4 w 299"/>
                <a:gd name="T13" fmla="*/ 0 h 390"/>
                <a:gd name="T14" fmla="*/ 299 w 299"/>
                <a:gd name="T15" fmla="*/ 0 h 390"/>
                <a:gd name="T16" fmla="*/ 294 w 299"/>
                <a:gd name="T17" fmla="*/ 38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390">
                  <a:moveTo>
                    <a:pt x="294" y="38"/>
                  </a:moveTo>
                  <a:cubicBezTo>
                    <a:pt x="169" y="38"/>
                    <a:pt x="169" y="38"/>
                    <a:pt x="169" y="38"/>
                  </a:cubicBezTo>
                  <a:cubicBezTo>
                    <a:pt x="169" y="390"/>
                    <a:pt x="169" y="390"/>
                    <a:pt x="169" y="390"/>
                  </a:cubicBezTo>
                  <a:cubicBezTo>
                    <a:pt x="129" y="390"/>
                    <a:pt x="129" y="390"/>
                    <a:pt x="129" y="390"/>
                  </a:cubicBezTo>
                  <a:cubicBezTo>
                    <a:pt x="129" y="38"/>
                    <a:pt x="129" y="38"/>
                    <a:pt x="129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3"/>
                    <a:pt x="2" y="10"/>
                    <a:pt x="4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8" y="15"/>
                    <a:pt x="296" y="27"/>
                    <a:pt x="29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8174CFF-E583-4C31-9B99-6F0169030D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42" y="4206"/>
              <a:ext cx="76" cy="92"/>
            </a:xfrm>
            <a:custGeom>
              <a:avLst/>
              <a:gdLst>
                <a:gd name="T0" fmla="*/ 250 w 252"/>
                <a:gd name="T1" fmla="*/ 166 h 305"/>
                <a:gd name="T2" fmla="*/ 41 w 252"/>
                <a:gd name="T3" fmla="*/ 166 h 305"/>
                <a:gd name="T4" fmla="*/ 71 w 252"/>
                <a:gd name="T5" fmla="*/ 244 h 305"/>
                <a:gd name="T6" fmla="*/ 146 w 252"/>
                <a:gd name="T7" fmla="*/ 270 h 305"/>
                <a:gd name="T8" fmla="*/ 194 w 252"/>
                <a:gd name="T9" fmla="*/ 264 h 305"/>
                <a:gd name="T10" fmla="*/ 240 w 252"/>
                <a:gd name="T11" fmla="*/ 246 h 305"/>
                <a:gd name="T12" fmla="*/ 234 w 252"/>
                <a:gd name="T13" fmla="*/ 284 h 305"/>
                <a:gd name="T14" fmla="*/ 192 w 252"/>
                <a:gd name="T15" fmla="*/ 300 h 305"/>
                <a:gd name="T16" fmla="*/ 144 w 252"/>
                <a:gd name="T17" fmla="*/ 305 h 305"/>
                <a:gd name="T18" fmla="*/ 65 w 252"/>
                <a:gd name="T19" fmla="*/ 287 h 305"/>
                <a:gd name="T20" fmla="*/ 17 w 252"/>
                <a:gd name="T21" fmla="*/ 234 h 305"/>
                <a:gd name="T22" fmla="*/ 0 w 252"/>
                <a:gd name="T23" fmla="*/ 151 h 305"/>
                <a:gd name="T24" fmla="*/ 14 w 252"/>
                <a:gd name="T25" fmla="*/ 74 h 305"/>
                <a:gd name="T26" fmla="*/ 57 w 252"/>
                <a:gd name="T27" fmla="*/ 20 h 305"/>
                <a:gd name="T28" fmla="*/ 131 w 252"/>
                <a:gd name="T29" fmla="*/ 0 h 305"/>
                <a:gd name="T30" fmla="*/ 199 w 252"/>
                <a:gd name="T31" fmla="*/ 18 h 305"/>
                <a:gd name="T32" fmla="*/ 239 w 252"/>
                <a:gd name="T33" fmla="*/ 64 h 305"/>
                <a:gd name="T34" fmla="*/ 252 w 252"/>
                <a:gd name="T35" fmla="*/ 131 h 305"/>
                <a:gd name="T36" fmla="*/ 250 w 252"/>
                <a:gd name="T37" fmla="*/ 166 h 305"/>
                <a:gd name="T38" fmla="*/ 66 w 252"/>
                <a:gd name="T39" fmla="*/ 60 h 305"/>
                <a:gd name="T40" fmla="*/ 41 w 252"/>
                <a:gd name="T41" fmla="*/ 131 h 305"/>
                <a:gd name="T42" fmla="*/ 212 w 252"/>
                <a:gd name="T43" fmla="*/ 131 h 305"/>
                <a:gd name="T44" fmla="*/ 212 w 252"/>
                <a:gd name="T45" fmla="*/ 129 h 305"/>
                <a:gd name="T46" fmla="*/ 191 w 252"/>
                <a:gd name="T47" fmla="*/ 60 h 305"/>
                <a:gd name="T48" fmla="*/ 129 w 252"/>
                <a:gd name="T49" fmla="*/ 35 h 305"/>
                <a:gd name="T50" fmla="*/ 66 w 252"/>
                <a:gd name="T51" fmla="*/ 6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2" h="305">
                  <a:moveTo>
                    <a:pt x="250" y="166"/>
                  </a:moveTo>
                  <a:cubicBezTo>
                    <a:pt x="41" y="166"/>
                    <a:pt x="41" y="166"/>
                    <a:pt x="41" y="166"/>
                  </a:cubicBezTo>
                  <a:cubicBezTo>
                    <a:pt x="43" y="200"/>
                    <a:pt x="53" y="226"/>
                    <a:pt x="71" y="244"/>
                  </a:cubicBezTo>
                  <a:cubicBezTo>
                    <a:pt x="89" y="261"/>
                    <a:pt x="114" y="270"/>
                    <a:pt x="146" y="270"/>
                  </a:cubicBezTo>
                  <a:cubicBezTo>
                    <a:pt x="162" y="270"/>
                    <a:pt x="178" y="268"/>
                    <a:pt x="194" y="264"/>
                  </a:cubicBezTo>
                  <a:cubicBezTo>
                    <a:pt x="210" y="260"/>
                    <a:pt x="226" y="254"/>
                    <a:pt x="240" y="246"/>
                  </a:cubicBezTo>
                  <a:cubicBezTo>
                    <a:pt x="239" y="259"/>
                    <a:pt x="237" y="272"/>
                    <a:pt x="234" y="284"/>
                  </a:cubicBezTo>
                  <a:cubicBezTo>
                    <a:pt x="221" y="292"/>
                    <a:pt x="207" y="297"/>
                    <a:pt x="192" y="300"/>
                  </a:cubicBezTo>
                  <a:cubicBezTo>
                    <a:pt x="178" y="303"/>
                    <a:pt x="162" y="305"/>
                    <a:pt x="144" y="305"/>
                  </a:cubicBezTo>
                  <a:cubicBezTo>
                    <a:pt x="113" y="305"/>
                    <a:pt x="87" y="299"/>
                    <a:pt x="65" y="287"/>
                  </a:cubicBezTo>
                  <a:cubicBezTo>
                    <a:pt x="44" y="275"/>
                    <a:pt x="28" y="257"/>
                    <a:pt x="17" y="234"/>
                  </a:cubicBezTo>
                  <a:cubicBezTo>
                    <a:pt x="6" y="211"/>
                    <a:pt x="0" y="183"/>
                    <a:pt x="0" y="151"/>
                  </a:cubicBezTo>
                  <a:cubicBezTo>
                    <a:pt x="0" y="122"/>
                    <a:pt x="5" y="96"/>
                    <a:pt x="14" y="74"/>
                  </a:cubicBezTo>
                  <a:cubicBezTo>
                    <a:pt x="23" y="51"/>
                    <a:pt x="37" y="33"/>
                    <a:pt x="57" y="20"/>
                  </a:cubicBezTo>
                  <a:cubicBezTo>
                    <a:pt x="77" y="7"/>
                    <a:pt x="101" y="0"/>
                    <a:pt x="131" y="0"/>
                  </a:cubicBezTo>
                  <a:cubicBezTo>
                    <a:pt x="158" y="0"/>
                    <a:pt x="181" y="6"/>
                    <a:pt x="199" y="18"/>
                  </a:cubicBezTo>
                  <a:cubicBezTo>
                    <a:pt x="217" y="29"/>
                    <a:pt x="231" y="45"/>
                    <a:pt x="239" y="64"/>
                  </a:cubicBezTo>
                  <a:cubicBezTo>
                    <a:pt x="248" y="84"/>
                    <a:pt x="252" y="106"/>
                    <a:pt x="252" y="131"/>
                  </a:cubicBezTo>
                  <a:cubicBezTo>
                    <a:pt x="252" y="144"/>
                    <a:pt x="251" y="156"/>
                    <a:pt x="250" y="166"/>
                  </a:cubicBezTo>
                  <a:close/>
                  <a:moveTo>
                    <a:pt x="66" y="60"/>
                  </a:moveTo>
                  <a:cubicBezTo>
                    <a:pt x="51" y="77"/>
                    <a:pt x="43" y="100"/>
                    <a:pt x="41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2" y="129"/>
                    <a:pt x="212" y="129"/>
                    <a:pt x="212" y="129"/>
                  </a:cubicBezTo>
                  <a:cubicBezTo>
                    <a:pt x="212" y="100"/>
                    <a:pt x="205" y="77"/>
                    <a:pt x="191" y="60"/>
                  </a:cubicBezTo>
                  <a:cubicBezTo>
                    <a:pt x="177" y="43"/>
                    <a:pt x="156" y="35"/>
                    <a:pt x="129" y="35"/>
                  </a:cubicBezTo>
                  <a:cubicBezTo>
                    <a:pt x="102" y="35"/>
                    <a:pt x="81" y="43"/>
                    <a:pt x="6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3171BAF-DE83-4C65-8A1B-A299F5E70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9" y="4206"/>
              <a:ext cx="65" cy="92"/>
            </a:xfrm>
            <a:custGeom>
              <a:avLst/>
              <a:gdLst>
                <a:gd name="T0" fmla="*/ 65 w 216"/>
                <a:gd name="T1" fmla="*/ 287 h 305"/>
                <a:gd name="T2" fmla="*/ 17 w 216"/>
                <a:gd name="T3" fmla="*/ 236 h 305"/>
                <a:gd name="T4" fmla="*/ 0 w 216"/>
                <a:gd name="T5" fmla="*/ 154 h 305"/>
                <a:gd name="T6" fmla="*/ 17 w 216"/>
                <a:gd name="T7" fmla="*/ 73 h 305"/>
                <a:gd name="T8" fmla="*/ 67 w 216"/>
                <a:gd name="T9" fmla="*/ 19 h 305"/>
                <a:gd name="T10" fmla="*/ 149 w 216"/>
                <a:gd name="T11" fmla="*/ 0 h 305"/>
                <a:gd name="T12" fmla="*/ 216 w 216"/>
                <a:gd name="T13" fmla="*/ 14 h 305"/>
                <a:gd name="T14" fmla="*/ 212 w 216"/>
                <a:gd name="T15" fmla="*/ 48 h 305"/>
                <a:gd name="T16" fmla="*/ 149 w 216"/>
                <a:gd name="T17" fmla="*/ 35 h 305"/>
                <a:gd name="T18" fmla="*/ 68 w 216"/>
                <a:gd name="T19" fmla="*/ 66 h 305"/>
                <a:gd name="T20" fmla="*/ 40 w 216"/>
                <a:gd name="T21" fmla="*/ 153 h 305"/>
                <a:gd name="T22" fmla="*/ 53 w 216"/>
                <a:gd name="T23" fmla="*/ 218 h 305"/>
                <a:gd name="T24" fmla="*/ 89 w 216"/>
                <a:gd name="T25" fmla="*/ 257 h 305"/>
                <a:gd name="T26" fmla="*/ 141 w 216"/>
                <a:gd name="T27" fmla="*/ 270 h 305"/>
                <a:gd name="T28" fmla="*/ 180 w 216"/>
                <a:gd name="T29" fmla="*/ 264 h 305"/>
                <a:gd name="T30" fmla="*/ 216 w 216"/>
                <a:gd name="T31" fmla="*/ 248 h 305"/>
                <a:gd name="T32" fmla="*/ 211 w 216"/>
                <a:gd name="T33" fmla="*/ 285 h 305"/>
                <a:gd name="T34" fmla="*/ 138 w 216"/>
                <a:gd name="T35" fmla="*/ 305 h 305"/>
                <a:gd name="T36" fmla="*/ 65 w 216"/>
                <a:gd name="T37" fmla="*/ 287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305">
                  <a:moveTo>
                    <a:pt x="65" y="287"/>
                  </a:moveTo>
                  <a:cubicBezTo>
                    <a:pt x="44" y="275"/>
                    <a:pt x="28" y="258"/>
                    <a:pt x="17" y="236"/>
                  </a:cubicBezTo>
                  <a:cubicBezTo>
                    <a:pt x="6" y="213"/>
                    <a:pt x="0" y="186"/>
                    <a:pt x="0" y="154"/>
                  </a:cubicBezTo>
                  <a:cubicBezTo>
                    <a:pt x="0" y="123"/>
                    <a:pt x="6" y="96"/>
                    <a:pt x="17" y="73"/>
                  </a:cubicBezTo>
                  <a:cubicBezTo>
                    <a:pt x="28" y="50"/>
                    <a:pt x="45" y="32"/>
                    <a:pt x="67" y="19"/>
                  </a:cubicBezTo>
                  <a:cubicBezTo>
                    <a:pt x="89" y="7"/>
                    <a:pt x="116" y="0"/>
                    <a:pt x="149" y="0"/>
                  </a:cubicBezTo>
                  <a:cubicBezTo>
                    <a:pt x="173" y="0"/>
                    <a:pt x="196" y="5"/>
                    <a:pt x="216" y="14"/>
                  </a:cubicBezTo>
                  <a:cubicBezTo>
                    <a:pt x="216" y="25"/>
                    <a:pt x="214" y="36"/>
                    <a:pt x="212" y="48"/>
                  </a:cubicBezTo>
                  <a:cubicBezTo>
                    <a:pt x="193" y="40"/>
                    <a:pt x="172" y="35"/>
                    <a:pt x="149" y="35"/>
                  </a:cubicBezTo>
                  <a:cubicBezTo>
                    <a:pt x="113" y="35"/>
                    <a:pt x="86" y="46"/>
                    <a:pt x="68" y="66"/>
                  </a:cubicBezTo>
                  <a:cubicBezTo>
                    <a:pt x="49" y="86"/>
                    <a:pt x="40" y="115"/>
                    <a:pt x="40" y="153"/>
                  </a:cubicBezTo>
                  <a:cubicBezTo>
                    <a:pt x="40" y="179"/>
                    <a:pt x="45" y="201"/>
                    <a:pt x="53" y="218"/>
                  </a:cubicBezTo>
                  <a:cubicBezTo>
                    <a:pt x="62" y="236"/>
                    <a:pt x="74" y="249"/>
                    <a:pt x="89" y="257"/>
                  </a:cubicBezTo>
                  <a:cubicBezTo>
                    <a:pt x="104" y="266"/>
                    <a:pt x="121" y="270"/>
                    <a:pt x="141" y="270"/>
                  </a:cubicBezTo>
                  <a:cubicBezTo>
                    <a:pt x="154" y="270"/>
                    <a:pt x="167" y="268"/>
                    <a:pt x="180" y="264"/>
                  </a:cubicBezTo>
                  <a:cubicBezTo>
                    <a:pt x="193" y="260"/>
                    <a:pt x="205" y="255"/>
                    <a:pt x="216" y="248"/>
                  </a:cubicBezTo>
                  <a:cubicBezTo>
                    <a:pt x="214" y="262"/>
                    <a:pt x="213" y="275"/>
                    <a:pt x="211" y="285"/>
                  </a:cubicBezTo>
                  <a:cubicBezTo>
                    <a:pt x="192" y="299"/>
                    <a:pt x="168" y="305"/>
                    <a:pt x="138" y="305"/>
                  </a:cubicBezTo>
                  <a:cubicBezTo>
                    <a:pt x="110" y="305"/>
                    <a:pt x="86" y="299"/>
                    <a:pt x="65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A6A7EC6B-0581-4E7C-9CA9-722A0268E4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11" y="4178"/>
              <a:ext cx="69" cy="118"/>
            </a:xfrm>
            <a:custGeom>
              <a:avLst/>
              <a:gdLst>
                <a:gd name="T0" fmla="*/ 205 w 233"/>
                <a:gd name="T1" fmla="*/ 124 h 393"/>
                <a:gd name="T2" fmla="*/ 233 w 233"/>
                <a:gd name="T3" fmla="*/ 205 h 393"/>
                <a:gd name="T4" fmla="*/ 233 w 233"/>
                <a:gd name="T5" fmla="*/ 393 h 393"/>
                <a:gd name="T6" fmla="*/ 194 w 233"/>
                <a:gd name="T7" fmla="*/ 393 h 393"/>
                <a:gd name="T8" fmla="*/ 194 w 233"/>
                <a:gd name="T9" fmla="*/ 216 h 393"/>
                <a:gd name="T10" fmla="*/ 186 w 233"/>
                <a:gd name="T11" fmla="*/ 168 h 393"/>
                <a:gd name="T12" fmla="*/ 160 w 233"/>
                <a:gd name="T13" fmla="*/ 140 h 393"/>
                <a:gd name="T14" fmla="*/ 113 w 233"/>
                <a:gd name="T15" fmla="*/ 130 h 393"/>
                <a:gd name="T16" fmla="*/ 40 w 233"/>
                <a:gd name="T17" fmla="*/ 145 h 393"/>
                <a:gd name="T18" fmla="*/ 40 w 233"/>
                <a:gd name="T19" fmla="*/ 393 h 393"/>
                <a:gd name="T20" fmla="*/ 0 w 233"/>
                <a:gd name="T21" fmla="*/ 393 h 393"/>
                <a:gd name="T22" fmla="*/ 0 w 233"/>
                <a:gd name="T23" fmla="*/ 5 h 393"/>
                <a:gd name="T24" fmla="*/ 40 w 233"/>
                <a:gd name="T25" fmla="*/ 0 h 393"/>
                <a:gd name="T26" fmla="*/ 40 w 233"/>
                <a:gd name="T27" fmla="*/ 111 h 393"/>
                <a:gd name="T28" fmla="*/ 117 w 233"/>
                <a:gd name="T29" fmla="*/ 95 h 393"/>
                <a:gd name="T30" fmla="*/ 205 w 233"/>
                <a:gd name="T31" fmla="*/ 12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3" h="393">
                  <a:moveTo>
                    <a:pt x="205" y="124"/>
                  </a:moveTo>
                  <a:cubicBezTo>
                    <a:pt x="224" y="142"/>
                    <a:pt x="233" y="170"/>
                    <a:pt x="233" y="205"/>
                  </a:cubicBezTo>
                  <a:cubicBezTo>
                    <a:pt x="233" y="393"/>
                    <a:pt x="233" y="393"/>
                    <a:pt x="233" y="393"/>
                  </a:cubicBezTo>
                  <a:cubicBezTo>
                    <a:pt x="194" y="393"/>
                    <a:pt x="194" y="393"/>
                    <a:pt x="194" y="393"/>
                  </a:cubicBezTo>
                  <a:cubicBezTo>
                    <a:pt x="194" y="216"/>
                    <a:pt x="194" y="216"/>
                    <a:pt x="194" y="216"/>
                  </a:cubicBezTo>
                  <a:cubicBezTo>
                    <a:pt x="194" y="196"/>
                    <a:pt x="191" y="180"/>
                    <a:pt x="186" y="168"/>
                  </a:cubicBezTo>
                  <a:cubicBezTo>
                    <a:pt x="180" y="155"/>
                    <a:pt x="172" y="146"/>
                    <a:pt x="160" y="140"/>
                  </a:cubicBezTo>
                  <a:cubicBezTo>
                    <a:pt x="149" y="134"/>
                    <a:pt x="133" y="130"/>
                    <a:pt x="113" y="130"/>
                  </a:cubicBezTo>
                  <a:cubicBezTo>
                    <a:pt x="86" y="130"/>
                    <a:pt x="62" y="135"/>
                    <a:pt x="40" y="145"/>
                  </a:cubicBezTo>
                  <a:cubicBezTo>
                    <a:pt x="40" y="393"/>
                    <a:pt x="40" y="393"/>
                    <a:pt x="40" y="393"/>
                  </a:cubicBezTo>
                  <a:cubicBezTo>
                    <a:pt x="0" y="393"/>
                    <a:pt x="0" y="393"/>
                    <a:pt x="0" y="39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2" y="1"/>
                    <a:pt x="25" y="0"/>
                    <a:pt x="40" y="0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65" y="101"/>
                    <a:pt x="91" y="95"/>
                    <a:pt x="117" y="95"/>
                  </a:cubicBezTo>
                  <a:cubicBezTo>
                    <a:pt x="158" y="95"/>
                    <a:pt x="187" y="105"/>
                    <a:pt x="205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1BA188B1-1FDA-4226-A615-1A4E382C9C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" y="4130"/>
              <a:ext cx="973" cy="171"/>
            </a:xfrm>
            <a:custGeom>
              <a:avLst/>
              <a:gdLst>
                <a:gd name="T0" fmla="*/ 319 w 3262"/>
                <a:gd name="T1" fmla="*/ 39 h 571"/>
                <a:gd name="T2" fmla="*/ 300 w 3262"/>
                <a:gd name="T3" fmla="*/ 137 h 571"/>
                <a:gd name="T4" fmla="*/ 371 w 3262"/>
                <a:gd name="T5" fmla="*/ 405 h 571"/>
                <a:gd name="T6" fmla="*/ 244 w 3262"/>
                <a:gd name="T7" fmla="*/ 170 h 571"/>
                <a:gd name="T8" fmla="*/ 225 w 3262"/>
                <a:gd name="T9" fmla="*/ 267 h 571"/>
                <a:gd name="T10" fmla="*/ 300 w 3262"/>
                <a:gd name="T11" fmla="*/ 528 h 571"/>
                <a:gd name="T12" fmla="*/ 187 w 3262"/>
                <a:gd name="T13" fmla="*/ 333 h 571"/>
                <a:gd name="T14" fmla="*/ 300 w 3262"/>
                <a:gd name="T15" fmla="*/ 571 h 571"/>
                <a:gd name="T16" fmla="*/ 714 w 3262"/>
                <a:gd name="T17" fmla="*/ 540 h 571"/>
                <a:gd name="T18" fmla="*/ 910 w 3262"/>
                <a:gd name="T19" fmla="*/ 455 h 571"/>
                <a:gd name="T20" fmla="*/ 717 w 3262"/>
                <a:gd name="T21" fmla="*/ 258 h 571"/>
                <a:gd name="T22" fmla="*/ 945 w 3262"/>
                <a:gd name="T23" fmla="*/ 226 h 571"/>
                <a:gd name="T24" fmla="*/ 843 w 3262"/>
                <a:gd name="T25" fmla="*/ 322 h 571"/>
                <a:gd name="T26" fmla="*/ 830 w 3262"/>
                <a:gd name="T27" fmla="*/ 561 h 571"/>
                <a:gd name="T28" fmla="*/ 1278 w 3262"/>
                <a:gd name="T29" fmla="*/ 552 h 571"/>
                <a:gd name="T30" fmla="*/ 1138 w 3262"/>
                <a:gd name="T31" fmla="*/ 559 h 571"/>
                <a:gd name="T32" fmla="*/ 1278 w 3262"/>
                <a:gd name="T33" fmla="*/ 270 h 571"/>
                <a:gd name="T34" fmla="*/ 1171 w 3262"/>
                <a:gd name="T35" fmla="*/ 307 h 571"/>
                <a:gd name="T36" fmla="*/ 1216 w 3262"/>
                <a:gd name="T37" fmla="*/ 488 h 571"/>
                <a:gd name="T38" fmla="*/ 1533 w 3262"/>
                <a:gd name="T39" fmla="*/ 552 h 571"/>
                <a:gd name="T40" fmla="*/ 1407 w 3262"/>
                <a:gd name="T41" fmla="*/ 312 h 571"/>
                <a:gd name="T42" fmla="*/ 1345 w 3262"/>
                <a:gd name="T43" fmla="*/ 270 h 571"/>
                <a:gd name="T44" fmla="*/ 1767 w 3262"/>
                <a:gd name="T45" fmla="*/ 506 h 571"/>
                <a:gd name="T46" fmla="*/ 1756 w 3262"/>
                <a:gd name="T47" fmla="*/ 559 h 571"/>
                <a:gd name="T48" fmla="*/ 1719 w 3262"/>
                <a:gd name="T49" fmla="*/ 157 h 571"/>
                <a:gd name="T50" fmla="*/ 1812 w 3262"/>
                <a:gd name="T51" fmla="*/ 317 h 571"/>
                <a:gd name="T52" fmla="*/ 1767 w 3262"/>
                <a:gd name="T53" fmla="*/ 506 h 571"/>
                <a:gd name="T54" fmla="*/ 2043 w 3262"/>
                <a:gd name="T55" fmla="*/ 552 h 571"/>
                <a:gd name="T56" fmla="*/ 1836 w 3262"/>
                <a:gd name="T57" fmla="*/ 410 h 571"/>
                <a:gd name="T58" fmla="*/ 2038 w 3262"/>
                <a:gd name="T59" fmla="*/ 488 h 571"/>
                <a:gd name="T60" fmla="*/ 1899 w 3262"/>
                <a:gd name="T61" fmla="*/ 410 h 571"/>
                <a:gd name="T62" fmla="*/ 2418 w 3262"/>
                <a:gd name="T63" fmla="*/ 363 h 571"/>
                <a:gd name="T64" fmla="*/ 2356 w 3262"/>
                <a:gd name="T65" fmla="*/ 373 h 571"/>
                <a:gd name="T66" fmla="*/ 2230 w 3262"/>
                <a:gd name="T67" fmla="*/ 552 h 571"/>
                <a:gd name="T68" fmla="*/ 2281 w 3262"/>
                <a:gd name="T69" fmla="*/ 254 h 571"/>
                <a:gd name="T70" fmla="*/ 2733 w 3262"/>
                <a:gd name="T71" fmla="*/ 552 h 571"/>
                <a:gd name="T72" fmla="*/ 2592 w 3262"/>
                <a:gd name="T73" fmla="*/ 559 h 571"/>
                <a:gd name="T74" fmla="*/ 2671 w 3262"/>
                <a:gd name="T75" fmla="*/ 259 h 571"/>
                <a:gd name="T76" fmla="*/ 2671 w 3262"/>
                <a:gd name="T77" fmla="*/ 487 h 571"/>
                <a:gd name="T78" fmla="*/ 2531 w 3262"/>
                <a:gd name="T79" fmla="*/ 410 h 571"/>
                <a:gd name="T80" fmla="*/ 3045 w 3262"/>
                <a:gd name="T81" fmla="*/ 432 h 571"/>
                <a:gd name="T82" fmla="*/ 3039 w 3262"/>
                <a:gd name="T83" fmla="*/ 485 h 571"/>
                <a:gd name="T84" fmla="*/ 2783 w 3262"/>
                <a:gd name="T85" fmla="*/ 405 h 571"/>
                <a:gd name="T86" fmla="*/ 3045 w 3262"/>
                <a:gd name="T87" fmla="*/ 432 h 571"/>
                <a:gd name="T88" fmla="*/ 2918 w 3262"/>
                <a:gd name="T89" fmla="*/ 306 h 571"/>
                <a:gd name="T90" fmla="*/ 3256 w 3262"/>
                <a:gd name="T91" fmla="*/ 310 h 571"/>
                <a:gd name="T92" fmla="*/ 3164 w 3262"/>
                <a:gd name="T93" fmla="*/ 552 h 571"/>
                <a:gd name="T94" fmla="*/ 3208 w 3262"/>
                <a:gd name="T95" fmla="*/ 254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2" h="571">
                  <a:moveTo>
                    <a:pt x="430" y="262"/>
                  </a:moveTo>
                  <a:cubicBezTo>
                    <a:pt x="429" y="241"/>
                    <a:pt x="424" y="221"/>
                    <a:pt x="413" y="202"/>
                  </a:cubicBezTo>
                  <a:cubicBezTo>
                    <a:pt x="319" y="39"/>
                    <a:pt x="319" y="39"/>
                    <a:pt x="319" y="39"/>
                  </a:cubicBezTo>
                  <a:cubicBezTo>
                    <a:pt x="312" y="27"/>
                    <a:pt x="307" y="14"/>
                    <a:pt x="304" y="0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277" y="47"/>
                    <a:pt x="277" y="97"/>
                    <a:pt x="300" y="137"/>
                  </a:cubicBezTo>
                  <a:cubicBezTo>
                    <a:pt x="375" y="267"/>
                    <a:pt x="375" y="267"/>
                    <a:pt x="375" y="267"/>
                  </a:cubicBezTo>
                  <a:cubicBezTo>
                    <a:pt x="399" y="308"/>
                    <a:pt x="399" y="357"/>
                    <a:pt x="375" y="398"/>
                  </a:cubicBezTo>
                  <a:cubicBezTo>
                    <a:pt x="371" y="405"/>
                    <a:pt x="371" y="405"/>
                    <a:pt x="371" y="405"/>
                  </a:cubicBezTo>
                  <a:cubicBezTo>
                    <a:pt x="369" y="391"/>
                    <a:pt x="364" y="378"/>
                    <a:pt x="357" y="365"/>
                  </a:cubicBezTo>
                  <a:cubicBezTo>
                    <a:pt x="288" y="246"/>
                    <a:pt x="288" y="246"/>
                    <a:pt x="288" y="246"/>
                  </a:cubicBezTo>
                  <a:cubicBezTo>
                    <a:pt x="244" y="170"/>
                    <a:pt x="244" y="170"/>
                    <a:pt x="244" y="170"/>
                  </a:cubicBezTo>
                  <a:cubicBezTo>
                    <a:pt x="237" y="157"/>
                    <a:pt x="232" y="144"/>
                    <a:pt x="229" y="130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02" y="177"/>
                    <a:pt x="202" y="227"/>
                    <a:pt x="225" y="267"/>
                  </a:cubicBezTo>
                  <a:cubicBezTo>
                    <a:pt x="225" y="267"/>
                    <a:pt x="225" y="267"/>
                    <a:pt x="225" y="267"/>
                  </a:cubicBezTo>
                  <a:cubicBezTo>
                    <a:pt x="300" y="398"/>
                    <a:pt x="300" y="398"/>
                    <a:pt x="300" y="398"/>
                  </a:cubicBezTo>
                  <a:cubicBezTo>
                    <a:pt x="323" y="438"/>
                    <a:pt x="323" y="488"/>
                    <a:pt x="300" y="528"/>
                  </a:cubicBezTo>
                  <a:cubicBezTo>
                    <a:pt x="296" y="535"/>
                    <a:pt x="296" y="535"/>
                    <a:pt x="296" y="535"/>
                  </a:cubicBezTo>
                  <a:cubicBezTo>
                    <a:pt x="293" y="521"/>
                    <a:pt x="289" y="508"/>
                    <a:pt x="281" y="495"/>
                  </a:cubicBezTo>
                  <a:cubicBezTo>
                    <a:pt x="187" y="333"/>
                    <a:pt x="187" y="333"/>
                    <a:pt x="187" y="333"/>
                  </a:cubicBezTo>
                  <a:cubicBezTo>
                    <a:pt x="175" y="311"/>
                    <a:pt x="169" y="286"/>
                    <a:pt x="170" y="262"/>
                  </a:cubicBezTo>
                  <a:cubicBezTo>
                    <a:pt x="69" y="288"/>
                    <a:pt x="0" y="344"/>
                    <a:pt x="0" y="409"/>
                  </a:cubicBezTo>
                  <a:cubicBezTo>
                    <a:pt x="0" y="499"/>
                    <a:pt x="134" y="571"/>
                    <a:pt x="300" y="571"/>
                  </a:cubicBezTo>
                  <a:cubicBezTo>
                    <a:pt x="466" y="571"/>
                    <a:pt x="601" y="499"/>
                    <a:pt x="601" y="409"/>
                  </a:cubicBezTo>
                  <a:cubicBezTo>
                    <a:pt x="601" y="344"/>
                    <a:pt x="531" y="288"/>
                    <a:pt x="430" y="262"/>
                  </a:cubicBezTo>
                  <a:close/>
                  <a:moveTo>
                    <a:pt x="714" y="540"/>
                  </a:moveTo>
                  <a:cubicBezTo>
                    <a:pt x="715" y="517"/>
                    <a:pt x="718" y="501"/>
                    <a:pt x="725" y="483"/>
                  </a:cubicBezTo>
                  <a:cubicBezTo>
                    <a:pt x="756" y="498"/>
                    <a:pt x="797" y="505"/>
                    <a:pt x="828" y="505"/>
                  </a:cubicBezTo>
                  <a:cubicBezTo>
                    <a:pt x="880" y="505"/>
                    <a:pt x="910" y="488"/>
                    <a:pt x="910" y="455"/>
                  </a:cubicBezTo>
                  <a:cubicBezTo>
                    <a:pt x="910" y="422"/>
                    <a:pt x="888" y="407"/>
                    <a:pt x="835" y="384"/>
                  </a:cubicBezTo>
                  <a:cubicBezTo>
                    <a:pt x="806" y="371"/>
                    <a:pt x="806" y="371"/>
                    <a:pt x="806" y="371"/>
                  </a:cubicBezTo>
                  <a:cubicBezTo>
                    <a:pt x="753" y="348"/>
                    <a:pt x="717" y="318"/>
                    <a:pt x="717" y="258"/>
                  </a:cubicBezTo>
                  <a:cubicBezTo>
                    <a:pt x="717" y="194"/>
                    <a:pt x="762" y="153"/>
                    <a:pt x="853" y="153"/>
                  </a:cubicBezTo>
                  <a:cubicBezTo>
                    <a:pt x="890" y="153"/>
                    <a:pt x="924" y="158"/>
                    <a:pt x="957" y="169"/>
                  </a:cubicBezTo>
                  <a:cubicBezTo>
                    <a:pt x="955" y="192"/>
                    <a:pt x="951" y="209"/>
                    <a:pt x="945" y="226"/>
                  </a:cubicBezTo>
                  <a:cubicBezTo>
                    <a:pt x="915" y="214"/>
                    <a:pt x="879" y="209"/>
                    <a:pt x="853" y="209"/>
                  </a:cubicBezTo>
                  <a:cubicBezTo>
                    <a:pt x="804" y="209"/>
                    <a:pt x="781" y="228"/>
                    <a:pt x="781" y="258"/>
                  </a:cubicBezTo>
                  <a:cubicBezTo>
                    <a:pt x="781" y="288"/>
                    <a:pt x="803" y="305"/>
                    <a:pt x="843" y="322"/>
                  </a:cubicBezTo>
                  <a:cubicBezTo>
                    <a:pt x="873" y="335"/>
                    <a:pt x="873" y="335"/>
                    <a:pt x="873" y="335"/>
                  </a:cubicBezTo>
                  <a:cubicBezTo>
                    <a:pt x="945" y="365"/>
                    <a:pt x="975" y="397"/>
                    <a:pt x="975" y="452"/>
                  </a:cubicBezTo>
                  <a:cubicBezTo>
                    <a:pt x="975" y="517"/>
                    <a:pt x="926" y="561"/>
                    <a:pt x="830" y="561"/>
                  </a:cubicBezTo>
                  <a:cubicBezTo>
                    <a:pt x="783" y="561"/>
                    <a:pt x="746" y="555"/>
                    <a:pt x="714" y="540"/>
                  </a:cubicBezTo>
                  <a:close/>
                  <a:moveTo>
                    <a:pt x="1278" y="270"/>
                  </a:moveTo>
                  <a:cubicBezTo>
                    <a:pt x="1278" y="552"/>
                    <a:pt x="1278" y="552"/>
                    <a:pt x="1278" y="552"/>
                  </a:cubicBezTo>
                  <a:cubicBezTo>
                    <a:pt x="1221" y="552"/>
                    <a:pt x="1221" y="552"/>
                    <a:pt x="1221" y="552"/>
                  </a:cubicBezTo>
                  <a:cubicBezTo>
                    <a:pt x="1217" y="518"/>
                    <a:pt x="1217" y="518"/>
                    <a:pt x="1217" y="518"/>
                  </a:cubicBezTo>
                  <a:cubicBezTo>
                    <a:pt x="1201" y="543"/>
                    <a:pt x="1177" y="559"/>
                    <a:pt x="1138" y="559"/>
                  </a:cubicBezTo>
                  <a:cubicBezTo>
                    <a:pt x="1063" y="559"/>
                    <a:pt x="1014" y="505"/>
                    <a:pt x="1014" y="410"/>
                  </a:cubicBezTo>
                  <a:cubicBezTo>
                    <a:pt x="1014" y="311"/>
                    <a:pt x="1067" y="254"/>
                    <a:pt x="1171" y="254"/>
                  </a:cubicBezTo>
                  <a:cubicBezTo>
                    <a:pt x="1212" y="254"/>
                    <a:pt x="1245" y="259"/>
                    <a:pt x="1278" y="270"/>
                  </a:cubicBezTo>
                  <a:close/>
                  <a:moveTo>
                    <a:pt x="1216" y="488"/>
                  </a:moveTo>
                  <a:cubicBezTo>
                    <a:pt x="1216" y="311"/>
                    <a:pt x="1216" y="311"/>
                    <a:pt x="1216" y="311"/>
                  </a:cubicBezTo>
                  <a:cubicBezTo>
                    <a:pt x="1203" y="309"/>
                    <a:pt x="1188" y="307"/>
                    <a:pt x="1171" y="307"/>
                  </a:cubicBezTo>
                  <a:cubicBezTo>
                    <a:pt x="1107" y="307"/>
                    <a:pt x="1077" y="347"/>
                    <a:pt x="1077" y="410"/>
                  </a:cubicBezTo>
                  <a:cubicBezTo>
                    <a:pt x="1077" y="468"/>
                    <a:pt x="1100" y="508"/>
                    <a:pt x="1155" y="508"/>
                  </a:cubicBezTo>
                  <a:cubicBezTo>
                    <a:pt x="1179" y="508"/>
                    <a:pt x="1199" y="500"/>
                    <a:pt x="1216" y="488"/>
                  </a:cubicBezTo>
                  <a:close/>
                  <a:moveTo>
                    <a:pt x="1595" y="363"/>
                  </a:moveTo>
                  <a:cubicBezTo>
                    <a:pt x="1595" y="552"/>
                    <a:pt x="1595" y="552"/>
                    <a:pt x="1595" y="552"/>
                  </a:cubicBezTo>
                  <a:cubicBezTo>
                    <a:pt x="1533" y="552"/>
                    <a:pt x="1533" y="552"/>
                    <a:pt x="1533" y="552"/>
                  </a:cubicBezTo>
                  <a:cubicBezTo>
                    <a:pt x="1533" y="373"/>
                    <a:pt x="1533" y="373"/>
                    <a:pt x="1533" y="373"/>
                  </a:cubicBezTo>
                  <a:cubicBezTo>
                    <a:pt x="1533" y="329"/>
                    <a:pt x="1518" y="307"/>
                    <a:pt x="1456" y="307"/>
                  </a:cubicBezTo>
                  <a:cubicBezTo>
                    <a:pt x="1442" y="307"/>
                    <a:pt x="1424" y="309"/>
                    <a:pt x="1407" y="312"/>
                  </a:cubicBezTo>
                  <a:cubicBezTo>
                    <a:pt x="1407" y="552"/>
                    <a:pt x="1407" y="552"/>
                    <a:pt x="1407" y="552"/>
                  </a:cubicBezTo>
                  <a:cubicBezTo>
                    <a:pt x="1345" y="552"/>
                    <a:pt x="1345" y="552"/>
                    <a:pt x="1345" y="552"/>
                  </a:cubicBezTo>
                  <a:cubicBezTo>
                    <a:pt x="1345" y="270"/>
                    <a:pt x="1345" y="270"/>
                    <a:pt x="1345" y="270"/>
                  </a:cubicBezTo>
                  <a:cubicBezTo>
                    <a:pt x="1385" y="261"/>
                    <a:pt x="1428" y="254"/>
                    <a:pt x="1458" y="254"/>
                  </a:cubicBezTo>
                  <a:cubicBezTo>
                    <a:pt x="1562" y="254"/>
                    <a:pt x="1595" y="294"/>
                    <a:pt x="1595" y="363"/>
                  </a:cubicBezTo>
                  <a:close/>
                  <a:moveTo>
                    <a:pt x="1767" y="506"/>
                  </a:moveTo>
                  <a:cubicBezTo>
                    <a:pt x="1785" y="506"/>
                    <a:pt x="1802" y="503"/>
                    <a:pt x="1816" y="498"/>
                  </a:cubicBezTo>
                  <a:cubicBezTo>
                    <a:pt x="1814" y="514"/>
                    <a:pt x="1812" y="534"/>
                    <a:pt x="1809" y="550"/>
                  </a:cubicBezTo>
                  <a:cubicBezTo>
                    <a:pt x="1792" y="557"/>
                    <a:pt x="1774" y="559"/>
                    <a:pt x="1756" y="559"/>
                  </a:cubicBezTo>
                  <a:cubicBezTo>
                    <a:pt x="1696" y="559"/>
                    <a:pt x="1657" y="531"/>
                    <a:pt x="1657" y="463"/>
                  </a:cubicBezTo>
                  <a:cubicBezTo>
                    <a:pt x="1657" y="166"/>
                    <a:pt x="1657" y="166"/>
                    <a:pt x="1657" y="166"/>
                  </a:cubicBezTo>
                  <a:cubicBezTo>
                    <a:pt x="1676" y="160"/>
                    <a:pt x="1700" y="157"/>
                    <a:pt x="1719" y="157"/>
                  </a:cubicBezTo>
                  <a:cubicBezTo>
                    <a:pt x="1719" y="264"/>
                    <a:pt x="1719" y="264"/>
                    <a:pt x="1719" y="264"/>
                  </a:cubicBezTo>
                  <a:cubicBezTo>
                    <a:pt x="1818" y="264"/>
                    <a:pt x="1818" y="264"/>
                    <a:pt x="1818" y="264"/>
                  </a:cubicBezTo>
                  <a:cubicBezTo>
                    <a:pt x="1816" y="283"/>
                    <a:pt x="1815" y="301"/>
                    <a:pt x="1812" y="317"/>
                  </a:cubicBezTo>
                  <a:cubicBezTo>
                    <a:pt x="1719" y="317"/>
                    <a:pt x="1719" y="317"/>
                    <a:pt x="1719" y="317"/>
                  </a:cubicBezTo>
                  <a:cubicBezTo>
                    <a:pt x="1719" y="455"/>
                    <a:pt x="1719" y="455"/>
                    <a:pt x="1719" y="455"/>
                  </a:cubicBezTo>
                  <a:cubicBezTo>
                    <a:pt x="1719" y="492"/>
                    <a:pt x="1737" y="506"/>
                    <a:pt x="1767" y="506"/>
                  </a:cubicBezTo>
                  <a:close/>
                  <a:moveTo>
                    <a:pt x="2100" y="270"/>
                  </a:moveTo>
                  <a:cubicBezTo>
                    <a:pt x="2100" y="552"/>
                    <a:pt x="2100" y="552"/>
                    <a:pt x="2100" y="552"/>
                  </a:cubicBezTo>
                  <a:cubicBezTo>
                    <a:pt x="2043" y="552"/>
                    <a:pt x="2043" y="552"/>
                    <a:pt x="2043" y="552"/>
                  </a:cubicBezTo>
                  <a:cubicBezTo>
                    <a:pt x="2040" y="518"/>
                    <a:pt x="2040" y="518"/>
                    <a:pt x="2040" y="518"/>
                  </a:cubicBezTo>
                  <a:cubicBezTo>
                    <a:pt x="2024" y="543"/>
                    <a:pt x="2000" y="559"/>
                    <a:pt x="1960" y="559"/>
                  </a:cubicBezTo>
                  <a:cubicBezTo>
                    <a:pt x="1886" y="559"/>
                    <a:pt x="1836" y="505"/>
                    <a:pt x="1836" y="410"/>
                  </a:cubicBezTo>
                  <a:cubicBezTo>
                    <a:pt x="1836" y="311"/>
                    <a:pt x="1889" y="254"/>
                    <a:pt x="1994" y="254"/>
                  </a:cubicBezTo>
                  <a:cubicBezTo>
                    <a:pt x="2034" y="254"/>
                    <a:pt x="2067" y="259"/>
                    <a:pt x="2100" y="270"/>
                  </a:cubicBezTo>
                  <a:close/>
                  <a:moveTo>
                    <a:pt x="2038" y="488"/>
                  </a:moveTo>
                  <a:cubicBezTo>
                    <a:pt x="2038" y="311"/>
                    <a:pt x="2038" y="311"/>
                    <a:pt x="2038" y="311"/>
                  </a:cubicBezTo>
                  <a:cubicBezTo>
                    <a:pt x="2025" y="309"/>
                    <a:pt x="2011" y="307"/>
                    <a:pt x="1994" y="307"/>
                  </a:cubicBezTo>
                  <a:cubicBezTo>
                    <a:pt x="1929" y="307"/>
                    <a:pt x="1899" y="347"/>
                    <a:pt x="1899" y="410"/>
                  </a:cubicBezTo>
                  <a:cubicBezTo>
                    <a:pt x="1899" y="468"/>
                    <a:pt x="1922" y="508"/>
                    <a:pt x="1978" y="508"/>
                  </a:cubicBezTo>
                  <a:cubicBezTo>
                    <a:pt x="2002" y="508"/>
                    <a:pt x="2022" y="500"/>
                    <a:pt x="2038" y="488"/>
                  </a:cubicBezTo>
                  <a:close/>
                  <a:moveTo>
                    <a:pt x="2418" y="363"/>
                  </a:moveTo>
                  <a:cubicBezTo>
                    <a:pt x="2418" y="552"/>
                    <a:pt x="2418" y="552"/>
                    <a:pt x="2418" y="552"/>
                  </a:cubicBezTo>
                  <a:cubicBezTo>
                    <a:pt x="2356" y="552"/>
                    <a:pt x="2356" y="552"/>
                    <a:pt x="2356" y="552"/>
                  </a:cubicBezTo>
                  <a:cubicBezTo>
                    <a:pt x="2356" y="373"/>
                    <a:pt x="2356" y="373"/>
                    <a:pt x="2356" y="373"/>
                  </a:cubicBezTo>
                  <a:cubicBezTo>
                    <a:pt x="2356" y="329"/>
                    <a:pt x="2341" y="307"/>
                    <a:pt x="2279" y="307"/>
                  </a:cubicBezTo>
                  <a:cubicBezTo>
                    <a:pt x="2264" y="307"/>
                    <a:pt x="2247" y="309"/>
                    <a:pt x="2230" y="312"/>
                  </a:cubicBezTo>
                  <a:cubicBezTo>
                    <a:pt x="2230" y="552"/>
                    <a:pt x="2230" y="552"/>
                    <a:pt x="2230" y="552"/>
                  </a:cubicBezTo>
                  <a:cubicBezTo>
                    <a:pt x="2168" y="552"/>
                    <a:pt x="2168" y="552"/>
                    <a:pt x="2168" y="552"/>
                  </a:cubicBezTo>
                  <a:cubicBezTo>
                    <a:pt x="2168" y="270"/>
                    <a:pt x="2168" y="270"/>
                    <a:pt x="2168" y="270"/>
                  </a:cubicBezTo>
                  <a:cubicBezTo>
                    <a:pt x="2207" y="261"/>
                    <a:pt x="2251" y="254"/>
                    <a:pt x="2281" y="254"/>
                  </a:cubicBezTo>
                  <a:cubicBezTo>
                    <a:pt x="2385" y="254"/>
                    <a:pt x="2418" y="294"/>
                    <a:pt x="2418" y="363"/>
                  </a:cubicBezTo>
                  <a:close/>
                  <a:moveTo>
                    <a:pt x="2733" y="157"/>
                  </a:moveTo>
                  <a:cubicBezTo>
                    <a:pt x="2733" y="552"/>
                    <a:pt x="2733" y="552"/>
                    <a:pt x="2733" y="552"/>
                  </a:cubicBezTo>
                  <a:cubicBezTo>
                    <a:pt x="2676" y="552"/>
                    <a:pt x="2676" y="552"/>
                    <a:pt x="2676" y="552"/>
                  </a:cubicBezTo>
                  <a:cubicBezTo>
                    <a:pt x="2672" y="516"/>
                    <a:pt x="2672" y="516"/>
                    <a:pt x="2672" y="516"/>
                  </a:cubicBezTo>
                  <a:cubicBezTo>
                    <a:pt x="2657" y="543"/>
                    <a:pt x="2632" y="559"/>
                    <a:pt x="2592" y="559"/>
                  </a:cubicBezTo>
                  <a:cubicBezTo>
                    <a:pt x="2517" y="559"/>
                    <a:pt x="2468" y="505"/>
                    <a:pt x="2468" y="410"/>
                  </a:cubicBezTo>
                  <a:cubicBezTo>
                    <a:pt x="2468" y="311"/>
                    <a:pt x="2521" y="254"/>
                    <a:pt x="2625" y="254"/>
                  </a:cubicBezTo>
                  <a:cubicBezTo>
                    <a:pt x="2641" y="254"/>
                    <a:pt x="2657" y="256"/>
                    <a:pt x="2671" y="259"/>
                  </a:cubicBezTo>
                  <a:cubicBezTo>
                    <a:pt x="2671" y="166"/>
                    <a:pt x="2671" y="166"/>
                    <a:pt x="2671" y="166"/>
                  </a:cubicBezTo>
                  <a:cubicBezTo>
                    <a:pt x="2690" y="159"/>
                    <a:pt x="2712" y="157"/>
                    <a:pt x="2733" y="157"/>
                  </a:cubicBezTo>
                  <a:close/>
                  <a:moveTo>
                    <a:pt x="2671" y="487"/>
                  </a:moveTo>
                  <a:cubicBezTo>
                    <a:pt x="2671" y="313"/>
                    <a:pt x="2671" y="313"/>
                    <a:pt x="2671" y="313"/>
                  </a:cubicBezTo>
                  <a:cubicBezTo>
                    <a:pt x="2655" y="310"/>
                    <a:pt x="2638" y="307"/>
                    <a:pt x="2622" y="307"/>
                  </a:cubicBezTo>
                  <a:cubicBezTo>
                    <a:pt x="2560" y="307"/>
                    <a:pt x="2531" y="346"/>
                    <a:pt x="2531" y="410"/>
                  </a:cubicBezTo>
                  <a:cubicBezTo>
                    <a:pt x="2531" y="468"/>
                    <a:pt x="2554" y="508"/>
                    <a:pt x="2609" y="508"/>
                  </a:cubicBezTo>
                  <a:cubicBezTo>
                    <a:pt x="2634" y="508"/>
                    <a:pt x="2654" y="500"/>
                    <a:pt x="2671" y="487"/>
                  </a:cubicBezTo>
                  <a:close/>
                  <a:moveTo>
                    <a:pt x="3045" y="432"/>
                  </a:moveTo>
                  <a:cubicBezTo>
                    <a:pt x="2847" y="432"/>
                    <a:pt x="2847" y="432"/>
                    <a:pt x="2847" y="432"/>
                  </a:cubicBezTo>
                  <a:cubicBezTo>
                    <a:pt x="2855" y="482"/>
                    <a:pt x="2884" y="506"/>
                    <a:pt x="2939" y="506"/>
                  </a:cubicBezTo>
                  <a:cubicBezTo>
                    <a:pt x="2973" y="506"/>
                    <a:pt x="3007" y="499"/>
                    <a:pt x="3039" y="485"/>
                  </a:cubicBezTo>
                  <a:cubicBezTo>
                    <a:pt x="3036" y="501"/>
                    <a:pt x="3033" y="522"/>
                    <a:pt x="3029" y="541"/>
                  </a:cubicBezTo>
                  <a:cubicBezTo>
                    <a:pt x="3001" y="554"/>
                    <a:pt x="2971" y="559"/>
                    <a:pt x="2938" y="559"/>
                  </a:cubicBezTo>
                  <a:cubicBezTo>
                    <a:pt x="2834" y="559"/>
                    <a:pt x="2783" y="502"/>
                    <a:pt x="2783" y="405"/>
                  </a:cubicBezTo>
                  <a:cubicBezTo>
                    <a:pt x="2783" y="321"/>
                    <a:pt x="2822" y="254"/>
                    <a:pt x="2921" y="254"/>
                  </a:cubicBezTo>
                  <a:cubicBezTo>
                    <a:pt x="3010" y="254"/>
                    <a:pt x="3048" y="313"/>
                    <a:pt x="3048" y="384"/>
                  </a:cubicBezTo>
                  <a:cubicBezTo>
                    <a:pt x="3048" y="401"/>
                    <a:pt x="3047" y="415"/>
                    <a:pt x="3045" y="432"/>
                  </a:cubicBezTo>
                  <a:close/>
                  <a:moveTo>
                    <a:pt x="2846" y="380"/>
                  </a:moveTo>
                  <a:cubicBezTo>
                    <a:pt x="2985" y="380"/>
                    <a:pt x="2985" y="380"/>
                    <a:pt x="2985" y="380"/>
                  </a:cubicBezTo>
                  <a:cubicBezTo>
                    <a:pt x="2985" y="333"/>
                    <a:pt x="2961" y="306"/>
                    <a:pt x="2918" y="306"/>
                  </a:cubicBezTo>
                  <a:cubicBezTo>
                    <a:pt x="2874" y="306"/>
                    <a:pt x="2851" y="332"/>
                    <a:pt x="2846" y="380"/>
                  </a:cubicBezTo>
                  <a:close/>
                  <a:moveTo>
                    <a:pt x="3262" y="257"/>
                  </a:moveTo>
                  <a:cubicBezTo>
                    <a:pt x="3262" y="275"/>
                    <a:pt x="3260" y="298"/>
                    <a:pt x="3256" y="310"/>
                  </a:cubicBezTo>
                  <a:cubicBezTo>
                    <a:pt x="3242" y="308"/>
                    <a:pt x="3227" y="307"/>
                    <a:pt x="3209" y="307"/>
                  </a:cubicBezTo>
                  <a:cubicBezTo>
                    <a:pt x="3194" y="307"/>
                    <a:pt x="3179" y="309"/>
                    <a:pt x="3164" y="311"/>
                  </a:cubicBezTo>
                  <a:cubicBezTo>
                    <a:pt x="3164" y="552"/>
                    <a:pt x="3164" y="552"/>
                    <a:pt x="3164" y="552"/>
                  </a:cubicBezTo>
                  <a:cubicBezTo>
                    <a:pt x="3102" y="552"/>
                    <a:pt x="3102" y="552"/>
                    <a:pt x="3102" y="552"/>
                  </a:cubicBezTo>
                  <a:cubicBezTo>
                    <a:pt x="3102" y="270"/>
                    <a:pt x="3102" y="270"/>
                    <a:pt x="3102" y="270"/>
                  </a:cubicBezTo>
                  <a:cubicBezTo>
                    <a:pt x="3128" y="261"/>
                    <a:pt x="3173" y="254"/>
                    <a:pt x="3208" y="254"/>
                  </a:cubicBezTo>
                  <a:cubicBezTo>
                    <a:pt x="3227" y="254"/>
                    <a:pt x="3248" y="255"/>
                    <a:pt x="3262" y="2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580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83397E-594B-497F-AD47-2DE610D401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ro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CB60B27-3339-4968-B60C-5595DBAA9393}"/>
              </a:ext>
            </a:extLst>
          </p:cNvPr>
          <p:cNvSpPr/>
          <p:nvPr userDrawn="1"/>
        </p:nvSpPr>
        <p:spPr>
          <a:xfrm>
            <a:off x="1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8278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355088C-9776-456E-A922-BBAF23879A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1606EA-8CD2-4492-975D-A00E43879F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C166C6-5DFB-4B8F-8AB3-994A141FB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 dirty="0"/>
              <a:t>Inserte aqu</a:t>
            </a:r>
            <a:r>
              <a:rPr lang="es-ES" dirty="0"/>
              <a:t>í su gráfico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51E9243-8BE4-441B-A83A-BD730D835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8E7B43A-1598-4285-B936-F6B44A39B0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BE998CB-7A6E-41A0-8A9B-01EB44631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2"/>
                </a:solidFill>
              </a:rPr>
              <a:t>Nuestra misión es contribuir al progreso de las personas y de las empresas.</a:t>
            </a:r>
          </a:p>
          <a:p>
            <a:endParaRPr lang="es-ES" sz="1400" dirty="0">
              <a:solidFill>
                <a:schemeClr val="tx2"/>
              </a:solidFill>
            </a:endParaRPr>
          </a:p>
          <a:p>
            <a:r>
              <a:rPr lang="es-ES" sz="1400" dirty="0">
                <a:solidFill>
                  <a:schemeClr val="tx2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chemeClr val="accent1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C046AFC-27D3-452C-83C4-F47E666D14B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5756774"/>
            <a:ext cx="2849562" cy="2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0" r:id="rId2"/>
    <p:sldLayoutId id="2147483668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e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jpeg"/><Relationship Id="rId2" Type="http://schemas.openxmlformats.org/officeDocument/2006/relationships/image" Target="../media/image6.gif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jpeg"/><Relationship Id="rId7" Type="http://schemas.openxmlformats.org/officeDocument/2006/relationships/image" Target="../media/image1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1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4" y="1096485"/>
            <a:ext cx="5496175" cy="1689746"/>
          </a:xfrm>
        </p:spPr>
        <p:txBody>
          <a:bodyPr>
            <a:normAutofit fontScale="90000"/>
          </a:bodyPr>
          <a:lstStyle/>
          <a:p>
            <a:r>
              <a:rPr lang="es-ES" dirty="0"/>
              <a:t>Automatización de actividades BAU – Visión general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OneFCC		23/12/2025</a:t>
            </a:r>
          </a:p>
        </p:txBody>
      </p:sp>
    </p:spTree>
    <p:extLst>
      <p:ext uri="{BB962C8B-B14F-4D97-AF65-F5344CB8AC3E}">
        <p14:creationId xmlns:p14="http://schemas.microsoft.com/office/powerpoint/2010/main" val="320524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Mapa conceptual del proceso</a:t>
            </a:r>
          </a:p>
          <a:p>
            <a:r>
              <a:rPr lang="es-ES" dirty="0"/>
              <a:t>Identificación de componentes</a:t>
            </a:r>
          </a:p>
          <a:p>
            <a:r>
              <a:rPr lang="es-ES" dirty="0"/>
              <a:t>Equipos involucrados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246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Mapa conceptual del proceso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630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A9C7-2CA9-A09D-290F-B432B548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FCD397F6-6B6D-2765-4ECA-03D11EF7390A}"/>
              </a:ext>
            </a:extLst>
          </p:cNvPr>
          <p:cNvSpPr/>
          <p:nvPr/>
        </p:nvSpPr>
        <p:spPr>
          <a:xfrm>
            <a:off x="3670590" y="4518970"/>
            <a:ext cx="3752485" cy="2001930"/>
          </a:xfrm>
          <a:prstGeom prst="ellipse">
            <a:avLst/>
          </a:prstGeom>
          <a:ln/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99F0EF5-C7CB-555C-5B05-AAA35C4F69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Mapa conceptual del proceso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3F78F63-5AA0-E106-30AE-30F12F56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1026" name="Picture 2" descr="Beginner's guide to Azure Functions — Part 1 | by Nikhil Khandelwal |  ashsoftware | Medium">
            <a:extLst>
              <a:ext uri="{FF2B5EF4-FFF2-40B4-BE49-F238E27FC236}">
                <a16:creationId xmlns:a16="http://schemas.microsoft.com/office/drawing/2014/main" id="{1400B054-76E7-4873-FF34-A33134DF8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76" y="2556569"/>
            <a:ext cx="2140147" cy="91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Descarga iconos gratuitos de Periodo tiempo en PNG y SVG">
            <a:extLst>
              <a:ext uri="{FF2B5EF4-FFF2-40B4-BE49-F238E27FC236}">
                <a16:creationId xmlns:a16="http://schemas.microsoft.com/office/drawing/2014/main" id="{6EC28B29-869D-6EDE-6577-933A0F070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92" y="1333100"/>
            <a:ext cx="535051" cy="53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E320E40-6679-7556-CD3F-98657FF6D2EB}"/>
              </a:ext>
            </a:extLst>
          </p:cNvPr>
          <p:cNvSpPr txBox="1"/>
          <p:nvPr/>
        </p:nvSpPr>
        <p:spPr>
          <a:xfrm>
            <a:off x="435088" y="955556"/>
            <a:ext cx="165565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dirty="0"/>
              <a:t>Schedule: Daily</a:t>
            </a:r>
            <a:endParaRPr lang="es-ES" sz="1400" dirty="0">
              <a:cs typeface="Arial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15F45300-4412-23D7-5A99-C2DE955F96F7}"/>
              </a:ext>
            </a:extLst>
          </p:cNvPr>
          <p:cNvCxnSpPr>
            <a:cxnSpLocks/>
          </p:cNvCxnSpPr>
          <p:nvPr/>
        </p:nvCxnSpPr>
        <p:spPr>
          <a:xfrm>
            <a:off x="1662404" y="1909622"/>
            <a:ext cx="475026" cy="53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Event - Free interface icons">
            <a:extLst>
              <a:ext uri="{FF2B5EF4-FFF2-40B4-BE49-F238E27FC236}">
                <a16:creationId xmlns:a16="http://schemas.microsoft.com/office/drawing/2014/main" id="{577F090B-00F7-D228-88E7-92ED083AA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539" y="1278721"/>
            <a:ext cx="535051" cy="53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79563C4-A633-12AB-4A7F-9CD96409C661}"/>
              </a:ext>
            </a:extLst>
          </p:cNvPr>
          <p:cNvSpPr txBox="1"/>
          <p:nvPr/>
        </p:nvSpPr>
        <p:spPr>
          <a:xfrm>
            <a:off x="2560562" y="955556"/>
            <a:ext cx="214014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 dirty="0"/>
              <a:t>Event: Data landing</a:t>
            </a:r>
            <a:endParaRPr lang="es-ES" sz="1400" dirty="0">
              <a:cs typeface="Arial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75F8AD8-8DB8-4B45-F661-7ABBAD30BB85}"/>
              </a:ext>
            </a:extLst>
          </p:cNvPr>
          <p:cNvCxnSpPr>
            <a:cxnSpLocks/>
          </p:cNvCxnSpPr>
          <p:nvPr/>
        </p:nvCxnSpPr>
        <p:spPr>
          <a:xfrm flipH="1">
            <a:off x="2560562" y="1868930"/>
            <a:ext cx="474244" cy="577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06FE73AE-53FB-7AFA-DFA8-6F6748D3D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858" y="2446252"/>
            <a:ext cx="2110283" cy="110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ED293F1-5FE0-0F1F-47DD-89A01336B165}"/>
              </a:ext>
            </a:extLst>
          </p:cNvPr>
          <p:cNvCxnSpPr>
            <a:cxnSpLocks/>
          </p:cNvCxnSpPr>
          <p:nvPr/>
        </p:nvCxnSpPr>
        <p:spPr>
          <a:xfrm>
            <a:off x="4020234" y="3014300"/>
            <a:ext cx="79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B78EB24-AB9F-59FA-27A6-4F072FEB3164}"/>
              </a:ext>
            </a:extLst>
          </p:cNvPr>
          <p:cNvSpPr txBox="1"/>
          <p:nvPr/>
        </p:nvSpPr>
        <p:spPr>
          <a:xfrm>
            <a:off x="4675351" y="3604744"/>
            <a:ext cx="4030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(Transformación y </a:t>
            </a:r>
          </a:p>
          <a:p>
            <a:r>
              <a:rPr lang="es-ES" sz="1400" dirty="0"/>
              <a:t>validación de datos)</a:t>
            </a:r>
          </a:p>
        </p:txBody>
      </p:sp>
      <p:pic>
        <p:nvPicPr>
          <p:cNvPr id="28" name="Gráfico 27" descr="Insignia 1 con relleno sólido">
            <a:extLst>
              <a:ext uri="{FF2B5EF4-FFF2-40B4-BE49-F238E27FC236}">
                <a16:creationId xmlns:a16="http://schemas.microsoft.com/office/drawing/2014/main" id="{3659DD94-EB48-17C8-2DC6-85EDE8E2C5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022" y="1475187"/>
            <a:ext cx="353375" cy="353375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5C2DF7B2-EA67-9AAC-5357-70AE8E4474A1}"/>
              </a:ext>
            </a:extLst>
          </p:cNvPr>
          <p:cNvSpPr txBox="1"/>
          <p:nvPr/>
        </p:nvSpPr>
        <p:spPr>
          <a:xfrm>
            <a:off x="635226" y="1451819"/>
            <a:ext cx="65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</a:t>
            </a:r>
          </a:p>
        </p:txBody>
      </p:sp>
      <p:pic>
        <p:nvPicPr>
          <p:cNvPr id="34" name="Gráfico 33" descr="Insignia 1 con relleno sólido">
            <a:extLst>
              <a:ext uri="{FF2B5EF4-FFF2-40B4-BE49-F238E27FC236}">
                <a16:creationId xmlns:a16="http://schemas.microsoft.com/office/drawing/2014/main" id="{2B5F40F7-A0A5-A100-580E-43CB237978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1030" y="1491409"/>
            <a:ext cx="353375" cy="353375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1C1E724E-3102-3169-D9BF-4A51CEAC3D70}"/>
              </a:ext>
            </a:extLst>
          </p:cNvPr>
          <p:cNvSpPr txBox="1"/>
          <p:nvPr/>
        </p:nvSpPr>
        <p:spPr>
          <a:xfrm>
            <a:off x="4020234" y="1468041"/>
            <a:ext cx="65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B</a:t>
            </a:r>
          </a:p>
        </p:txBody>
      </p:sp>
      <p:pic>
        <p:nvPicPr>
          <p:cNvPr id="43" name="Gráfico 42" descr="Insignia con relleno sólido">
            <a:extLst>
              <a:ext uri="{FF2B5EF4-FFF2-40B4-BE49-F238E27FC236}">
                <a16:creationId xmlns:a16="http://schemas.microsoft.com/office/drawing/2014/main" id="{47C25058-4D35-6FB7-0343-B12774C024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8204" y="2828269"/>
            <a:ext cx="352800" cy="352800"/>
          </a:xfrm>
          <a:prstGeom prst="rect">
            <a:avLst/>
          </a:prstGeom>
        </p:spPr>
      </p:pic>
      <p:pic>
        <p:nvPicPr>
          <p:cNvPr id="1032" name="Picture 8" descr="Azure Cosmos DB Driver Comparison">
            <a:extLst>
              <a:ext uri="{FF2B5EF4-FFF2-40B4-BE49-F238E27FC236}">
                <a16:creationId xmlns:a16="http://schemas.microsoft.com/office/drawing/2014/main" id="{F52A143D-910B-736C-213E-FD27969D1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05" y="5090756"/>
            <a:ext cx="879347" cy="79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vo APIs | API Tracker">
            <a:extLst>
              <a:ext uri="{FF2B5EF4-FFF2-40B4-BE49-F238E27FC236}">
                <a16:creationId xmlns:a16="http://schemas.microsoft.com/office/drawing/2014/main" id="{73877681-DB21-F5CB-6382-51A135D57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739" y="4707141"/>
            <a:ext cx="1048520" cy="104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5BDA186-0874-28F7-F176-047D5FEEAF02}"/>
              </a:ext>
            </a:extLst>
          </p:cNvPr>
          <p:cNvCxnSpPr>
            <a:cxnSpLocks/>
          </p:cNvCxnSpPr>
          <p:nvPr/>
        </p:nvCxnSpPr>
        <p:spPr>
          <a:xfrm>
            <a:off x="5212042" y="4131299"/>
            <a:ext cx="0" cy="31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70F38E-D8FF-C122-BE70-865E3C9F598E}"/>
              </a:ext>
            </a:extLst>
          </p:cNvPr>
          <p:cNvCxnSpPr/>
          <p:nvPr/>
        </p:nvCxnSpPr>
        <p:spPr>
          <a:xfrm flipV="1">
            <a:off x="5798372" y="4131299"/>
            <a:ext cx="0" cy="31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09905A6C-B6C9-8501-59C2-1F46F17293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4143" y="1130446"/>
            <a:ext cx="700489" cy="653265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D4EED93-4053-2BE6-19CD-E4795C827F9B}"/>
              </a:ext>
            </a:extLst>
          </p:cNvPr>
          <p:cNvCxnSpPr>
            <a:cxnSpLocks/>
          </p:cNvCxnSpPr>
          <p:nvPr/>
        </p:nvCxnSpPr>
        <p:spPr>
          <a:xfrm flipV="1">
            <a:off x="6560141" y="2025099"/>
            <a:ext cx="1022275" cy="67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6" name="Picture 12" descr="Red cross icon white x symbol in red circle error or cancel ...">
            <a:extLst>
              <a:ext uri="{FF2B5EF4-FFF2-40B4-BE49-F238E27FC236}">
                <a16:creationId xmlns:a16="http://schemas.microsoft.com/office/drawing/2014/main" id="{8C590BA4-3682-7094-2CC7-9020C04E8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740" y="1481267"/>
            <a:ext cx="856710" cy="85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uccess - Free icons">
            <a:extLst>
              <a:ext uri="{FF2B5EF4-FFF2-40B4-BE49-F238E27FC236}">
                <a16:creationId xmlns:a16="http://schemas.microsoft.com/office/drawing/2014/main" id="{98797ABB-3A8D-0A27-956A-8E1C64B3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778" y="4022286"/>
            <a:ext cx="602363" cy="6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áfico 12" descr="Insignia 3 con relleno sólido">
            <a:extLst>
              <a:ext uri="{FF2B5EF4-FFF2-40B4-BE49-F238E27FC236}">
                <a16:creationId xmlns:a16="http://schemas.microsoft.com/office/drawing/2014/main" id="{77051200-F194-8903-0FA2-DAE0582817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19426" y="2507604"/>
            <a:ext cx="352800" cy="352800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D0F464A-B47A-468C-6611-72A3FFD76A06}"/>
              </a:ext>
            </a:extLst>
          </p:cNvPr>
          <p:cNvCxnSpPr>
            <a:stCxn id="27" idx="0"/>
          </p:cNvCxnSpPr>
          <p:nvPr/>
        </p:nvCxnSpPr>
        <p:spPr>
          <a:xfrm>
            <a:off x="6690645" y="3604744"/>
            <a:ext cx="929095" cy="52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2" descr="Servicenow - CCMA">
            <a:extLst>
              <a:ext uri="{FF2B5EF4-FFF2-40B4-BE49-F238E27FC236}">
                <a16:creationId xmlns:a16="http://schemas.microsoft.com/office/drawing/2014/main" id="{316FAB89-E648-F0DA-E005-FEE7782AF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327" y="1596945"/>
            <a:ext cx="2209473" cy="63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A4F3B6F-05DD-2FD8-293C-B7ADD54E8DCC}"/>
              </a:ext>
            </a:extLst>
          </p:cNvPr>
          <p:cNvCxnSpPr>
            <a:stCxn id="1036" idx="3"/>
            <a:endCxn id="19" idx="1"/>
          </p:cNvCxnSpPr>
          <p:nvPr/>
        </p:nvCxnSpPr>
        <p:spPr>
          <a:xfrm>
            <a:off x="8476450" y="1909622"/>
            <a:ext cx="1035877" cy="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4" descr="DataHub: A generalized metadata search &amp; discovery tool">
            <a:extLst>
              <a:ext uri="{FF2B5EF4-FFF2-40B4-BE49-F238E27FC236}">
                <a16:creationId xmlns:a16="http://schemas.microsoft.com/office/drawing/2014/main" id="{C5E54B11-482D-ABDD-53E4-BDE8C09BD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694" y="5394731"/>
            <a:ext cx="870885" cy="79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2E8FB68-E123-F153-446C-4A1EB6016380}"/>
              </a:ext>
            </a:extLst>
          </p:cNvPr>
          <p:cNvCxnSpPr/>
          <p:nvPr/>
        </p:nvCxnSpPr>
        <p:spPr>
          <a:xfrm>
            <a:off x="8490858" y="4354286"/>
            <a:ext cx="1382485" cy="10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6F6D965-B1C2-893C-E978-D64B422E1342}"/>
              </a:ext>
            </a:extLst>
          </p:cNvPr>
          <p:cNvSpPr txBox="1"/>
          <p:nvPr/>
        </p:nvSpPr>
        <p:spPr>
          <a:xfrm>
            <a:off x="10071140" y="4139186"/>
            <a:ext cx="19377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dirty="0">
                <a:cs typeface="Arial"/>
              </a:rPr>
              <a:t>Continuar con procesos BAU TM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C3FECE-244A-20B7-88A9-3D8075C2A3A5}"/>
              </a:ext>
            </a:extLst>
          </p:cNvPr>
          <p:cNvSpPr txBox="1"/>
          <p:nvPr/>
        </p:nvSpPr>
        <p:spPr>
          <a:xfrm>
            <a:off x="5697747" y="1867268"/>
            <a:ext cx="19082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dirty="0">
                <a:cs typeface="Arial"/>
              </a:rPr>
              <a:t>Validaciones KO</a:t>
            </a:r>
            <a:endParaRPr lang="es-ES" sz="14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68BA68F-C00D-3D7D-3F5B-AECEDC729F8A}"/>
              </a:ext>
            </a:extLst>
          </p:cNvPr>
          <p:cNvSpPr txBox="1"/>
          <p:nvPr/>
        </p:nvSpPr>
        <p:spPr>
          <a:xfrm>
            <a:off x="7069347" y="3423925"/>
            <a:ext cx="19082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dirty="0">
                <a:cs typeface="Arial"/>
              </a:rPr>
              <a:t>Validaciones OK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52686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09D3-6F4B-D62E-DE66-623E52DA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FAE447C-E227-A2AE-B88A-61F00C2E3D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Mapa conceptual del proceso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349065A-93E1-58B2-DC85-E023101D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1026" name="Picture 2" descr="Beginner's guide to Azure Functions — Part 1 | by Nikhil Khandelwal |  ashsoftware | Medium">
            <a:extLst>
              <a:ext uri="{FF2B5EF4-FFF2-40B4-BE49-F238E27FC236}">
                <a16:creationId xmlns:a16="http://schemas.microsoft.com/office/drawing/2014/main" id="{028BF058-ED0F-CD05-9A1C-6D7BBDFF3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796" y="2400021"/>
            <a:ext cx="1810634" cy="8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Devo APIs | API Tracker">
            <a:extLst>
              <a:ext uri="{FF2B5EF4-FFF2-40B4-BE49-F238E27FC236}">
                <a16:creationId xmlns:a16="http://schemas.microsoft.com/office/drawing/2014/main" id="{BBEB9548-D70E-6D7A-7F87-DF21E7E76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864"/>
          <a:stretch>
            <a:fillRect/>
          </a:stretch>
        </p:blipFill>
        <p:spPr>
          <a:xfrm>
            <a:off x="4666541" y="298845"/>
            <a:ext cx="1272389" cy="1097383"/>
          </a:xfrm>
          <a:prstGeom prst="rect">
            <a:avLst/>
          </a:prstGeom>
        </p:spPr>
      </p:pic>
      <p:pic>
        <p:nvPicPr>
          <p:cNvPr id="29" name="Picture 28" descr="Azure Cosmos DB Driver Comparison">
            <a:extLst>
              <a:ext uri="{FF2B5EF4-FFF2-40B4-BE49-F238E27FC236}">
                <a16:creationId xmlns:a16="http://schemas.microsoft.com/office/drawing/2014/main" id="{C39E4BB8-8694-05E6-00C7-F582150EAD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55" t="-833" r="6726" b="3333"/>
          <a:stretch>
            <a:fillRect/>
          </a:stretch>
        </p:blipFill>
        <p:spPr>
          <a:xfrm>
            <a:off x="3387180" y="301707"/>
            <a:ext cx="1125352" cy="10891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0316F7-EAFD-B7F6-41F1-964D0ECCDDCB}"/>
              </a:ext>
            </a:extLst>
          </p:cNvPr>
          <p:cNvCxnSpPr/>
          <p:nvPr/>
        </p:nvCxnSpPr>
        <p:spPr>
          <a:xfrm flipV="1">
            <a:off x="4490280" y="1401416"/>
            <a:ext cx="19877" cy="797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9FFA1A-2F2C-2625-63DB-7DA288BBC4B4}"/>
              </a:ext>
            </a:extLst>
          </p:cNvPr>
          <p:cNvCxnSpPr>
            <a:cxnSpLocks/>
          </p:cNvCxnSpPr>
          <p:nvPr/>
        </p:nvCxnSpPr>
        <p:spPr>
          <a:xfrm flipH="1">
            <a:off x="4885634" y="1403627"/>
            <a:ext cx="2211" cy="803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743B031-11BF-CB9E-CB97-987613915B41}"/>
              </a:ext>
            </a:extLst>
          </p:cNvPr>
          <p:cNvSpPr txBox="1"/>
          <p:nvPr/>
        </p:nvSpPr>
        <p:spPr>
          <a:xfrm>
            <a:off x="4955895" y="1340719"/>
            <a:ext cx="348084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Consultas a BBDD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Interpretación de mensajes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Detección de eventos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ACD642-E50B-5662-BC97-640664AFADC1}"/>
              </a:ext>
            </a:extLst>
          </p:cNvPr>
          <p:cNvCxnSpPr>
            <a:cxnSpLocks/>
          </p:cNvCxnSpPr>
          <p:nvPr/>
        </p:nvCxnSpPr>
        <p:spPr>
          <a:xfrm flipH="1" flipV="1">
            <a:off x="2853637" y="1710630"/>
            <a:ext cx="874643" cy="620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logotipo de icono de mensaje, diseño vectorial 14321535 Vector en Vecteezy">
            <a:extLst>
              <a:ext uri="{FF2B5EF4-FFF2-40B4-BE49-F238E27FC236}">
                <a16:creationId xmlns:a16="http://schemas.microsoft.com/office/drawing/2014/main" id="{14A661C2-0201-BA9A-2730-D0429C2522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8" r="3060" b="11163"/>
          <a:stretch>
            <a:fillRect/>
          </a:stretch>
        </p:blipFill>
        <p:spPr>
          <a:xfrm>
            <a:off x="1885674" y="1039299"/>
            <a:ext cx="826304" cy="74949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C158AAB-7385-8331-4F5E-B32179D5A4A5}"/>
              </a:ext>
            </a:extLst>
          </p:cNvPr>
          <p:cNvSpPr txBox="1"/>
          <p:nvPr/>
        </p:nvSpPr>
        <p:spPr>
          <a:xfrm>
            <a:off x="1053822" y="2017699"/>
            <a:ext cx="232127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sz="1400" dirty="0">
                <a:cs typeface="Arial"/>
              </a:rPr>
              <a:t>Suscripción</a:t>
            </a:r>
            <a:r>
              <a:rPr lang="en-US" sz="1400" dirty="0">
                <a:cs typeface="Arial"/>
              </a:rPr>
              <a:t> a tópico/s de mensajería correspondiente/s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DABD73-79AA-E1EA-28D2-6BAB470C8401}"/>
              </a:ext>
            </a:extLst>
          </p:cNvPr>
          <p:cNvSpPr txBox="1"/>
          <p:nvPr/>
        </p:nvSpPr>
        <p:spPr>
          <a:xfrm>
            <a:off x="242232" y="3716845"/>
            <a:ext cx="1139254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400" b="1" i="1" dirty="0">
                <a:solidFill>
                  <a:schemeClr val="accent4"/>
                </a:solidFill>
                <a:cs typeface="Arial"/>
              </a:rPr>
              <a:t>Llegan nuevos ficheros a DH</a:t>
            </a:r>
            <a:r>
              <a:rPr lang="en-US" sz="1400" b="1" dirty="0">
                <a:cs typeface="Arial"/>
              </a:rPr>
              <a:t> </a:t>
            </a:r>
            <a:r>
              <a:rPr lang="en-US" sz="1400" dirty="0">
                <a:cs typeface="Arial"/>
              </a:rPr>
              <a:t>-&gt; Revisión Ingesta DH </a:t>
            </a:r>
            <a:r>
              <a:rPr lang="en-US" sz="1400" b="1" dirty="0">
                <a:cs typeface="Arial"/>
              </a:rPr>
              <a:t>(BAU-1)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Finaliza BAU-1</a:t>
            </a:r>
            <a:r>
              <a:rPr lang="en-US" sz="1400" dirty="0">
                <a:cs typeface="Arial"/>
              </a:rPr>
              <a:t> -&gt; Validación de volumetrías </a:t>
            </a:r>
            <a:r>
              <a:rPr lang="en-US" sz="1400" b="1" dirty="0">
                <a:cs typeface="Arial"/>
              </a:rPr>
              <a:t>(BAU-2)</a:t>
            </a:r>
            <a:r>
              <a:rPr lang="en-US" sz="1400" dirty="0">
                <a:cs typeface="Arial"/>
              </a:rPr>
              <a:t>, Validación de alertas ING </a:t>
            </a:r>
            <a:r>
              <a:rPr lang="en-US" sz="1400" b="1" dirty="0">
                <a:cs typeface="Arial"/>
              </a:rPr>
              <a:t>(BAU-3)</a:t>
            </a:r>
            <a:r>
              <a:rPr lang="en-US" sz="1400" dirty="0">
                <a:cs typeface="Arial"/>
              </a:rPr>
              <a:t>, Validación de Integridad Referencial </a:t>
            </a:r>
            <a:r>
              <a:rPr lang="en-US" sz="1400" b="1" dirty="0">
                <a:cs typeface="Arial"/>
              </a:rPr>
              <a:t>(BAU-4)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Llegan nuevos ficheros a DH por parte del país</a:t>
            </a:r>
            <a:r>
              <a:rPr lang="en-US" sz="1400" dirty="0">
                <a:cs typeface="Arial"/>
              </a:rPr>
              <a:t> -&gt; Validación de que los ficheros de proactivos se han recibido correctamente a SARM y comprobación de volumetrías </a:t>
            </a:r>
            <a:r>
              <a:rPr lang="en-US" sz="1400" b="1" dirty="0">
                <a:cs typeface="Arial"/>
              </a:rPr>
              <a:t>(BAU-18)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Hora indicada</a:t>
            </a:r>
            <a:r>
              <a:rPr lang="en-US" sz="1400" dirty="0">
                <a:cs typeface="Arial"/>
              </a:rPr>
              <a:t> -&gt; Validación de que los ficheros reactivos han llegado correctamente a SARM y comprobación de volumetrías </a:t>
            </a:r>
            <a:r>
              <a:rPr lang="en-US" sz="1400" b="1" dirty="0">
                <a:cs typeface="Arial"/>
              </a:rPr>
              <a:t>(BAU-19)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Llegan nuevos ficheros a TM</a:t>
            </a:r>
            <a:r>
              <a:rPr lang="en-US" sz="1400" dirty="0">
                <a:cs typeface="Arial"/>
              </a:rPr>
              <a:t> -&gt; Validación de que se han recibido todos los consumos obligatorios en TM y comprobación de volumetrías </a:t>
            </a:r>
            <a:r>
              <a:rPr lang="en-US" sz="1400" b="1" dirty="0">
                <a:cs typeface="Arial"/>
              </a:rPr>
              <a:t>(BAU-8)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Se realiza el cuadre DH-TM</a:t>
            </a:r>
            <a:r>
              <a:rPr lang="en-US" sz="1400" dirty="0">
                <a:cs typeface="Arial"/>
              </a:rPr>
              <a:t> -&gt; Reporte a TM con los resultados de los cuadres y los errores de parametría </a:t>
            </a:r>
            <a:r>
              <a:rPr lang="en-US" sz="1400" b="1" dirty="0">
                <a:cs typeface="Arial"/>
              </a:rPr>
              <a:t>(BAU-12)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Se reciben transacciones en el periodo a revisar</a:t>
            </a:r>
            <a:r>
              <a:rPr lang="en-US" sz="1400" dirty="0">
                <a:cs typeface="Arial"/>
              </a:rPr>
              <a:t> -&gt; Conteo de transacciones por tipo de transacción </a:t>
            </a:r>
            <a:r>
              <a:rPr lang="en-US" sz="1400" b="1" dirty="0">
                <a:cs typeface="Arial"/>
              </a:rPr>
              <a:t>(BAU-20)</a:t>
            </a:r>
          </a:p>
          <a:p>
            <a:pPr marL="285750" indent="-285750">
              <a:buFont typeface="Calibri"/>
              <a:buChar char="-"/>
            </a:pPr>
            <a:r>
              <a:rPr lang="en-US" sz="1400" b="1" dirty="0">
                <a:solidFill>
                  <a:schemeClr val="accent4"/>
                </a:solidFill>
                <a:cs typeface="Arial"/>
              </a:rPr>
              <a:t>Evento X</a:t>
            </a:r>
            <a:r>
              <a:rPr lang="en-US" sz="1400" dirty="0">
                <a:cs typeface="Arial"/>
              </a:rPr>
              <a:t> -&gt; Reporte de cuadre de volumetrías </a:t>
            </a:r>
            <a:r>
              <a:rPr lang="en-US" sz="1400" b="1" dirty="0">
                <a:cs typeface="Arial"/>
              </a:rPr>
              <a:t>(BAU-10B)</a:t>
            </a:r>
            <a:r>
              <a:rPr lang="en-US" sz="1400" dirty="0">
                <a:cs typeface="Arial"/>
              </a:rPr>
              <a:t>, </a:t>
            </a:r>
            <a:r>
              <a:rPr lang="en-US" sz="1400" b="1" dirty="0">
                <a:solidFill>
                  <a:schemeClr val="accent4"/>
                </a:solidFill>
                <a:cs typeface="Arial"/>
              </a:rPr>
              <a:t>Evento Y</a:t>
            </a:r>
            <a:r>
              <a:rPr lang="en-US" sz="1400" dirty="0">
                <a:cs typeface="Arial"/>
              </a:rPr>
              <a:t> -&gt; Alertas Motor Warning </a:t>
            </a:r>
            <a:r>
              <a:rPr lang="en-US" sz="1400" b="1" dirty="0">
                <a:cs typeface="Arial"/>
              </a:rPr>
              <a:t>(BAU-5)</a:t>
            </a:r>
            <a:r>
              <a:rPr lang="en-US" sz="1400" dirty="0">
                <a:cs typeface="Arial"/>
              </a:rPr>
              <a:t>, </a:t>
            </a:r>
            <a:r>
              <a:rPr lang="en-US" sz="1400" b="1" dirty="0">
                <a:solidFill>
                  <a:schemeClr val="accent4"/>
                </a:solidFill>
                <a:cs typeface="Arial"/>
              </a:rPr>
              <a:t>Evento Z</a:t>
            </a:r>
            <a:r>
              <a:rPr lang="en-US" sz="1400" dirty="0">
                <a:cs typeface="Arial"/>
              </a:rPr>
              <a:t> -&gt; Alertas Motor KO </a:t>
            </a:r>
            <a:r>
              <a:rPr lang="en-US" sz="1400" b="1" dirty="0">
                <a:cs typeface="Arial"/>
              </a:rPr>
              <a:t>(BAU-6)</a:t>
            </a:r>
            <a:r>
              <a:rPr lang="en-US" sz="1400" dirty="0">
                <a:cs typeface="Arial"/>
              </a:rPr>
              <a:t>, </a:t>
            </a:r>
            <a:r>
              <a:rPr lang="en-US" sz="1400" b="1" dirty="0">
                <a:solidFill>
                  <a:schemeClr val="accent4"/>
                </a:solidFill>
                <a:cs typeface="Arial"/>
              </a:rPr>
              <a:t>Evento W</a:t>
            </a:r>
            <a:r>
              <a:rPr lang="en-US" sz="1400" dirty="0">
                <a:cs typeface="Arial"/>
              </a:rPr>
              <a:t> -&gt; Fallos Alertas Motor </a:t>
            </a:r>
            <a:r>
              <a:rPr lang="en-US" sz="1400" b="1" dirty="0">
                <a:cs typeface="Arial"/>
              </a:rPr>
              <a:t>(BAU-7)</a:t>
            </a:r>
          </a:p>
          <a:p>
            <a:pPr marL="285750" indent="-285750">
              <a:buFont typeface="Calibri"/>
              <a:buChar char="-"/>
            </a:pPr>
            <a:endParaRPr lang="en-US" sz="1400" dirty="0">
              <a:cs typeface="Arial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9A5DD2-A981-052E-6D0F-E7FC9BEC1F90}"/>
              </a:ext>
            </a:extLst>
          </p:cNvPr>
          <p:cNvCxnSpPr>
            <a:cxnSpLocks/>
          </p:cNvCxnSpPr>
          <p:nvPr/>
        </p:nvCxnSpPr>
        <p:spPr>
          <a:xfrm flipH="1">
            <a:off x="4707726" y="2962748"/>
            <a:ext cx="287563" cy="678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Picture 6" descr="Success - Free icons">
            <a:extLst>
              <a:ext uri="{FF2B5EF4-FFF2-40B4-BE49-F238E27FC236}">
                <a16:creationId xmlns:a16="http://schemas.microsoft.com/office/drawing/2014/main" id="{DF90D971-1887-8607-A7ED-60CE71745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380" y="1561851"/>
            <a:ext cx="602363" cy="6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ector recto de flecha 16">
            <a:extLst>
              <a:ext uri="{FF2B5EF4-FFF2-40B4-BE49-F238E27FC236}">
                <a16:creationId xmlns:a16="http://schemas.microsoft.com/office/drawing/2014/main" id="{978B0D60-7B93-EC27-B0A4-7206F68B939D}"/>
              </a:ext>
            </a:extLst>
          </p:cNvPr>
          <p:cNvCxnSpPr/>
          <p:nvPr/>
        </p:nvCxnSpPr>
        <p:spPr>
          <a:xfrm flipV="1">
            <a:off x="5772572" y="1961315"/>
            <a:ext cx="2948854" cy="76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22">
            <a:extLst>
              <a:ext uri="{FF2B5EF4-FFF2-40B4-BE49-F238E27FC236}">
                <a16:creationId xmlns:a16="http://schemas.microsoft.com/office/drawing/2014/main" id="{3ECD5E14-0D1B-EADB-0720-CC48A0600D1B}"/>
              </a:ext>
            </a:extLst>
          </p:cNvPr>
          <p:cNvCxnSpPr>
            <a:cxnSpLocks/>
          </p:cNvCxnSpPr>
          <p:nvPr/>
        </p:nvCxnSpPr>
        <p:spPr>
          <a:xfrm>
            <a:off x="5770599" y="2811723"/>
            <a:ext cx="2518732" cy="406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6" name="Picture 12" descr="Red cross icon white x symbol in red circle error or cancel ...">
            <a:extLst>
              <a:ext uri="{FF2B5EF4-FFF2-40B4-BE49-F238E27FC236}">
                <a16:creationId xmlns:a16="http://schemas.microsoft.com/office/drawing/2014/main" id="{9A9A3639-EBB2-CFCB-8363-8FE993400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4" r="3191" b="4462"/>
          <a:stretch>
            <a:fillRect/>
          </a:stretch>
        </p:blipFill>
        <p:spPr bwMode="auto">
          <a:xfrm>
            <a:off x="8299114" y="2838019"/>
            <a:ext cx="829369" cy="82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Conector recto de flecha 10">
            <a:extLst>
              <a:ext uri="{FF2B5EF4-FFF2-40B4-BE49-F238E27FC236}">
                <a16:creationId xmlns:a16="http://schemas.microsoft.com/office/drawing/2014/main" id="{D82F1C57-84CB-31EF-641C-D54118B6F0C5}"/>
              </a:ext>
            </a:extLst>
          </p:cNvPr>
          <p:cNvCxnSpPr/>
          <p:nvPr/>
        </p:nvCxnSpPr>
        <p:spPr>
          <a:xfrm>
            <a:off x="9555822" y="1847948"/>
            <a:ext cx="941811" cy="10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CuadroTexto 15">
            <a:extLst>
              <a:ext uri="{FF2B5EF4-FFF2-40B4-BE49-F238E27FC236}">
                <a16:creationId xmlns:a16="http://schemas.microsoft.com/office/drawing/2014/main" id="{45EA32F8-A812-61AD-61E8-BE4C21F139E8}"/>
              </a:ext>
            </a:extLst>
          </p:cNvPr>
          <p:cNvSpPr txBox="1"/>
          <p:nvPr/>
        </p:nvSpPr>
        <p:spPr>
          <a:xfrm>
            <a:off x="10511815" y="1642029"/>
            <a:ext cx="19377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dirty="0">
                <a:cs typeface="Arial"/>
              </a:rPr>
              <a:t>Continuar con procesos BAU</a:t>
            </a:r>
          </a:p>
        </p:txBody>
      </p:sp>
      <p:pic>
        <p:nvPicPr>
          <p:cNvPr id="62" name="Imagen 17">
            <a:extLst>
              <a:ext uri="{FF2B5EF4-FFF2-40B4-BE49-F238E27FC236}">
                <a16:creationId xmlns:a16="http://schemas.microsoft.com/office/drawing/2014/main" id="{CB0175FD-EC28-32FB-CED1-1C533888F3B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19" t="-1890" r="1562" b="3562"/>
          <a:stretch>
            <a:fillRect/>
          </a:stretch>
        </p:blipFill>
        <p:spPr>
          <a:xfrm>
            <a:off x="9686607" y="2211435"/>
            <a:ext cx="685207" cy="642341"/>
          </a:xfrm>
          <a:prstGeom prst="rect">
            <a:avLst/>
          </a:prstGeom>
        </p:spPr>
      </p:pic>
      <p:pic>
        <p:nvPicPr>
          <p:cNvPr id="63" name="Picture 62" descr="Imágenes de Logo correo - Descarga gratuita en Freepik">
            <a:extLst>
              <a:ext uri="{FF2B5EF4-FFF2-40B4-BE49-F238E27FC236}">
                <a16:creationId xmlns:a16="http://schemas.microsoft.com/office/drawing/2014/main" id="{B13AC16B-C9EC-FAE3-ED09-DFB7301DA53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305" r="1031" b="-1386"/>
          <a:stretch>
            <a:fillRect/>
          </a:stretch>
        </p:blipFill>
        <p:spPr>
          <a:xfrm>
            <a:off x="9903793" y="2938422"/>
            <a:ext cx="843793" cy="713863"/>
          </a:xfrm>
          <a:prstGeom prst="rect">
            <a:avLst/>
          </a:prstGeom>
        </p:spPr>
      </p:pic>
      <p:cxnSp>
        <p:nvCxnSpPr>
          <p:cNvPr id="1024" name="Conector recto de flecha 10">
            <a:extLst>
              <a:ext uri="{FF2B5EF4-FFF2-40B4-BE49-F238E27FC236}">
                <a16:creationId xmlns:a16="http://schemas.microsoft.com/office/drawing/2014/main" id="{9EF2999C-E6A4-D3C2-6E88-60C15E3B1E18}"/>
              </a:ext>
            </a:extLst>
          </p:cNvPr>
          <p:cNvCxnSpPr>
            <a:cxnSpLocks/>
          </p:cNvCxnSpPr>
          <p:nvPr/>
        </p:nvCxnSpPr>
        <p:spPr>
          <a:xfrm flipV="1">
            <a:off x="9158256" y="2653965"/>
            <a:ext cx="643638" cy="375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Conector recto de flecha 10">
            <a:extLst>
              <a:ext uri="{FF2B5EF4-FFF2-40B4-BE49-F238E27FC236}">
                <a16:creationId xmlns:a16="http://schemas.microsoft.com/office/drawing/2014/main" id="{FD011AF0-D6C7-991E-D5AA-30598B9D26BB}"/>
              </a:ext>
            </a:extLst>
          </p:cNvPr>
          <p:cNvCxnSpPr>
            <a:cxnSpLocks/>
          </p:cNvCxnSpPr>
          <p:nvPr/>
        </p:nvCxnSpPr>
        <p:spPr>
          <a:xfrm>
            <a:off x="9202431" y="3305687"/>
            <a:ext cx="687809" cy="3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4F277C0-7728-827E-1F41-7CBFB5B8D6EB}"/>
              </a:ext>
            </a:extLst>
          </p:cNvPr>
          <p:cNvSpPr txBox="1"/>
          <p:nvPr/>
        </p:nvSpPr>
        <p:spPr>
          <a:xfrm>
            <a:off x="563104" y="2900989"/>
            <a:ext cx="27326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  <a:cs typeface="Arial"/>
              </a:rPr>
              <a:t>Evento</a:t>
            </a:r>
            <a:r>
              <a:rPr lang="en-US" dirty="0">
                <a:cs typeface="Arial"/>
              </a:rPr>
              <a:t> </a:t>
            </a:r>
            <a:r>
              <a:rPr lang="en-US" sz="1400" dirty="0">
                <a:cs typeface="Arial"/>
              </a:rPr>
              <a:t>-&gt; Función </a:t>
            </a:r>
            <a:r>
              <a:rPr lang="en-US" sz="1400" b="1" dirty="0">
                <a:cs typeface="Arial"/>
              </a:rPr>
              <a:t>(ID Tarea)</a:t>
            </a:r>
            <a:endParaRPr lang="en-US" sz="1400" b="1" dirty="0"/>
          </a:p>
        </p:txBody>
      </p:sp>
      <p:cxnSp>
        <p:nvCxnSpPr>
          <p:cNvPr id="1029" name="Conector recto de flecha 10">
            <a:extLst>
              <a:ext uri="{FF2B5EF4-FFF2-40B4-BE49-F238E27FC236}">
                <a16:creationId xmlns:a16="http://schemas.microsoft.com/office/drawing/2014/main" id="{ADFD3941-C455-88D8-2AE9-2BDDB4A91E57}"/>
              </a:ext>
            </a:extLst>
          </p:cNvPr>
          <p:cNvCxnSpPr>
            <a:cxnSpLocks/>
          </p:cNvCxnSpPr>
          <p:nvPr/>
        </p:nvCxnSpPr>
        <p:spPr>
          <a:xfrm>
            <a:off x="1394692" y="3250470"/>
            <a:ext cx="3114" cy="41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72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359D-009A-1090-495A-4D735464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87765-5F2B-9A10-CDD1-51C3284B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Identificación de componentes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809CA3-22D4-C004-E6A7-DEC3F967E7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367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D82437-3657-23A2-65AF-3AA1D6AAFE0F}"/>
              </a:ext>
            </a:extLst>
          </p:cNvPr>
          <p:cNvSpPr/>
          <p:nvPr/>
        </p:nvSpPr>
        <p:spPr>
          <a:xfrm>
            <a:off x="473336" y="1186913"/>
            <a:ext cx="11295530" cy="5020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Identificación de Componentes</a:t>
            </a:r>
          </a:p>
        </p:txBody>
      </p:sp>
      <p:pic>
        <p:nvPicPr>
          <p:cNvPr id="2" name="Picture 2" descr="Beginner's guide to Azure Functions — Part 1 | by Nikhil Khandelwal |  ashsoftware | Medium">
            <a:extLst>
              <a:ext uri="{FF2B5EF4-FFF2-40B4-BE49-F238E27FC236}">
                <a16:creationId xmlns:a16="http://schemas.microsoft.com/office/drawing/2014/main" id="{1065D8E2-6105-5092-A663-13C6201F2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23" y="5113417"/>
            <a:ext cx="1698689" cy="72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0A7CCF4-DA7F-58FB-2956-6835AE13B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71" y="2734005"/>
            <a:ext cx="1423572" cy="74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ataHub: A generalized metadata search &amp; discovery tool">
            <a:extLst>
              <a:ext uri="{FF2B5EF4-FFF2-40B4-BE49-F238E27FC236}">
                <a16:creationId xmlns:a16="http://schemas.microsoft.com/office/drawing/2014/main" id="{AA1E354C-DC4A-9B76-4F5B-A02CFEDF9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60" y="1511727"/>
            <a:ext cx="988471" cy="89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70ED2AC-43D0-99EF-7DE1-2891CC40FE5F}"/>
              </a:ext>
            </a:extLst>
          </p:cNvPr>
          <p:cNvSpPr txBox="1"/>
          <p:nvPr/>
        </p:nvSpPr>
        <p:spPr>
          <a:xfrm>
            <a:off x="4637055" y="729741"/>
            <a:ext cx="785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APM: SDH - ONEFCC</a:t>
            </a:r>
          </a:p>
        </p:txBody>
      </p:sp>
      <p:pic>
        <p:nvPicPr>
          <p:cNvPr id="8" name="Picture 8" descr="Azure Cosmos DB Driver Comparison">
            <a:extLst>
              <a:ext uri="{FF2B5EF4-FFF2-40B4-BE49-F238E27FC236}">
                <a16:creationId xmlns:a16="http://schemas.microsoft.com/office/drawing/2014/main" id="{D27AAAF2-E91F-EAF6-FD12-851553266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84" y="3883441"/>
            <a:ext cx="879347" cy="79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evo APIs | API Tracker">
            <a:extLst>
              <a:ext uri="{FF2B5EF4-FFF2-40B4-BE49-F238E27FC236}">
                <a16:creationId xmlns:a16="http://schemas.microsoft.com/office/drawing/2014/main" id="{2D03FC1B-DA4F-7B2F-E955-F09C4E59A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735" y="2451017"/>
            <a:ext cx="1312271" cy="131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ervicenow - CCMA">
            <a:extLst>
              <a:ext uri="{FF2B5EF4-FFF2-40B4-BE49-F238E27FC236}">
                <a16:creationId xmlns:a16="http://schemas.microsoft.com/office/drawing/2014/main" id="{FBD1117B-52E3-DAD7-DF0C-7B36F553C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735" y="1643135"/>
            <a:ext cx="2209473" cy="63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033CE8E-9001-E774-A62B-CE15359452C1}"/>
              </a:ext>
            </a:extLst>
          </p:cNvPr>
          <p:cNvCxnSpPr/>
          <p:nvPr/>
        </p:nvCxnSpPr>
        <p:spPr>
          <a:xfrm>
            <a:off x="1839558" y="2029763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9C7E075-2EB3-D22A-8DD1-BA6A985D563C}"/>
              </a:ext>
            </a:extLst>
          </p:cNvPr>
          <p:cNvCxnSpPr/>
          <p:nvPr/>
        </p:nvCxnSpPr>
        <p:spPr>
          <a:xfrm>
            <a:off x="1917043" y="3107153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32B73D2-D1A6-6F21-F05D-24C208E81C47}"/>
              </a:ext>
            </a:extLst>
          </p:cNvPr>
          <p:cNvCxnSpPr/>
          <p:nvPr/>
        </p:nvCxnSpPr>
        <p:spPr>
          <a:xfrm>
            <a:off x="1773607" y="4172327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C18D56A-1980-7327-DCE7-C0716F471E11}"/>
              </a:ext>
            </a:extLst>
          </p:cNvPr>
          <p:cNvCxnSpPr/>
          <p:nvPr/>
        </p:nvCxnSpPr>
        <p:spPr>
          <a:xfrm>
            <a:off x="2487197" y="5485847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F0ACF7-2D11-6CCD-1C81-265A54BF7A48}"/>
              </a:ext>
            </a:extLst>
          </p:cNvPr>
          <p:cNvSpPr txBox="1"/>
          <p:nvPr/>
        </p:nvSpPr>
        <p:spPr>
          <a:xfrm>
            <a:off x="2592593" y="1775012"/>
            <a:ext cx="2209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Origen de datos de negocio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CD2798-D11A-6408-78BB-4EFC157C3701}"/>
              </a:ext>
            </a:extLst>
          </p:cNvPr>
          <p:cNvSpPr txBox="1"/>
          <p:nvPr/>
        </p:nvSpPr>
        <p:spPr>
          <a:xfrm>
            <a:off x="2592593" y="2838676"/>
            <a:ext cx="2209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Motor de ejecución y validación de datos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61A0DDE-3331-BC08-8B18-8EE94253E4A7}"/>
              </a:ext>
            </a:extLst>
          </p:cNvPr>
          <p:cNvSpPr txBox="1"/>
          <p:nvPr/>
        </p:nvSpPr>
        <p:spPr>
          <a:xfrm>
            <a:off x="2600049" y="3902340"/>
            <a:ext cx="2209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BBDD que almacena las métricas de validación y estado operativo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4FD55C2-BB35-208F-35F3-5F3DC4843C18}"/>
              </a:ext>
            </a:extLst>
          </p:cNvPr>
          <p:cNvSpPr txBox="1"/>
          <p:nvPr/>
        </p:nvSpPr>
        <p:spPr>
          <a:xfrm>
            <a:off x="3134836" y="5196278"/>
            <a:ext cx="2209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Trigger del proceso, arranca los Jobs de Databricks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29E5EBF-B1D4-3D52-F4BB-992BBCB1DAE9}"/>
              </a:ext>
            </a:extLst>
          </p:cNvPr>
          <p:cNvSpPr txBox="1"/>
          <p:nvPr/>
        </p:nvSpPr>
        <p:spPr>
          <a:xfrm>
            <a:off x="8864300" y="1706597"/>
            <a:ext cx="2209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Gestión de incidencias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E4318B6-99CB-93AF-77BA-037A672BE6D7}"/>
              </a:ext>
            </a:extLst>
          </p:cNvPr>
          <p:cNvSpPr txBox="1"/>
          <p:nvPr/>
        </p:nvSpPr>
        <p:spPr>
          <a:xfrm>
            <a:off x="7973596" y="2806725"/>
            <a:ext cx="2209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Escaparate de resultados obtenidos de CosmosDB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4FAB1B5-AE5C-D72E-109D-3FB59A3B05F0}"/>
              </a:ext>
            </a:extLst>
          </p:cNvPr>
          <p:cNvCxnSpPr/>
          <p:nvPr/>
        </p:nvCxnSpPr>
        <p:spPr>
          <a:xfrm>
            <a:off x="8169208" y="2029763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3F13982-90A0-A476-F1E7-71FFECD682B6}"/>
              </a:ext>
            </a:extLst>
          </p:cNvPr>
          <p:cNvCxnSpPr/>
          <p:nvPr/>
        </p:nvCxnSpPr>
        <p:spPr>
          <a:xfrm>
            <a:off x="7272006" y="3105513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Imagen 33">
            <a:extLst>
              <a:ext uri="{FF2B5EF4-FFF2-40B4-BE49-F238E27FC236}">
                <a16:creationId xmlns:a16="http://schemas.microsoft.com/office/drawing/2014/main" id="{C21369CF-17E7-8BD0-FEA5-DB9F04C99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9735" y="3910242"/>
            <a:ext cx="1521753" cy="698216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0D95B34F-04DF-4603-E50F-8E37D2559ECA}"/>
              </a:ext>
            </a:extLst>
          </p:cNvPr>
          <p:cNvSpPr txBox="1"/>
          <p:nvPr/>
        </p:nvSpPr>
        <p:spPr>
          <a:xfrm>
            <a:off x="8208920" y="3999184"/>
            <a:ext cx="2209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Sistema de control de versiones del código para el desarrollo del software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7E911E9-DEF0-8814-EB99-604CBBAC43E0}"/>
              </a:ext>
            </a:extLst>
          </p:cNvPr>
          <p:cNvCxnSpPr/>
          <p:nvPr/>
        </p:nvCxnSpPr>
        <p:spPr>
          <a:xfrm>
            <a:off x="7507330" y="4297972"/>
            <a:ext cx="570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98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45FE-48F7-378B-D5C2-19704ED2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3AF44-AD5D-7962-6086-FC90BD3A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Equipos involucrados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A36A4D-3B62-6E6A-2122-5D65A5AD51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7537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C275-207C-BAA7-50BB-1250C17A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1FE15D5D-28AF-E75A-648D-90CA76FAFC7C}"/>
              </a:ext>
            </a:extLst>
          </p:cNvPr>
          <p:cNvSpPr/>
          <p:nvPr/>
        </p:nvSpPr>
        <p:spPr>
          <a:xfrm>
            <a:off x="6396317" y="828339"/>
            <a:ext cx="5493572" cy="26006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1B221B3-C60A-E621-2119-9893B380F9AA}"/>
              </a:ext>
            </a:extLst>
          </p:cNvPr>
          <p:cNvSpPr/>
          <p:nvPr/>
        </p:nvSpPr>
        <p:spPr>
          <a:xfrm>
            <a:off x="602428" y="828339"/>
            <a:ext cx="5493572" cy="26006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5815C46-1D16-9D6F-9CE8-04F17E9D18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Equipos involucrados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F212921-3F27-D128-FD48-7A46D149E655}"/>
              </a:ext>
            </a:extLst>
          </p:cNvPr>
          <p:cNvSpPr txBox="1"/>
          <p:nvPr/>
        </p:nvSpPr>
        <p:spPr>
          <a:xfrm>
            <a:off x="6805230" y="944536"/>
            <a:ext cx="60942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Equipos Directos con el Aplicativo:</a:t>
            </a:r>
            <a:br>
              <a:rPr lang="es-ES" b="1" dirty="0"/>
            </a:br>
            <a:endParaRPr lang="es-ES" b="1" dirty="0"/>
          </a:p>
          <a:p>
            <a:br>
              <a:rPr lang="es-ES" dirty="0"/>
            </a:br>
            <a:r>
              <a:rPr lang="es-ES" dirty="0"/>
              <a:t>  - Transaction Monitoring (TM)</a:t>
            </a:r>
            <a:br>
              <a:rPr lang="es-ES" dirty="0"/>
            </a:br>
            <a:r>
              <a:rPr lang="es-ES" dirty="0"/>
              <a:t>  - SAR Manager (SARM)</a:t>
            </a:r>
            <a:br>
              <a:rPr lang="es-ES" dirty="0"/>
            </a:br>
            <a:r>
              <a:rPr lang="es-ES" dirty="0"/>
              <a:t>  - Know Your Customer (KYC)</a:t>
            </a:r>
            <a:br>
              <a:rPr lang="es-ES" dirty="0"/>
            </a:br>
            <a:r>
              <a:rPr lang="es-ES" dirty="0"/>
              <a:t>  - Sanctions Screening (SC)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C641777-0AB3-11DE-6D40-46F4E05EF0D9}"/>
              </a:ext>
            </a:extLst>
          </p:cNvPr>
          <p:cNvSpPr txBox="1"/>
          <p:nvPr/>
        </p:nvSpPr>
        <p:spPr>
          <a:xfrm>
            <a:off x="711024" y="944536"/>
            <a:ext cx="6094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Equipos del DataHub o que interactúan con el DataHub:</a:t>
            </a:r>
            <a:br>
              <a:rPr lang="es-ES" b="1" dirty="0"/>
            </a:br>
            <a:endParaRPr lang="es-ES" b="1" dirty="0"/>
          </a:p>
          <a:p>
            <a:r>
              <a:rPr lang="es-ES" b="1" dirty="0"/>
              <a:t>       </a:t>
            </a:r>
            <a:r>
              <a:rPr lang="es-ES" dirty="0"/>
              <a:t>-</a:t>
            </a:r>
            <a:r>
              <a:rPr lang="es-ES" b="1" dirty="0"/>
              <a:t> </a:t>
            </a:r>
            <a:r>
              <a:rPr lang="es-ES" dirty="0"/>
              <a:t>Plataforma</a:t>
            </a:r>
            <a:br>
              <a:rPr lang="es-ES" dirty="0"/>
            </a:br>
            <a:r>
              <a:rPr lang="es-ES" dirty="0"/>
              <a:t>  - Core</a:t>
            </a:r>
            <a:br>
              <a:rPr lang="es-ES" dirty="0"/>
            </a:br>
            <a:r>
              <a:rPr lang="es-ES" dirty="0"/>
              <a:t>  - Componentes </a:t>
            </a:r>
            <a:br>
              <a:rPr lang="es-ES" dirty="0"/>
            </a:br>
            <a:r>
              <a:rPr lang="es-ES" dirty="0"/>
              <a:t>  - Modelo</a:t>
            </a:r>
            <a:br>
              <a:rPr lang="es-ES" dirty="0"/>
            </a:br>
            <a:r>
              <a:rPr lang="es-ES" dirty="0"/>
              <a:t>  - Capa de Integración</a:t>
            </a:r>
          </a:p>
        </p:txBody>
      </p:sp>
      <p:pic>
        <p:nvPicPr>
          <p:cNvPr id="27" name="Gráfico 26" descr="Usuarios con relleno sólido">
            <a:extLst>
              <a:ext uri="{FF2B5EF4-FFF2-40B4-BE49-F238E27FC236}">
                <a16:creationId xmlns:a16="http://schemas.microsoft.com/office/drawing/2014/main" id="{A5E6ED0F-276D-5BAC-B969-DAA09D518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1482" y="4671507"/>
            <a:ext cx="914400" cy="914400"/>
          </a:xfrm>
          <a:prstGeom prst="rect">
            <a:avLst/>
          </a:prstGeom>
        </p:spPr>
      </p:pic>
      <p:pic>
        <p:nvPicPr>
          <p:cNvPr id="29" name="Gráfico 28" descr="Usuarios con relleno sólido">
            <a:extLst>
              <a:ext uri="{FF2B5EF4-FFF2-40B4-BE49-F238E27FC236}">
                <a16:creationId xmlns:a16="http://schemas.microsoft.com/office/drawing/2014/main" id="{BEE3BCDB-B18C-6108-FF0B-41D194805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1482" y="4286921"/>
            <a:ext cx="914400" cy="9144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674DF717-6220-E442-3535-2078167774BD}"/>
              </a:ext>
            </a:extLst>
          </p:cNvPr>
          <p:cNvSpPr txBox="1"/>
          <p:nvPr/>
        </p:nvSpPr>
        <p:spPr>
          <a:xfrm>
            <a:off x="3840480" y="4572000"/>
            <a:ext cx="4883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Equipo de Automatización de actividades BAU OneFCC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BB78676-CF3C-FCA3-D439-1C181B55E25D}"/>
              </a:ext>
            </a:extLst>
          </p:cNvPr>
          <p:cNvCxnSpPr>
            <a:stCxn id="31" idx="0"/>
            <a:endCxn id="22" idx="2"/>
          </p:cNvCxnSpPr>
          <p:nvPr/>
        </p:nvCxnSpPr>
        <p:spPr>
          <a:xfrm flipH="1" flipV="1">
            <a:off x="3349214" y="3429000"/>
            <a:ext cx="2933252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34D6783-6DD2-84BD-2D56-DADD7CDCBF80}"/>
              </a:ext>
            </a:extLst>
          </p:cNvPr>
          <p:cNvCxnSpPr>
            <a:stCxn id="31" idx="0"/>
            <a:endCxn id="24" idx="2"/>
          </p:cNvCxnSpPr>
          <p:nvPr/>
        </p:nvCxnSpPr>
        <p:spPr>
          <a:xfrm flipV="1">
            <a:off x="6282466" y="3429000"/>
            <a:ext cx="2860637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90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ownload Icon free silhouette transparent png">
            <a:extLst>
              <a:ext uri="{FF2B5EF4-FFF2-40B4-BE49-F238E27FC236}">
                <a16:creationId xmlns:a16="http://schemas.microsoft.com/office/drawing/2014/main" id="{BB38448A-9EE0-1F56-4FD2-A33302475A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Panorámica</PresentationFormat>
  <Paragraphs>54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Automatización de actividades BAU – Visión general</vt:lpstr>
      <vt:lpstr>Presentación de PowerPoint</vt:lpstr>
      <vt:lpstr>Mapa conceptual del proceso</vt:lpstr>
      <vt:lpstr>Presentación de PowerPoint</vt:lpstr>
      <vt:lpstr>Presentación de PowerPoint</vt:lpstr>
      <vt:lpstr>Identificación de componentes</vt:lpstr>
      <vt:lpstr>Presentación de PowerPoint</vt:lpstr>
      <vt:lpstr>Equipos involucrados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Malo Delgado Aitor</cp:lastModifiedBy>
  <cp:revision>755</cp:revision>
  <dcterms:created xsi:type="dcterms:W3CDTF">2018-03-19T11:10:43Z</dcterms:created>
  <dcterms:modified xsi:type="dcterms:W3CDTF">2026-01-14T00:39:17Z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2025-12-18T09:53:01Z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56d9646c-e1bf-40ef-bd19-439c6f81e10a</vt:lpwstr>
  </property>
  <property fmtid="{D5CDD505-2E9C-101B-9397-08002B2CF9AE}" pid="8" name="MSIP_Label_0c2abd79-57a9-4473-8700-c843f76a1e37_ContentBits">
    <vt:lpwstr>0</vt:lpwstr>
  </property>
  <property fmtid="{D5CDD505-2E9C-101B-9397-08002B2CF9AE}" pid="9" name="MSIP_Label_0c2abd79-57a9-4473-8700-c843f76a1e37_Tag">
    <vt:lpwstr>10, 0, 1, 1</vt:lpwstr>
  </property>
</Properties>
</file>