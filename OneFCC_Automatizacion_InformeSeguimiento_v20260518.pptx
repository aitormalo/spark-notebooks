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1"/>
  </p:notesMasterIdLst>
  <p:sldIdLst>
    <p:sldId id="2146847227" r:id="rId5"/>
    <p:sldId id="2146847246" r:id="rId6"/>
    <p:sldId id="2146847245" r:id="rId7"/>
    <p:sldId id="2146847286" r:id="rId8"/>
    <p:sldId id="2146847287" r:id="rId9"/>
    <p:sldId id="2146847255" r:id="rId10"/>
    <p:sldId id="2146847272" r:id="rId11"/>
    <p:sldId id="2146847262" r:id="rId12"/>
    <p:sldId id="2146847271" r:id="rId13"/>
    <p:sldId id="2146847258" r:id="rId14"/>
    <p:sldId id="2146847231" r:id="rId15"/>
    <p:sldId id="2146847265" r:id="rId16"/>
    <p:sldId id="2146847259" r:id="rId17"/>
    <p:sldId id="2146847252" r:id="rId18"/>
    <p:sldId id="2146847253" r:id="rId19"/>
    <p:sldId id="2146847260" r:id="rId20"/>
    <p:sldId id="2146847261" r:id="rId21"/>
    <p:sldId id="2146847266" r:id="rId22"/>
    <p:sldId id="2146847273" r:id="rId23"/>
    <p:sldId id="2146847274" r:id="rId24"/>
    <p:sldId id="2146847277" r:id="rId25"/>
    <p:sldId id="2146847275" r:id="rId26"/>
    <p:sldId id="2146847278" r:id="rId27"/>
    <p:sldId id="2146847280" r:id="rId28"/>
    <p:sldId id="2146847281" r:id="rId29"/>
    <p:sldId id="2146847282" r:id="rId30"/>
    <p:sldId id="2146847283" r:id="rId31"/>
    <p:sldId id="2146847284" r:id="rId32"/>
    <p:sldId id="2146847285" r:id="rId33"/>
    <p:sldId id="2146847254" r:id="rId34"/>
    <p:sldId id="2146847256" r:id="rId35"/>
    <p:sldId id="2146847257" r:id="rId36"/>
    <p:sldId id="2146847264" r:id="rId37"/>
    <p:sldId id="2146847267" r:id="rId38"/>
    <p:sldId id="2146847268" r:id="rId39"/>
    <p:sldId id="2146847270" r:id="rId4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9F8E8BD-BBCD-40E0-9B1D-FCB209D88704}">
          <p14:sldIdLst>
            <p14:sldId id="2146847227"/>
            <p14:sldId id="2146847246"/>
          </p14:sldIdLst>
        </p14:section>
        <p14:section name="Avance semanal" id="{2D05AE1E-82EA-4C1A-96FD-FD9C255B3DBC}">
          <p14:sldIdLst>
            <p14:sldId id="2146847245"/>
            <p14:sldId id="2146847286"/>
            <p14:sldId id="2146847287"/>
            <p14:sldId id="2146847255"/>
          </p14:sldIdLst>
        </p14:section>
        <p14:section name="Riesgos" id="{69FA9FCA-6793-4E9F-A5D0-F8AE6F89B584}">
          <p14:sldIdLst>
            <p14:sldId id="2146847272"/>
            <p14:sldId id="2146847262"/>
            <p14:sldId id="2146847271"/>
          </p14:sldIdLst>
        </p14:section>
        <p14:section name="Cronograma" id="{BEFB1B4E-B0ED-488E-8C7C-2CB245932F3E}">
          <p14:sldIdLst>
            <p14:sldId id="2146847258"/>
            <p14:sldId id="2146847231"/>
            <p14:sldId id="2146847265"/>
          </p14:sldIdLst>
        </p14:section>
        <p14:section name="Anexo - Documentación adicional" id="{6AF2CB11-1E6D-4B73-95AB-7F5E2C9E2129}">
          <p14:sldIdLst>
            <p14:sldId id="2146847259"/>
          </p14:sldIdLst>
        </p14:section>
        <p14:section name="Anexo - Semanas anteriores" id="{F8699DB8-86B5-43DF-A75B-DCC6B05CD4D5}">
          <p14:sldIdLst>
            <p14:sldId id="2146847252"/>
            <p14:sldId id="2146847253"/>
            <p14:sldId id="2146847260"/>
            <p14:sldId id="2146847261"/>
            <p14:sldId id="2146847266"/>
            <p14:sldId id="2146847273"/>
            <p14:sldId id="2146847274"/>
            <p14:sldId id="2146847277"/>
            <p14:sldId id="2146847275"/>
            <p14:sldId id="2146847278"/>
            <p14:sldId id="2146847280"/>
            <p14:sldId id="2146847281"/>
            <p14:sldId id="2146847282"/>
            <p14:sldId id="2146847283"/>
            <p14:sldId id="2146847284"/>
            <p14:sldId id="2146847285"/>
          </p14:sldIdLst>
        </p14:section>
        <p14:section name="Anexo - Modelo de la solución" id="{2C0F8883-FBFE-4D2F-916C-D94170C5F124}">
          <p14:sldIdLst>
            <p14:sldId id="2146847254"/>
            <p14:sldId id="2146847256"/>
            <p14:sldId id="2146847257"/>
            <p14:sldId id="2146847264"/>
            <p14:sldId id="2146847267"/>
            <p14:sldId id="2146847268"/>
            <p14:sldId id="2146847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F26"/>
    <a:srgbClr val="548235"/>
    <a:srgbClr val="000000"/>
    <a:srgbClr val="7030A0"/>
    <a:srgbClr val="0000FF"/>
    <a:srgbClr val="F3F3F3"/>
    <a:srgbClr val="F9F9F9"/>
    <a:srgbClr val="FDFCFE"/>
    <a:srgbClr val="F8F3FB"/>
    <a:srgbClr val="F3E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D9803-997E-44B7-92C3-A94F98BAB347}" v="25" dt="2026-05-19T07:25:37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o Delgado Aitor" userId="b05695de-f899-4ea9-9e19-0d8b9a76dc6e" providerId="ADAL" clId="{3F14F629-94A5-422C-81E0-2D753B653C70}"/>
    <pc:docChg chg="undo redo custSel addSld modSld sldOrd modSection">
      <pc:chgData name="Malo Delgado Aitor" userId="b05695de-f899-4ea9-9e19-0d8b9a76dc6e" providerId="ADAL" clId="{3F14F629-94A5-422C-81E0-2D753B653C70}" dt="2026-05-19T07:25:34.147" v="1820" actId="20577"/>
      <pc:docMkLst>
        <pc:docMk/>
      </pc:docMkLst>
      <pc:sldChg chg="modSp mod">
        <pc:chgData name="Malo Delgado Aitor" userId="b05695de-f899-4ea9-9e19-0d8b9a76dc6e" providerId="ADAL" clId="{3F14F629-94A5-422C-81E0-2D753B653C70}" dt="2026-05-18T09:24:27.999" v="1421" actId="1037"/>
        <pc:sldMkLst>
          <pc:docMk/>
          <pc:sldMk cId="2409213678" sldId="2146847231"/>
        </pc:sldMkLst>
        <pc:spChg chg="mod">
          <ac:chgData name="Malo Delgado Aitor" userId="b05695de-f899-4ea9-9e19-0d8b9a76dc6e" providerId="ADAL" clId="{3F14F629-94A5-422C-81E0-2D753B653C70}" dt="2026-05-18T09:23:12.121" v="1284" actId="108"/>
          <ac:spMkLst>
            <pc:docMk/>
            <pc:sldMk cId="2409213678" sldId="2146847231"/>
            <ac:spMk id="40" creationId="{93FF0AAA-9A93-8225-147D-E55C6B34B7ED}"/>
          </ac:spMkLst>
        </pc:spChg>
        <pc:spChg chg="mod">
          <ac:chgData name="Malo Delgado Aitor" userId="b05695de-f899-4ea9-9e19-0d8b9a76dc6e" providerId="ADAL" clId="{3F14F629-94A5-422C-81E0-2D753B653C70}" dt="2026-05-18T09:24:08.338" v="1356" actId="1038"/>
          <ac:spMkLst>
            <pc:docMk/>
            <pc:sldMk cId="2409213678" sldId="2146847231"/>
            <ac:spMk id="60" creationId="{C13E2FD2-27EB-C058-3C7C-B9D60A536135}"/>
          </ac:spMkLst>
        </pc:spChg>
        <pc:spChg chg="mod">
          <ac:chgData name="Malo Delgado Aitor" userId="b05695de-f899-4ea9-9e19-0d8b9a76dc6e" providerId="ADAL" clId="{3F14F629-94A5-422C-81E0-2D753B653C70}" dt="2026-05-18T09:23:21.613" v="1285" actId="108"/>
          <ac:spMkLst>
            <pc:docMk/>
            <pc:sldMk cId="2409213678" sldId="2146847231"/>
            <ac:spMk id="67" creationId="{1FCF0B1C-4973-20BB-822B-7FB057CB02F0}"/>
          </ac:spMkLst>
        </pc:spChg>
        <pc:cxnChg chg="mod">
          <ac:chgData name="Malo Delgado Aitor" userId="b05695de-f899-4ea9-9e19-0d8b9a76dc6e" providerId="ADAL" clId="{3F14F629-94A5-422C-81E0-2D753B653C70}" dt="2026-05-18T09:24:27.999" v="1421" actId="1037"/>
          <ac:cxnSpMkLst>
            <pc:docMk/>
            <pc:sldMk cId="2409213678" sldId="2146847231"/>
            <ac:cxnSpMk id="18" creationId="{C967CE35-69F1-4939-938E-A795E1AACB92}"/>
          </ac:cxnSpMkLst>
        </pc:cxnChg>
        <pc:cxnChg chg="mod">
          <ac:chgData name="Malo Delgado Aitor" userId="b05695de-f899-4ea9-9e19-0d8b9a76dc6e" providerId="ADAL" clId="{3F14F629-94A5-422C-81E0-2D753B653C70}" dt="2026-05-18T09:24:17.343" v="1393" actId="1037"/>
          <ac:cxnSpMkLst>
            <pc:docMk/>
            <pc:sldMk cId="2409213678" sldId="2146847231"/>
            <ac:cxnSpMk id="61" creationId="{9A6A01FA-240E-ABA8-B491-2E4B147E53D3}"/>
          </ac:cxnSpMkLst>
        </pc:cxnChg>
      </pc:sldChg>
      <pc:sldChg chg="addSp delSp modSp mod">
        <pc:chgData name="Malo Delgado Aitor" userId="b05695de-f899-4ea9-9e19-0d8b9a76dc6e" providerId="ADAL" clId="{3F14F629-94A5-422C-81E0-2D753B653C70}" dt="2026-05-18T09:20:16.993" v="1283" actId="1037"/>
        <pc:sldMkLst>
          <pc:docMk/>
          <pc:sldMk cId="798798812" sldId="2146847255"/>
        </pc:sldMkLst>
        <pc:spChg chg="mod">
          <ac:chgData name="Malo Delgado Aitor" userId="b05695de-f899-4ea9-9e19-0d8b9a76dc6e" providerId="ADAL" clId="{3F14F629-94A5-422C-81E0-2D753B653C70}" dt="2026-05-07T11:45:14.105" v="612" actId="20577"/>
          <ac:spMkLst>
            <pc:docMk/>
            <pc:sldMk cId="798798812" sldId="2146847255"/>
            <ac:spMk id="13" creationId="{F8B52D56-BA6E-C0E3-043D-1388012B5500}"/>
          </ac:spMkLst>
        </pc:spChg>
        <pc:spChg chg="del mod">
          <ac:chgData name="Malo Delgado Aitor" userId="b05695de-f899-4ea9-9e19-0d8b9a76dc6e" providerId="ADAL" clId="{3F14F629-94A5-422C-81E0-2D753B653C70}" dt="2026-05-18T09:16:01.660" v="1230" actId="478"/>
          <ac:spMkLst>
            <pc:docMk/>
            <pc:sldMk cId="798798812" sldId="2146847255"/>
            <ac:spMk id="14" creationId="{ADA1ECAF-983C-663A-B6FE-914F92EFE9DD}"/>
          </ac:spMkLst>
        </pc:spChg>
        <pc:spChg chg="mod">
          <ac:chgData name="Malo Delgado Aitor" userId="b05695de-f899-4ea9-9e19-0d8b9a76dc6e" providerId="ADAL" clId="{3F14F629-94A5-422C-81E0-2D753B653C70}" dt="2026-05-07T09:47:53.637" v="381" actId="20577"/>
          <ac:spMkLst>
            <pc:docMk/>
            <pc:sldMk cId="798798812" sldId="2146847255"/>
            <ac:spMk id="15" creationId="{64BE3B5F-2718-5AB3-244C-E0263BAE586F}"/>
          </ac:spMkLst>
        </pc:spChg>
        <pc:spChg chg="mod">
          <ac:chgData name="Malo Delgado Aitor" userId="b05695de-f899-4ea9-9e19-0d8b9a76dc6e" providerId="ADAL" clId="{3F14F629-94A5-422C-81E0-2D753B653C70}" dt="2026-05-07T09:47:50.895" v="378" actId="20577"/>
          <ac:spMkLst>
            <pc:docMk/>
            <pc:sldMk cId="798798812" sldId="2146847255"/>
            <ac:spMk id="22" creationId="{8C43D44C-4578-81F0-D935-E6F111D4657C}"/>
          </ac:spMkLst>
        </pc:spChg>
        <pc:spChg chg="mod">
          <ac:chgData name="Malo Delgado Aitor" userId="b05695de-f899-4ea9-9e19-0d8b9a76dc6e" providerId="ADAL" clId="{3F14F629-94A5-422C-81E0-2D753B653C70}" dt="2026-05-07T14:35:09.638" v="656" actId="14100"/>
          <ac:spMkLst>
            <pc:docMk/>
            <pc:sldMk cId="798798812" sldId="2146847255"/>
            <ac:spMk id="36" creationId="{59C77AA3-1D40-70B1-AB58-B6DDB88134A5}"/>
          </ac:spMkLst>
        </pc:spChg>
        <pc:spChg chg="add del mod">
          <ac:chgData name="Malo Delgado Aitor" userId="b05695de-f899-4ea9-9e19-0d8b9a76dc6e" providerId="ADAL" clId="{3F14F629-94A5-422C-81E0-2D753B653C70}" dt="2026-05-18T09:15:58.113" v="1228" actId="478"/>
          <ac:spMkLst>
            <pc:docMk/>
            <pc:sldMk cId="798798812" sldId="2146847255"/>
            <ac:spMk id="50" creationId="{F508D2BA-76AE-6187-4BFC-48ED65BA310E}"/>
          </ac:spMkLst>
        </pc:spChg>
        <pc:spChg chg="add mod">
          <ac:chgData name="Malo Delgado Aitor" userId="b05695de-f899-4ea9-9e19-0d8b9a76dc6e" providerId="ADAL" clId="{3F14F629-94A5-422C-81E0-2D753B653C70}" dt="2026-05-18T09:16:10.106" v="1232" actId="1076"/>
          <ac:spMkLst>
            <pc:docMk/>
            <pc:sldMk cId="798798812" sldId="2146847255"/>
            <ac:spMk id="51" creationId="{DA35175C-BC1C-3C0F-ADF2-8283680F64CA}"/>
          </ac:spMkLst>
        </pc:spChg>
        <pc:spChg chg="del mod">
          <ac:chgData name="Malo Delgado Aitor" userId="b05695de-f899-4ea9-9e19-0d8b9a76dc6e" providerId="ADAL" clId="{3F14F629-94A5-422C-81E0-2D753B653C70}" dt="2026-05-18T09:17:06.162" v="1242" actId="478"/>
          <ac:spMkLst>
            <pc:docMk/>
            <pc:sldMk cId="798798812" sldId="2146847255"/>
            <ac:spMk id="52" creationId="{EC8D310D-AE26-C460-515C-8F1E4DBF2EB6}"/>
          </ac:spMkLst>
        </pc:spChg>
        <pc:spChg chg="del mod">
          <ac:chgData name="Malo Delgado Aitor" userId="b05695de-f899-4ea9-9e19-0d8b9a76dc6e" providerId="ADAL" clId="{3F14F629-94A5-422C-81E0-2D753B653C70}" dt="2026-05-18T09:17:07.553" v="1243" actId="478"/>
          <ac:spMkLst>
            <pc:docMk/>
            <pc:sldMk cId="798798812" sldId="2146847255"/>
            <ac:spMk id="53" creationId="{40DAB78D-F1C2-A607-A0B2-AF83CDE5ED0B}"/>
          </ac:spMkLst>
        </pc:spChg>
        <pc:spChg chg="del mod">
          <ac:chgData name="Malo Delgado Aitor" userId="b05695de-f899-4ea9-9e19-0d8b9a76dc6e" providerId="ADAL" clId="{3F14F629-94A5-422C-81E0-2D753B653C70}" dt="2026-05-18T09:18:07.136" v="1255" actId="478"/>
          <ac:spMkLst>
            <pc:docMk/>
            <pc:sldMk cId="798798812" sldId="2146847255"/>
            <ac:spMk id="54" creationId="{7F16B998-5770-2EFE-26F8-5D428EDC74B7}"/>
          </ac:spMkLst>
        </pc:spChg>
        <pc:spChg chg="add mod">
          <ac:chgData name="Malo Delgado Aitor" userId="b05695de-f899-4ea9-9e19-0d8b9a76dc6e" providerId="ADAL" clId="{3F14F629-94A5-422C-81E0-2D753B653C70}" dt="2026-05-07T14:55:30.752" v="692" actId="1037"/>
          <ac:spMkLst>
            <pc:docMk/>
            <pc:sldMk cId="798798812" sldId="2146847255"/>
            <ac:spMk id="55" creationId="{ADEA0920-5092-08E3-9A27-8537428FDF46}"/>
          </ac:spMkLst>
        </pc:spChg>
        <pc:spChg chg="del mod">
          <ac:chgData name="Malo Delgado Aitor" userId="b05695de-f899-4ea9-9e19-0d8b9a76dc6e" providerId="ADAL" clId="{3F14F629-94A5-422C-81E0-2D753B653C70}" dt="2026-05-18T09:18:07.807" v="1256" actId="478"/>
          <ac:spMkLst>
            <pc:docMk/>
            <pc:sldMk cId="798798812" sldId="2146847255"/>
            <ac:spMk id="56" creationId="{A46C1C4E-D102-EDC7-F6C9-C03B1FD4A52A}"/>
          </ac:spMkLst>
        </pc:spChg>
        <pc:spChg chg="add mod">
          <ac:chgData name="Malo Delgado Aitor" userId="b05695de-f899-4ea9-9e19-0d8b9a76dc6e" providerId="ADAL" clId="{3F14F629-94A5-422C-81E0-2D753B653C70}" dt="2026-05-18T09:16:35.573" v="1236" actId="1076"/>
          <ac:spMkLst>
            <pc:docMk/>
            <pc:sldMk cId="798798812" sldId="2146847255"/>
            <ac:spMk id="57" creationId="{5356BF34-6261-AA93-7824-2F712B7AEEE3}"/>
          </ac:spMkLst>
        </pc:spChg>
        <pc:spChg chg="add mod">
          <ac:chgData name="Malo Delgado Aitor" userId="b05695de-f899-4ea9-9e19-0d8b9a76dc6e" providerId="ADAL" clId="{3F14F629-94A5-422C-81E0-2D753B653C70}" dt="2026-05-18T09:16:44.190" v="1238" actId="1076"/>
          <ac:spMkLst>
            <pc:docMk/>
            <pc:sldMk cId="798798812" sldId="2146847255"/>
            <ac:spMk id="59" creationId="{29F2768F-4034-2641-A65E-493F6CB1EFBE}"/>
          </ac:spMkLst>
        </pc:spChg>
        <pc:spChg chg="add mod">
          <ac:chgData name="Malo Delgado Aitor" userId="b05695de-f899-4ea9-9e19-0d8b9a76dc6e" providerId="ADAL" clId="{3F14F629-94A5-422C-81E0-2D753B653C70}" dt="2026-05-18T09:16:57.166" v="1241" actId="1037"/>
          <ac:spMkLst>
            <pc:docMk/>
            <pc:sldMk cId="798798812" sldId="2146847255"/>
            <ac:spMk id="70" creationId="{C2C7CF18-66D4-C1ED-3597-B96B970E8007}"/>
          </ac:spMkLst>
        </pc:spChg>
        <pc:spChg chg="add mod">
          <ac:chgData name="Malo Delgado Aitor" userId="b05695de-f899-4ea9-9e19-0d8b9a76dc6e" providerId="ADAL" clId="{3F14F629-94A5-422C-81E0-2D753B653C70}" dt="2026-05-18T09:17:26.802" v="1247" actId="14100"/>
          <ac:spMkLst>
            <pc:docMk/>
            <pc:sldMk cId="798798812" sldId="2146847255"/>
            <ac:spMk id="73" creationId="{0514117D-F0C7-A630-0518-EEF57D713E78}"/>
          </ac:spMkLst>
        </pc:spChg>
        <pc:spChg chg="add mod">
          <ac:chgData name="Malo Delgado Aitor" userId="b05695de-f899-4ea9-9e19-0d8b9a76dc6e" providerId="ADAL" clId="{3F14F629-94A5-422C-81E0-2D753B653C70}" dt="2026-05-18T09:17:46.148" v="1251" actId="1036"/>
          <ac:spMkLst>
            <pc:docMk/>
            <pc:sldMk cId="798798812" sldId="2146847255"/>
            <ac:spMk id="74" creationId="{38CE1F3D-294A-B90A-56FD-D9CBD376C8A8}"/>
          </ac:spMkLst>
        </pc:spChg>
        <pc:spChg chg="add mod">
          <ac:chgData name="Malo Delgado Aitor" userId="b05695de-f899-4ea9-9e19-0d8b9a76dc6e" providerId="ADAL" clId="{3F14F629-94A5-422C-81E0-2D753B653C70}" dt="2026-05-18T09:18:10.400" v="1257"/>
          <ac:spMkLst>
            <pc:docMk/>
            <pc:sldMk cId="798798812" sldId="2146847255"/>
            <ac:spMk id="75" creationId="{ECC591B1-0968-20F8-B04E-F4A4E837EE93}"/>
          </ac:spMkLst>
        </pc:spChg>
        <pc:spChg chg="add mod">
          <ac:chgData name="Malo Delgado Aitor" userId="b05695de-f899-4ea9-9e19-0d8b9a76dc6e" providerId="ADAL" clId="{3F14F629-94A5-422C-81E0-2D753B653C70}" dt="2026-05-18T09:19:47.704" v="1272" actId="1036"/>
          <ac:spMkLst>
            <pc:docMk/>
            <pc:sldMk cId="798798812" sldId="2146847255"/>
            <ac:spMk id="77" creationId="{6139EBE1-4228-E338-4350-76ED0844FFC0}"/>
          </ac:spMkLst>
        </pc:spChg>
        <pc:spChg chg="add mod">
          <ac:chgData name="Malo Delgado Aitor" userId="b05695de-f899-4ea9-9e19-0d8b9a76dc6e" providerId="ADAL" clId="{3F14F629-94A5-422C-81E0-2D753B653C70}" dt="2026-05-18T09:19:51.345" v="1273" actId="1035"/>
          <ac:spMkLst>
            <pc:docMk/>
            <pc:sldMk cId="798798812" sldId="2146847255"/>
            <ac:spMk id="78" creationId="{558BC623-209F-EB21-2D5D-80DC3935646D}"/>
          </ac:spMkLst>
        </pc:spChg>
        <pc:spChg chg="add mod">
          <ac:chgData name="Malo Delgado Aitor" userId="b05695de-f899-4ea9-9e19-0d8b9a76dc6e" providerId="ADAL" clId="{3F14F629-94A5-422C-81E0-2D753B653C70}" dt="2026-05-18T09:20:16.993" v="1283" actId="1037"/>
          <ac:spMkLst>
            <pc:docMk/>
            <pc:sldMk cId="798798812" sldId="2146847255"/>
            <ac:spMk id="79" creationId="{77B4700E-28EB-617A-074B-BD4F0698818F}"/>
          </ac:spMkLst>
        </pc:spChg>
        <pc:spChg chg="add mod">
          <ac:chgData name="Malo Delgado Aitor" userId="b05695de-f899-4ea9-9e19-0d8b9a76dc6e" providerId="ADAL" clId="{3F14F629-94A5-422C-81E0-2D753B653C70}" dt="2026-05-18T09:20:03.062" v="1276" actId="1037"/>
          <ac:spMkLst>
            <pc:docMk/>
            <pc:sldMk cId="798798812" sldId="2146847255"/>
            <ac:spMk id="80" creationId="{B90CD3E0-9E9E-6D17-3505-DD453CDF658E}"/>
          </ac:spMkLst>
        </pc:spChg>
        <pc:spChg chg="add mod">
          <ac:chgData name="Malo Delgado Aitor" userId="b05695de-f899-4ea9-9e19-0d8b9a76dc6e" providerId="ADAL" clId="{3F14F629-94A5-422C-81E0-2D753B653C70}" dt="2026-05-18T09:20:10.883" v="1281" actId="1038"/>
          <ac:spMkLst>
            <pc:docMk/>
            <pc:sldMk cId="798798812" sldId="2146847255"/>
            <ac:spMk id="81" creationId="{44BE2A82-F681-483B-9CA5-DAE364A7F068}"/>
          </ac:spMkLst>
        </pc:spChg>
        <pc:spChg chg="del">
          <ac:chgData name="Malo Delgado Aitor" userId="b05695de-f899-4ea9-9e19-0d8b9a76dc6e" providerId="ADAL" clId="{3F14F629-94A5-422C-81E0-2D753B653C70}" dt="2026-05-18T09:18:02.346" v="1252" actId="478"/>
          <ac:spMkLst>
            <pc:docMk/>
            <pc:sldMk cId="798798812" sldId="2146847255"/>
            <ac:spMk id="117" creationId="{8EE8EEDA-5140-79B5-7CA0-38A9E4EC64F8}"/>
          </ac:spMkLst>
        </pc:spChg>
        <pc:spChg chg="del">
          <ac:chgData name="Malo Delgado Aitor" userId="b05695de-f899-4ea9-9e19-0d8b9a76dc6e" providerId="ADAL" clId="{3F14F629-94A5-422C-81E0-2D753B653C70}" dt="2026-05-18T09:18:03.579" v="1253" actId="478"/>
          <ac:spMkLst>
            <pc:docMk/>
            <pc:sldMk cId="798798812" sldId="2146847255"/>
            <ac:spMk id="118" creationId="{12E9DD6B-5883-6F9C-0D63-16F3E6ADCFCE}"/>
          </ac:spMkLst>
        </pc:spChg>
        <pc:spChg chg="del">
          <ac:chgData name="Malo Delgado Aitor" userId="b05695de-f899-4ea9-9e19-0d8b9a76dc6e" providerId="ADAL" clId="{3F14F629-94A5-422C-81E0-2D753B653C70}" dt="2026-05-18T09:18:05.312" v="1254" actId="478"/>
          <ac:spMkLst>
            <pc:docMk/>
            <pc:sldMk cId="798798812" sldId="2146847255"/>
            <ac:spMk id="119" creationId="{5106B351-7170-DB7C-A011-7752D5EFA109}"/>
          </ac:spMkLst>
        </pc:spChg>
        <pc:spChg chg="del mod">
          <ac:chgData name="Malo Delgado Aitor" userId="b05695de-f899-4ea9-9e19-0d8b9a76dc6e" providerId="ADAL" clId="{3F14F629-94A5-422C-81E0-2D753B653C70}" dt="2026-05-18T09:16:00.646" v="1229" actId="478"/>
          <ac:spMkLst>
            <pc:docMk/>
            <pc:sldMk cId="798798812" sldId="2146847255"/>
            <ac:spMk id="134" creationId="{40D29FB4-0CE0-F163-D275-E1F3D058719F}"/>
          </ac:spMkLst>
        </pc:spChg>
        <pc:spChg chg="del">
          <ac:chgData name="Malo Delgado Aitor" userId="b05695de-f899-4ea9-9e19-0d8b9a76dc6e" providerId="ADAL" clId="{3F14F629-94A5-422C-81E0-2D753B653C70}" dt="2026-05-18T09:15:56.161" v="1226" actId="478"/>
          <ac:spMkLst>
            <pc:docMk/>
            <pc:sldMk cId="798798812" sldId="2146847255"/>
            <ac:spMk id="135" creationId="{A1378F49-478A-3891-15A6-44068B6002EB}"/>
          </ac:spMkLst>
        </pc:spChg>
        <pc:spChg chg="mod">
          <ac:chgData name="Malo Delgado Aitor" userId="b05695de-f899-4ea9-9e19-0d8b9a76dc6e" providerId="ADAL" clId="{3F14F629-94A5-422C-81E0-2D753B653C70}" dt="2026-05-07T14:53:08.155" v="673" actId="20577"/>
          <ac:spMkLst>
            <pc:docMk/>
            <pc:sldMk cId="798798812" sldId="2146847255"/>
            <ac:spMk id="136" creationId="{96B836F6-2530-580C-217A-22AB25F3E8B5}"/>
          </ac:spMkLst>
        </pc:spChg>
        <pc:spChg chg="mod">
          <ac:chgData name="Malo Delgado Aitor" userId="b05695de-f899-4ea9-9e19-0d8b9a76dc6e" providerId="ADAL" clId="{3F14F629-94A5-422C-81E0-2D753B653C70}" dt="2026-05-07T14:53:12.952" v="676" actId="20577"/>
          <ac:spMkLst>
            <pc:docMk/>
            <pc:sldMk cId="798798812" sldId="2146847255"/>
            <ac:spMk id="137" creationId="{C9FEAB6C-FBA8-A558-6503-5921E9E5079F}"/>
          </ac:spMkLst>
        </pc:spChg>
        <pc:spChg chg="mod">
          <ac:chgData name="Malo Delgado Aitor" userId="b05695de-f899-4ea9-9e19-0d8b9a76dc6e" providerId="ADAL" clId="{3F14F629-94A5-422C-81E0-2D753B653C70}" dt="2026-05-07T14:53:15.606" v="679" actId="20577"/>
          <ac:spMkLst>
            <pc:docMk/>
            <pc:sldMk cId="798798812" sldId="2146847255"/>
            <ac:spMk id="138" creationId="{3C5DED26-C3C2-A42D-2B9E-FA8DB02611D8}"/>
          </ac:spMkLst>
        </pc:spChg>
      </pc:sldChg>
      <pc:sldChg chg="ord">
        <pc:chgData name="Malo Delgado Aitor" userId="b05695de-f899-4ea9-9e19-0d8b9a76dc6e" providerId="ADAL" clId="{3F14F629-94A5-422C-81E0-2D753B653C70}" dt="2026-05-07T09:42:46.138" v="1"/>
        <pc:sldMkLst>
          <pc:docMk/>
          <pc:sldMk cId="2206319700" sldId="2146847284"/>
        </pc:sldMkLst>
      </pc:sldChg>
      <pc:sldChg chg="ord">
        <pc:chgData name="Malo Delgado Aitor" userId="b05695de-f899-4ea9-9e19-0d8b9a76dc6e" providerId="ADAL" clId="{3F14F629-94A5-422C-81E0-2D753B653C70}" dt="2026-05-18T09:09:05.582" v="954"/>
        <pc:sldMkLst>
          <pc:docMk/>
          <pc:sldMk cId="3864337102" sldId="2146847285"/>
        </pc:sldMkLst>
      </pc:sldChg>
      <pc:sldChg chg="modSp add mod">
        <pc:chgData name="Malo Delgado Aitor" userId="b05695de-f899-4ea9-9e19-0d8b9a76dc6e" providerId="ADAL" clId="{3F14F629-94A5-422C-81E0-2D753B653C70}" dt="2026-05-08T07:26:39.755" v="951"/>
        <pc:sldMkLst>
          <pc:docMk/>
          <pc:sldMk cId="401415322" sldId="2146847286"/>
        </pc:sldMkLst>
        <pc:spChg chg="mod">
          <ac:chgData name="Malo Delgado Aitor" userId="b05695de-f899-4ea9-9e19-0d8b9a76dc6e" providerId="ADAL" clId="{3F14F629-94A5-422C-81E0-2D753B653C70}" dt="2026-05-07T12:52:24.042" v="647" actId="20577"/>
          <ac:spMkLst>
            <pc:docMk/>
            <pc:sldMk cId="401415322" sldId="2146847286"/>
            <ac:spMk id="2" creationId="{42EE16FB-E0EC-219F-1825-B0817DC2B9F6}"/>
          </ac:spMkLst>
        </pc:spChg>
        <pc:spChg chg="mod">
          <ac:chgData name="Malo Delgado Aitor" userId="b05695de-f899-4ea9-9e19-0d8b9a76dc6e" providerId="ADAL" clId="{3F14F629-94A5-422C-81E0-2D753B653C70}" dt="2026-05-08T07:25:27.480" v="949" actId="20577"/>
          <ac:spMkLst>
            <pc:docMk/>
            <pc:sldMk cId="401415322" sldId="2146847286"/>
            <ac:spMk id="5" creationId="{5E897D2D-49D6-3587-B230-E5443CDEF62E}"/>
          </ac:spMkLst>
        </pc:spChg>
        <pc:spChg chg="mod">
          <ac:chgData name="Malo Delgado Aitor" userId="b05695de-f899-4ea9-9e19-0d8b9a76dc6e" providerId="ADAL" clId="{3F14F629-94A5-422C-81E0-2D753B653C70}" dt="2026-05-07T14:35:18.443" v="658" actId="20577"/>
          <ac:spMkLst>
            <pc:docMk/>
            <pc:sldMk cId="401415322" sldId="2146847286"/>
            <ac:spMk id="6" creationId="{2B8E09D3-EB0C-9CF1-C7C9-C39B87133272}"/>
          </ac:spMkLst>
        </pc:spChg>
        <pc:spChg chg="mod">
          <ac:chgData name="Malo Delgado Aitor" userId="b05695de-f899-4ea9-9e19-0d8b9a76dc6e" providerId="ADAL" clId="{3F14F629-94A5-422C-81E0-2D753B653C70}" dt="2026-05-08T07:26:39.755" v="951"/>
          <ac:spMkLst>
            <pc:docMk/>
            <pc:sldMk cId="401415322" sldId="2146847286"/>
            <ac:spMk id="19" creationId="{E486326C-8337-7B2A-42E1-2E274E04E2A2}"/>
          </ac:spMkLst>
        </pc:spChg>
      </pc:sldChg>
      <pc:sldChg chg="modSp add mod">
        <pc:chgData name="Malo Delgado Aitor" userId="b05695de-f899-4ea9-9e19-0d8b9a76dc6e" providerId="ADAL" clId="{3F14F629-94A5-422C-81E0-2D753B653C70}" dt="2026-05-19T07:25:34.147" v="1820" actId="20577"/>
        <pc:sldMkLst>
          <pc:docMk/>
          <pc:sldMk cId="1635584036" sldId="2146847287"/>
        </pc:sldMkLst>
        <pc:spChg chg="mod">
          <ac:chgData name="Malo Delgado Aitor" userId="b05695de-f899-4ea9-9e19-0d8b9a76dc6e" providerId="ADAL" clId="{3F14F629-94A5-422C-81E0-2D753B653C70}" dt="2026-05-19T07:12:05.869" v="1723" actId="20577"/>
          <ac:spMkLst>
            <pc:docMk/>
            <pc:sldMk cId="1635584036" sldId="2146847287"/>
            <ac:spMk id="2" creationId="{9AAF3376-0E58-4A27-FEB2-86C359A38129}"/>
          </ac:spMkLst>
        </pc:spChg>
        <pc:spChg chg="mod">
          <ac:chgData name="Malo Delgado Aitor" userId="b05695de-f899-4ea9-9e19-0d8b9a76dc6e" providerId="ADAL" clId="{3F14F629-94A5-422C-81E0-2D753B653C70}" dt="2026-05-18T09:30:19.880" v="1489" actId="20577"/>
          <ac:spMkLst>
            <pc:docMk/>
            <pc:sldMk cId="1635584036" sldId="2146847287"/>
            <ac:spMk id="5" creationId="{E7E07D72-5694-94F1-6D5E-7A579299B3FF}"/>
          </ac:spMkLst>
        </pc:spChg>
        <pc:spChg chg="mod">
          <ac:chgData name="Malo Delgado Aitor" userId="b05695de-f899-4ea9-9e19-0d8b9a76dc6e" providerId="ADAL" clId="{3F14F629-94A5-422C-81E0-2D753B653C70}" dt="2026-05-18T09:09:14.634" v="956" actId="20577"/>
          <ac:spMkLst>
            <pc:docMk/>
            <pc:sldMk cId="1635584036" sldId="2146847287"/>
            <ac:spMk id="6" creationId="{DC00BD85-223B-8DB3-BE37-C088AEFD5E34}"/>
          </ac:spMkLst>
        </pc:spChg>
        <pc:spChg chg="mod">
          <ac:chgData name="Malo Delgado Aitor" userId="b05695de-f899-4ea9-9e19-0d8b9a76dc6e" providerId="ADAL" clId="{3F14F629-94A5-422C-81E0-2D753B653C70}" dt="2026-05-19T07:25:34.147" v="1820" actId="20577"/>
          <ac:spMkLst>
            <pc:docMk/>
            <pc:sldMk cId="1635584036" sldId="2146847287"/>
            <ac:spMk id="12" creationId="{592514ED-FEDB-A143-494B-0A10E5EA1BA5}"/>
          </ac:spMkLst>
        </pc:spChg>
        <pc:spChg chg="mod">
          <ac:chgData name="Malo Delgado Aitor" userId="b05695de-f899-4ea9-9e19-0d8b9a76dc6e" providerId="ADAL" clId="{3F14F629-94A5-422C-81E0-2D753B653C70}" dt="2026-05-18T09:40:09.628" v="1496" actId="21"/>
          <ac:spMkLst>
            <pc:docMk/>
            <pc:sldMk cId="1635584036" sldId="2146847287"/>
            <ac:spMk id="19" creationId="{6BE2AFA5-A0BF-47A7-ACAD-AB946B95AF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07BB0-2C55-4444-8587-032AA57D5E69}" type="datetimeFigureOut">
              <a:rPr lang="es-ES" smtClean="0"/>
              <a:t>19/05/2026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B854A-A042-49E0-886B-81788AE6476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359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B987-DB2C-964E-9015-1C384B50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20511-A9D6-1993-B3C4-6C7B18ECA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6E210-B94F-C8FD-A167-082503B1D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85907-E9C4-4782-09C8-A703DF42F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459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DA138-31CD-4082-E0FE-33CAE6F5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9597C-BF75-5244-CAE0-2173C2AB5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E08B7-0076-8F28-E44C-08B2FB3EA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08213-3D56-ECA0-110D-17B211107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7315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3C751-4AA5-E524-8973-D2D37DF7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455AD-E3E1-0D7B-1DC6-9CDF75A76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67F23-A48D-1232-57A0-953710845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F5A87-7018-EBCE-7409-E11734FB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5438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24E4-EEE3-0EDA-432A-2F541EA6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AA2A7-8DD0-B210-1449-FCA558C7A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CD6D8-95F1-C59E-3848-FC8AAB24D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7FEC8-ADA6-7D6C-3563-432134878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5739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10281-3B5E-9EF9-0717-E60A1C92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38456-6C4C-F6A4-6E60-007E4BCC9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38DD1-E236-B7F0-3674-A335ADFDD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C90DF-EC83-3657-C68A-91C8D54F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1729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45D6A-D5ED-014D-68BB-73B1A0E4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1736C-A625-CB18-6095-F601DEA40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01012-5CE0-1CF2-56B4-7E63374E2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EBD0C-555B-951D-E616-E250BCB15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1181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08E4-5B17-D1E0-36B4-97527CA3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FE500-3E4D-B67A-2EF8-66DE7E460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AD2BF-CF35-A8E0-A005-E753902E9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21463-CDF3-F9FD-03BD-77C4ABC7D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9044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9DA1B-AAFE-F0A6-C490-247AE59DC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D3C74-51A5-C2F5-A42C-2607BEBC1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5503C-D42E-F0B2-DED9-219F6DAC2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C6279-5C2F-B298-0639-ACC5FF5BC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460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4DECC-775A-3B2C-D0BE-794B862CC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BC960-8F71-093B-E647-280ACB52E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87CB5-F605-CBDA-0D86-A321FB73E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0DFB8-92C7-B5CA-C2EE-0B24CBC1E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4696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EC78F-F7D0-3981-6908-3C9AF3F8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ED549-F074-FA5E-24AD-5B8A88946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0FF64-33C6-7120-89E4-4566B3296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54D70-2464-A8FF-4B85-2ABC1CA2A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705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85C5D-242C-6CE5-5EE7-1CD1EE4F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61AF8-751E-7A1E-963E-76CF50CDF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0EFE3-76EC-6844-3716-CE44FD5AC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84A81-78C1-7CB9-85B0-A31ED4D27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8497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E681-753C-A7A6-3A6C-C0770565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9FD4E-3B11-15CB-3EFE-C9F0BB8A8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E6FAB-6566-15A2-3CCD-150543B9D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8731B-4AB1-288E-243C-98F359679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5313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859DF-352D-933C-B52D-61F106933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57EC7-F522-47E7-316A-72CBE8584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AB7B4-DA36-EF10-1048-6E8DA3167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306EF-53EC-6677-FA48-90F42DC25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935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F266-1276-57F8-EB34-35912E0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608C1-310B-7774-6141-D6FA776FB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82666-9DCF-8F5E-BC24-133693A10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112A3-6170-CB38-D05A-307A70DB2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4755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17D51-AEFC-AE62-8871-E38BB3B8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1E7BD-4428-5D69-B17B-CF5A10D19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DEB30-55DF-2912-10E8-35785888E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64A0D-9193-C9C3-E8C3-282934051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5090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23B0-E00C-A13C-FBE7-2FFC8949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454DE-7D06-D59D-B6B0-87E03E131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4E7F7-A3E9-70DA-7489-1F509B7DA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034D6-3F5D-AB0E-1B3C-3AFB97D6F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8773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3383-0D57-A15A-126B-D0B28421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94F20-6215-8850-C5CE-A8ED56232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7CB28-8495-D609-9F45-F4D522071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D1E7F-45DF-1879-9869-9F0F4A04F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378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61D2-4239-7F74-6A88-1CD279BB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C22B8-B0B1-C391-6DD4-A809231C2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404CC-D6C0-96D9-E80A-BFDEE6D90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0D76A-656F-2042-7B86-DC7333485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2964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87C4-C776-00D8-EC40-996690A5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4A621-2864-B648-3586-3D231721E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CA247-14AC-96FA-8DCF-C41FE5901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CDB3A-EF62-BD9C-AA74-191A814CC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32452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1867-C57B-F0CF-26B2-8B142012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BC059-9C06-D931-6FF2-B1C611D2C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7CF52-8B76-63C0-F78B-7739C1821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55B5D-E2C1-E562-5708-126520F63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3802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B423C-0832-24A2-6C55-2737A925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CDFDB-36BD-AC31-97F5-C6165B939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A5CC4-8993-9E1E-AD90-FA84F8666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9D748-222D-EEF0-36B6-5B42D2A6C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4618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6DAC3-4B40-3FC7-457D-6D7D466B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0F03E-B30D-D07A-E94A-A923BEDCF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43BBE-FD4B-D860-7105-754E1F02F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C395F-296D-CEE9-C0C3-F1F48709C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99595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0CFC-F6AC-4163-B87B-3984F142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B732A-8E19-23DF-5B59-E6D2F5AF4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AA279-2E33-CB7E-446D-4332CDA91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8FE8-A86E-15C8-81C3-160AB0617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31521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489F0-5D81-4DF9-3160-E2467B72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CC96C-28C1-E54C-B06D-4E72CA654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B3773-BF9B-42E9-9757-F5429AC31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D4999-E2E0-6349-B64A-7D0914168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53191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3343-8081-9163-0A12-19F98FAC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DA7BE-2E5F-BA0F-8639-142DDC184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1F394-4465-2513-D990-35A9C23A6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37052-5CB7-11CB-1368-D3D457E93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36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774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CD6CE6A-511B-25B1-0828-47ADE0D2A1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76000" y="1781982"/>
            <a:ext cx="2514402" cy="648000"/>
          </a:xfrm>
          <a:prstGeom prst="rect">
            <a:avLst/>
          </a:prstGeom>
        </p:spPr>
      </p:pic>
      <p:cxnSp>
        <p:nvCxnSpPr>
          <p:cNvPr id="13" name="Conector recto 12"/>
          <p:cNvCxnSpPr/>
          <p:nvPr userDrawn="1"/>
        </p:nvCxnSpPr>
        <p:spPr>
          <a:xfrm flipH="1">
            <a:off x="655639" y="489175"/>
            <a:ext cx="1153636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/>
          <p:cNvSpPr>
            <a:spLocks noGrp="1"/>
          </p:cNvSpPr>
          <p:nvPr>
            <p:ph type="body" sz="quarter" idx="12" hasCustomPrompt="1"/>
          </p:nvPr>
        </p:nvSpPr>
        <p:spPr>
          <a:xfrm>
            <a:off x="542252" y="662400"/>
            <a:ext cx="10980000" cy="10296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542252" y="1751988"/>
            <a:ext cx="10980000" cy="324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4" hasCustomPrompt="1"/>
          </p:nvPr>
        </p:nvSpPr>
        <p:spPr>
          <a:xfrm>
            <a:off x="3412067" y="275720"/>
            <a:ext cx="7899787" cy="2335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insertar la fecha </a:t>
            </a:r>
            <a:r>
              <a:rPr lang="es-ES" err="1"/>
              <a:t>dd</a:t>
            </a:r>
            <a:r>
              <a:rPr lang="es-ES"/>
              <a:t>/mm/</a:t>
            </a:r>
            <a:r>
              <a:rPr lang="es-ES" err="1"/>
              <a:t>aa</a:t>
            </a:r>
            <a:endParaRPr lang="es-ES"/>
          </a:p>
        </p:txBody>
      </p:sp>
      <p:sp>
        <p:nvSpPr>
          <p:cNvPr id="2" name="Rectángulo 1"/>
          <p:cNvSpPr/>
          <p:nvPr userDrawn="1"/>
        </p:nvSpPr>
        <p:spPr>
          <a:xfrm>
            <a:off x="603601" y="272194"/>
            <a:ext cx="2884666" cy="216981"/>
          </a:xfrm>
          <a:prstGeom prst="rect">
            <a:avLst/>
          </a:prstGeom>
        </p:spPr>
        <p:txBody>
          <a:bodyPr/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Tecnología y Operaciones. T&amp;O Centro Corporativo.   </a:t>
            </a:r>
          </a:p>
        </p:txBody>
      </p:sp>
      <p:pic>
        <p:nvPicPr>
          <p:cNvPr id="20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840" y="1781982"/>
            <a:ext cx="2226762" cy="648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F77730C-EE0E-B845-45D8-06804373F52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t="25546" r="57"/>
          <a:stretch>
            <a:fillRect/>
          </a:stretch>
        </p:blipFill>
        <p:spPr bwMode="auto">
          <a:xfrm>
            <a:off x="1624589" y="2648095"/>
            <a:ext cx="8942822" cy="384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48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/>
                </a:solidFill>
              </a:rPr>
              <a:t>Index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758F344F-4D40-4193-89B9-BE8205554972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pic>
        <p:nvPicPr>
          <p:cNvPr id="2050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44344033-E14C-6ECA-1616-3420E32C46F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6DDC47-31DD-2E25-6343-8C99A745A81B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15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lang="es-ES" sz="50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es-ES" sz="16600" kern="1200" dirty="0">
                <a:solidFill>
                  <a:schemeClr val="bg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76041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7"/>
            <a:ext cx="5297557" cy="1606047"/>
          </a:xfrm>
        </p:spPr>
        <p:txBody>
          <a:bodyPr anchor="t">
            <a:noAutofit/>
          </a:bodyPr>
          <a:lstStyle>
            <a:lvl1pPr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024" y="2944750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err="1"/>
              <a:t>Editar</a:t>
            </a:r>
            <a:r>
              <a:rPr lang="en-US"/>
              <a:t> los </a:t>
            </a:r>
            <a:r>
              <a:rPr lang="en-US" err="1"/>
              <a:t>estilos</a:t>
            </a:r>
            <a:r>
              <a:rPr lang="en-US"/>
              <a:t> de </a:t>
            </a:r>
            <a:r>
              <a:rPr lang="en-US" err="1"/>
              <a:t>texto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971" y="1087458"/>
            <a:ext cx="5081004" cy="494069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err="1"/>
              <a:t>Editar</a:t>
            </a:r>
            <a:r>
              <a:rPr lang="en-US"/>
              <a:t> los </a:t>
            </a:r>
            <a:r>
              <a:rPr lang="en-US" err="1"/>
              <a:t>estilos</a:t>
            </a:r>
            <a:r>
              <a:rPr lang="en-US"/>
              <a:t> de </a:t>
            </a:r>
            <a:r>
              <a:rPr lang="en-US" err="1"/>
              <a:t>texto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20D6169B-7727-478C-9F79-E3312A448F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C223F00-ADFD-45B5-AB42-E3946CD7E5B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0152A3-D48F-C8C7-90BD-40D764D58E61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7E91FA5-4193-0EC7-9F16-C98D9F3E4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97128" y="6250667"/>
            <a:ext cx="1117512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7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7"/>
            <a:ext cx="10758733" cy="1123937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2626797"/>
            <a:ext cx="10758733" cy="3393003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0CD5C40-9C2B-4740-BB85-4793D380FB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pic>
        <p:nvPicPr>
          <p:cNvPr id="3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A0F420EA-A5D9-A70F-97C6-0DBE4367786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25A644-929A-CA3F-53BE-A101CA29CABC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42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8"/>
            <a:ext cx="3801119" cy="4933929"/>
          </a:xfrm>
        </p:spPr>
        <p:txBody>
          <a:bodyPr anchor="t">
            <a:noAutofit/>
          </a:bodyPr>
          <a:lstStyle>
            <a:lvl1pPr>
              <a:defRPr lang="es-ES" sz="2600" b="0" kern="1200" dirty="0" err="1">
                <a:solidFill>
                  <a:schemeClr val="accent3"/>
                </a:solidFill>
                <a:latin typeface="Santander Text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087458"/>
            <a:ext cx="6697035" cy="4933928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2ACA880E-0A64-47E3-A2A7-9510B186C13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pic>
        <p:nvPicPr>
          <p:cNvPr id="3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B9D8C5C5-2E26-3165-54A5-3B4010AD1F9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91533D-E6F9-DD3F-8EF8-5BA678D3845D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25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024" y="1087458"/>
            <a:ext cx="3911401" cy="1183132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2517170"/>
            <a:ext cx="3911401" cy="35042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4933950"/>
          </a:xfrm>
        </p:spPr>
        <p:txBody>
          <a:bodyPr>
            <a:normAutofit/>
          </a:bodyPr>
          <a:lstStyle>
            <a:lvl1pPr marL="0" indent="0" algn="ctr">
              <a:buNone/>
              <a:defRPr lang="es-MX" sz="16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MX" dirty="0"/>
              <a:t>Inserte aqu</a:t>
            </a:r>
            <a:r>
              <a:rPr lang="es-ES" dirty="0"/>
              <a:t>í su gráfico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7A720A69-A401-44C4-A44F-11858CED5D4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pic>
        <p:nvPicPr>
          <p:cNvPr id="2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4EA58996-7A05-3B4A-F380-9014D34C132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D95D898-2F8A-510F-05FD-506F764A27B8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06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1087459"/>
            <a:ext cx="3911401" cy="493392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581149"/>
            <a:ext cx="6612965" cy="444023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kumimoji="0" lang="es-ES" sz="1200" b="0" i="0" u="none" strike="noStrike" kern="1200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antander Text Light" panose="020B03040202010201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4" y="1087458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b="1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4FF6CD27-D37B-4983-AEF9-0169EB032F7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pic>
        <p:nvPicPr>
          <p:cNvPr id="2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73FD1B31-600C-4571-46D1-0688EADDFFE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D7EB3F-C302-2347-2968-353664A8EDB7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3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10758663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1087459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3" y="1087459"/>
            <a:ext cx="6445624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024" y="1838324"/>
            <a:ext cx="3911600" cy="418306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4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2" y="1838324"/>
            <a:ext cx="6445625" cy="418147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4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E8454A0C-553D-4F88-AC19-948A030E548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pic>
        <p:nvPicPr>
          <p:cNvPr id="2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FC5761F5-3FE2-8804-A397-4E70B0203B4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3DD12C-93F1-DD8E-7F52-5D6B52131977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2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FFFFFF"/>
              </a:solidFill>
            </a:endParaRPr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595959"/>
                </a:solidFill>
              </a:rPr>
              <a:t>Nuestra misión es contribuir al progreso de las personas y de las empresas.</a:t>
            </a:r>
          </a:p>
          <a:p>
            <a:endParaRPr lang="es-ES" sz="1400" dirty="0">
              <a:solidFill>
                <a:srgbClr val="595959"/>
              </a:solidFill>
            </a:endParaRPr>
          </a:p>
          <a:p>
            <a:r>
              <a:rPr lang="es-ES" sz="1400" dirty="0">
                <a:solidFill>
                  <a:srgbClr val="595959"/>
                </a:solidFill>
              </a:rPr>
              <a:t>Nuestra cultura se basa en la creencia de que todo lo que hacemos debe ser: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rgbClr val="EC0000"/>
                </a:solidFill>
                <a:latin typeface="Santander Headline" panose="020B0504020201020104" pitchFamily="34" charset="0"/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E9E46F4D-C8A9-422F-BD4D-29C8BEED30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22325" y="5727700"/>
            <a:ext cx="1898650" cy="334963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15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8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B376A2-1CAF-4EAA-914D-4D87E6590F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5385" y="1697236"/>
            <a:ext cx="7705095" cy="3010385"/>
          </a:xfrm>
          <a:prstGeom prst="rect">
            <a:avLst/>
          </a:prstGeom>
        </p:spPr>
      </p:pic>
      <p:grpSp>
        <p:nvGrpSpPr>
          <p:cNvPr id="45" name="Grupo 44">
            <a:extLst>
              <a:ext uri="{FF2B5EF4-FFF2-40B4-BE49-F238E27FC236}">
                <a16:creationId xmlns:a16="http://schemas.microsoft.com/office/drawing/2014/main" id="{3C57E52D-1ABB-45DD-8538-77D7486EFF6A}"/>
              </a:ext>
            </a:extLst>
          </p:cNvPr>
          <p:cNvGrpSpPr/>
          <p:nvPr userDrawn="1"/>
        </p:nvGrpSpPr>
        <p:grpSpPr>
          <a:xfrm>
            <a:off x="10025113" y="9282388"/>
            <a:ext cx="1565451" cy="560074"/>
            <a:chOff x="22242493" y="3674548"/>
            <a:chExt cx="1565451" cy="560074"/>
          </a:xfrm>
        </p:grpSpPr>
        <p:sp>
          <p:nvSpPr>
            <p:cNvPr id="46" name="Rectángulo redondeado 507">
              <a:extLst>
                <a:ext uri="{FF2B5EF4-FFF2-40B4-BE49-F238E27FC236}">
                  <a16:creationId xmlns:a16="http://schemas.microsoft.com/office/drawing/2014/main" id="{F04983BD-A0FF-4C7D-9F5D-60AE0EC39A4B}"/>
                </a:ext>
              </a:extLst>
            </p:cNvPr>
            <p:cNvSpPr/>
            <p:nvPr/>
          </p:nvSpPr>
          <p:spPr>
            <a:xfrm>
              <a:off x="22242493" y="3674548"/>
              <a:ext cx="1324267" cy="39937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1100" b="1" kern="0" dirty="0">
                <a:solidFill>
                  <a:prstClr val="whit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  <a:p>
              <a:pPr algn="ctr"/>
              <a:endParaRPr lang="en-US" sz="1100" b="1" kern="0" dirty="0">
                <a:solidFill>
                  <a:prstClr val="whit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pic>
          <p:nvPicPr>
            <p:cNvPr id="47" name="Imagen 2" descr="Imagen que contiene imágenes prediseñadas&#10;&#10;Descripción generada con confianza muy alta">
              <a:extLst>
                <a:ext uri="{FF2B5EF4-FFF2-40B4-BE49-F238E27FC236}">
                  <a16:creationId xmlns:a16="http://schemas.microsoft.com/office/drawing/2014/main" id="{73999E4D-846F-40E2-B6BA-F2F1B9BC5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59778" y="3886456"/>
              <a:ext cx="348166" cy="348166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744557"/>
            <a:ext cx="10758733" cy="1123937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9169" y="5071596"/>
            <a:ext cx="10620588" cy="948204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0CD5C40-9C2B-4740-BB85-4793D380FB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3083AA-8902-4980-A03E-A80A1F5D1E97}"/>
              </a:ext>
            </a:extLst>
          </p:cNvPr>
          <p:cNvSpPr/>
          <p:nvPr userDrawn="1"/>
        </p:nvSpPr>
        <p:spPr>
          <a:xfrm>
            <a:off x="8156890" y="8858161"/>
            <a:ext cx="1324267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956E69-CFE8-4CE9-9DB6-80E139E9347C}"/>
              </a:ext>
            </a:extLst>
          </p:cNvPr>
          <p:cNvSpPr/>
          <p:nvPr userDrawn="1"/>
        </p:nvSpPr>
        <p:spPr>
          <a:xfrm>
            <a:off x="5808297" y="8858161"/>
            <a:ext cx="2129216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795096-E608-4904-9799-E9CC55B7F914}"/>
              </a:ext>
            </a:extLst>
          </p:cNvPr>
          <p:cNvSpPr/>
          <p:nvPr userDrawn="1"/>
        </p:nvSpPr>
        <p:spPr>
          <a:xfrm>
            <a:off x="3987592" y="8858161"/>
            <a:ext cx="1569618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141572-2393-4359-B0DD-157A2274197D}"/>
              </a:ext>
            </a:extLst>
          </p:cNvPr>
          <p:cNvSpPr/>
          <p:nvPr userDrawn="1"/>
        </p:nvSpPr>
        <p:spPr>
          <a:xfrm>
            <a:off x="2166887" y="8858161"/>
            <a:ext cx="1569618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4" name="Rectangle 46">
            <a:extLst>
              <a:ext uri="{FF2B5EF4-FFF2-40B4-BE49-F238E27FC236}">
                <a16:creationId xmlns:a16="http://schemas.microsoft.com/office/drawing/2014/main" id="{717C0279-4904-4CBE-8D12-45C6C53A9F8E}"/>
              </a:ext>
            </a:extLst>
          </p:cNvPr>
          <p:cNvSpPr/>
          <p:nvPr userDrawn="1"/>
        </p:nvSpPr>
        <p:spPr>
          <a:xfrm>
            <a:off x="3977979" y="8453933"/>
            <a:ext cx="1601707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Staging</a:t>
            </a:r>
          </a:p>
        </p:txBody>
      </p:sp>
      <p:sp>
        <p:nvSpPr>
          <p:cNvPr id="16" name="Rectangle 46">
            <a:extLst>
              <a:ext uri="{FF2B5EF4-FFF2-40B4-BE49-F238E27FC236}">
                <a16:creationId xmlns:a16="http://schemas.microsoft.com/office/drawing/2014/main" id="{E8C8EF08-EC49-4221-A3BF-BDACE92D11C0}"/>
              </a:ext>
            </a:extLst>
          </p:cNvPr>
          <p:cNvSpPr/>
          <p:nvPr userDrawn="1"/>
        </p:nvSpPr>
        <p:spPr>
          <a:xfrm>
            <a:off x="5771161" y="8462433"/>
            <a:ext cx="2183241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Common</a:t>
            </a:r>
          </a:p>
        </p:txBody>
      </p:sp>
      <p:sp>
        <p:nvSpPr>
          <p:cNvPr id="17" name="Rectangle 46">
            <a:extLst>
              <a:ext uri="{FF2B5EF4-FFF2-40B4-BE49-F238E27FC236}">
                <a16:creationId xmlns:a16="http://schemas.microsoft.com/office/drawing/2014/main" id="{6742CCEA-D480-45B4-8624-345721E02669}"/>
              </a:ext>
            </a:extLst>
          </p:cNvPr>
          <p:cNvSpPr/>
          <p:nvPr userDrawn="1"/>
        </p:nvSpPr>
        <p:spPr>
          <a:xfrm>
            <a:off x="8119388" y="8462433"/>
            <a:ext cx="1352198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Business</a:t>
            </a:r>
          </a:p>
        </p:txBody>
      </p:sp>
      <p:sp>
        <p:nvSpPr>
          <p:cNvPr id="18" name="Rectangle 46">
            <a:extLst>
              <a:ext uri="{FF2B5EF4-FFF2-40B4-BE49-F238E27FC236}">
                <a16:creationId xmlns:a16="http://schemas.microsoft.com/office/drawing/2014/main" id="{4D2F8FDF-1466-4803-BA52-D1B20F032B4B}"/>
              </a:ext>
            </a:extLst>
          </p:cNvPr>
          <p:cNvSpPr/>
          <p:nvPr userDrawn="1"/>
        </p:nvSpPr>
        <p:spPr>
          <a:xfrm>
            <a:off x="2166887" y="8453933"/>
            <a:ext cx="1601707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Landing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1B9A51A-1840-4B3F-B72B-328B6F47B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14289" y="9101664"/>
            <a:ext cx="396274" cy="51375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E9EFB85-2396-4846-BBE8-EC4B9A13C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58642" y="9112283"/>
            <a:ext cx="827519" cy="58094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A2A6C23-65D8-4158-8029-5DF5FC4837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3359" y="9884895"/>
            <a:ext cx="1805912" cy="120646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F67F325B-375F-48D6-AF86-3362FACACF5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8795" y="9302105"/>
            <a:ext cx="380851" cy="39112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F6B7425-B12A-476C-906A-B1FA022BC10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7439" y="10207168"/>
            <a:ext cx="456095" cy="468398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DB5B878-4D7A-4E7F-9904-195F660F50A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0718" y="11160851"/>
            <a:ext cx="449538" cy="46166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5C4F07A3-7F7E-454B-909D-18BCFB0BD7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14289" y="10240895"/>
            <a:ext cx="396274" cy="51375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835F8A5-8965-4A86-BD98-73F4C625D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58642" y="10251514"/>
            <a:ext cx="827519" cy="58094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AE187EB-E774-40C8-AC3B-B4AFA435F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05533" y="11381065"/>
            <a:ext cx="396274" cy="51375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A51B541-DCD6-4AB8-A53D-AD3133D82F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49886" y="11391684"/>
            <a:ext cx="827519" cy="580947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07C6C833-BBCC-4991-89E6-BECB7DC4DEFF}"/>
              </a:ext>
            </a:extLst>
          </p:cNvPr>
          <p:cNvSpPr txBox="1"/>
          <p:nvPr userDrawn="1"/>
        </p:nvSpPr>
        <p:spPr>
          <a:xfrm>
            <a:off x="2827127" y="9562425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1BD2DA7-14AF-499E-9B8C-299B381CAEE0}"/>
              </a:ext>
            </a:extLst>
          </p:cNvPr>
          <p:cNvSpPr txBox="1"/>
          <p:nvPr userDrawn="1"/>
        </p:nvSpPr>
        <p:spPr>
          <a:xfrm>
            <a:off x="2827127" y="10711243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A374DEA-0A4E-40A9-A7D0-04E72C775915}"/>
              </a:ext>
            </a:extLst>
          </p:cNvPr>
          <p:cNvSpPr txBox="1"/>
          <p:nvPr userDrawn="1"/>
        </p:nvSpPr>
        <p:spPr>
          <a:xfrm>
            <a:off x="2829422" y="11853810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41" name="Rectangle 46">
            <a:extLst>
              <a:ext uri="{FF2B5EF4-FFF2-40B4-BE49-F238E27FC236}">
                <a16:creationId xmlns:a16="http://schemas.microsoft.com/office/drawing/2014/main" id="{61168BD0-D062-428E-A4DE-E2E35173C982}"/>
              </a:ext>
            </a:extLst>
          </p:cNvPr>
          <p:cNvSpPr/>
          <p:nvPr userDrawn="1"/>
        </p:nvSpPr>
        <p:spPr>
          <a:xfrm>
            <a:off x="836682" y="1323274"/>
            <a:ext cx="7560000" cy="326589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System map</a:t>
            </a:r>
          </a:p>
        </p:txBody>
      </p:sp>
      <p:sp>
        <p:nvSpPr>
          <p:cNvPr id="42" name="Rectangle 46">
            <a:extLst>
              <a:ext uri="{FF2B5EF4-FFF2-40B4-BE49-F238E27FC236}">
                <a16:creationId xmlns:a16="http://schemas.microsoft.com/office/drawing/2014/main" id="{0CCDCE06-AE0A-44A8-ABDE-29C01BE26921}"/>
              </a:ext>
            </a:extLst>
          </p:cNvPr>
          <p:cNvSpPr/>
          <p:nvPr userDrawn="1"/>
        </p:nvSpPr>
        <p:spPr>
          <a:xfrm>
            <a:off x="849169" y="4707622"/>
            <a:ext cx="7881676" cy="239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Observaciones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5481F493-76BD-423F-A2D9-9F79B22036C7}"/>
              </a:ext>
            </a:extLst>
          </p:cNvPr>
          <p:cNvGrpSpPr/>
          <p:nvPr userDrawn="1"/>
        </p:nvGrpSpPr>
        <p:grpSpPr>
          <a:xfrm>
            <a:off x="10025113" y="10178036"/>
            <a:ext cx="1565451" cy="560074"/>
            <a:chOff x="22242493" y="3674548"/>
            <a:chExt cx="1565451" cy="560074"/>
          </a:xfrm>
        </p:grpSpPr>
        <p:sp>
          <p:nvSpPr>
            <p:cNvPr id="49" name="Rectángulo redondeado 507">
              <a:extLst>
                <a:ext uri="{FF2B5EF4-FFF2-40B4-BE49-F238E27FC236}">
                  <a16:creationId xmlns:a16="http://schemas.microsoft.com/office/drawing/2014/main" id="{FEA6FC53-661B-4F8D-9B75-E00679EB96E9}"/>
                </a:ext>
              </a:extLst>
            </p:cNvPr>
            <p:cNvSpPr/>
            <p:nvPr/>
          </p:nvSpPr>
          <p:spPr>
            <a:xfrm>
              <a:off x="22242493" y="3674548"/>
              <a:ext cx="1324267" cy="39937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1100" b="1" kern="0" dirty="0">
                <a:solidFill>
                  <a:prstClr val="whit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  <a:p>
              <a:pPr algn="ctr"/>
              <a:endParaRPr lang="en-US" sz="1100" b="1" kern="0" dirty="0">
                <a:solidFill>
                  <a:prstClr val="whit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pic>
          <p:nvPicPr>
            <p:cNvPr id="50" name="Imagen 2" descr="Imagen que contiene imágenes prediseñadas&#10;&#10;Descripción generada con confianza muy alta">
              <a:extLst>
                <a:ext uri="{FF2B5EF4-FFF2-40B4-BE49-F238E27FC236}">
                  <a16:creationId xmlns:a16="http://schemas.microsoft.com/office/drawing/2014/main" id="{4189CE81-DBDF-403C-8AE1-7A9227A7C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59778" y="3886456"/>
              <a:ext cx="348166" cy="348166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2" name="Rectángulo redondeado 507">
            <a:extLst>
              <a:ext uri="{FF2B5EF4-FFF2-40B4-BE49-F238E27FC236}">
                <a16:creationId xmlns:a16="http://schemas.microsoft.com/office/drawing/2014/main" id="{26B1E5DF-E674-439F-B42C-2D8A39623C16}"/>
              </a:ext>
            </a:extLst>
          </p:cNvPr>
          <p:cNvSpPr/>
          <p:nvPr/>
        </p:nvSpPr>
        <p:spPr>
          <a:xfrm>
            <a:off x="10053119" y="11073684"/>
            <a:ext cx="1324267" cy="3993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sz="1100" b="1" kern="0" dirty="0">
              <a:solidFill>
                <a:prstClr val="white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endParaRPr lang="en-US" sz="1100" b="1" kern="0" dirty="0">
              <a:solidFill>
                <a:prstClr val="white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8ECFB35-06C7-473A-AF82-D292C2C36BB3}"/>
              </a:ext>
            </a:extLst>
          </p:cNvPr>
          <p:cNvSpPr/>
          <p:nvPr userDrawn="1"/>
        </p:nvSpPr>
        <p:spPr>
          <a:xfrm>
            <a:off x="2004347" y="8388911"/>
            <a:ext cx="10094656" cy="394399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FFFFFF"/>
              </a:solidFill>
            </a:endParaRPr>
          </a:p>
        </p:txBody>
      </p:sp>
      <p:pic>
        <p:nvPicPr>
          <p:cNvPr id="4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65A2B4F1-49A6-A92C-5881-84C797645D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CFA580-34C2-2E05-FDAC-A72063FCD760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08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7"/>
            <a:ext cx="10758733" cy="1123937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‹Nº›</a:t>
            </a:fld>
            <a:endParaRPr dirty="0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0CD5C40-9C2B-4740-BB85-4793D380FB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3083AA-8902-4980-A03E-A80A1F5D1E97}"/>
              </a:ext>
            </a:extLst>
          </p:cNvPr>
          <p:cNvSpPr/>
          <p:nvPr userDrawn="1"/>
        </p:nvSpPr>
        <p:spPr>
          <a:xfrm>
            <a:off x="8156890" y="8858161"/>
            <a:ext cx="1778050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956E69-CFE8-4CE9-9DB6-80E139E9347C}"/>
              </a:ext>
            </a:extLst>
          </p:cNvPr>
          <p:cNvSpPr/>
          <p:nvPr userDrawn="1"/>
        </p:nvSpPr>
        <p:spPr>
          <a:xfrm>
            <a:off x="5808297" y="8858161"/>
            <a:ext cx="2129216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795096-E608-4904-9799-E9CC55B7F914}"/>
              </a:ext>
            </a:extLst>
          </p:cNvPr>
          <p:cNvSpPr/>
          <p:nvPr userDrawn="1"/>
        </p:nvSpPr>
        <p:spPr>
          <a:xfrm>
            <a:off x="3987592" y="8858161"/>
            <a:ext cx="1569618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141572-2393-4359-B0DD-157A2274197D}"/>
              </a:ext>
            </a:extLst>
          </p:cNvPr>
          <p:cNvSpPr/>
          <p:nvPr userDrawn="1"/>
        </p:nvSpPr>
        <p:spPr>
          <a:xfrm>
            <a:off x="2166887" y="8858161"/>
            <a:ext cx="1569618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4" name="Rectangle 46">
            <a:extLst>
              <a:ext uri="{FF2B5EF4-FFF2-40B4-BE49-F238E27FC236}">
                <a16:creationId xmlns:a16="http://schemas.microsoft.com/office/drawing/2014/main" id="{717C0279-4904-4CBE-8D12-45C6C53A9F8E}"/>
              </a:ext>
            </a:extLst>
          </p:cNvPr>
          <p:cNvSpPr/>
          <p:nvPr userDrawn="1"/>
        </p:nvSpPr>
        <p:spPr>
          <a:xfrm>
            <a:off x="3977979" y="8453933"/>
            <a:ext cx="1601707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Staging</a:t>
            </a:r>
          </a:p>
        </p:txBody>
      </p:sp>
      <p:sp>
        <p:nvSpPr>
          <p:cNvPr id="16" name="Rectangle 46">
            <a:extLst>
              <a:ext uri="{FF2B5EF4-FFF2-40B4-BE49-F238E27FC236}">
                <a16:creationId xmlns:a16="http://schemas.microsoft.com/office/drawing/2014/main" id="{E8C8EF08-EC49-4221-A3BF-BDACE92D11C0}"/>
              </a:ext>
            </a:extLst>
          </p:cNvPr>
          <p:cNvSpPr/>
          <p:nvPr userDrawn="1"/>
        </p:nvSpPr>
        <p:spPr>
          <a:xfrm>
            <a:off x="5771161" y="8462433"/>
            <a:ext cx="2183241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Common</a:t>
            </a:r>
          </a:p>
        </p:txBody>
      </p:sp>
      <p:sp>
        <p:nvSpPr>
          <p:cNvPr id="17" name="Rectangle 46">
            <a:extLst>
              <a:ext uri="{FF2B5EF4-FFF2-40B4-BE49-F238E27FC236}">
                <a16:creationId xmlns:a16="http://schemas.microsoft.com/office/drawing/2014/main" id="{6742CCEA-D480-45B4-8624-345721E02669}"/>
              </a:ext>
            </a:extLst>
          </p:cNvPr>
          <p:cNvSpPr/>
          <p:nvPr userDrawn="1"/>
        </p:nvSpPr>
        <p:spPr>
          <a:xfrm>
            <a:off x="8119388" y="8462433"/>
            <a:ext cx="1815552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Business</a:t>
            </a:r>
          </a:p>
        </p:txBody>
      </p:sp>
      <p:sp>
        <p:nvSpPr>
          <p:cNvPr id="18" name="Rectangle 46">
            <a:extLst>
              <a:ext uri="{FF2B5EF4-FFF2-40B4-BE49-F238E27FC236}">
                <a16:creationId xmlns:a16="http://schemas.microsoft.com/office/drawing/2014/main" id="{4D2F8FDF-1466-4803-BA52-D1B20F032B4B}"/>
              </a:ext>
            </a:extLst>
          </p:cNvPr>
          <p:cNvSpPr/>
          <p:nvPr userDrawn="1"/>
        </p:nvSpPr>
        <p:spPr>
          <a:xfrm>
            <a:off x="2166887" y="8453933"/>
            <a:ext cx="1601707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Landing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1B9A51A-1840-4B3F-B72B-328B6F47B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14289" y="9101664"/>
            <a:ext cx="396274" cy="51375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E9EFB85-2396-4846-BBE8-EC4B9A13C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58642" y="9112283"/>
            <a:ext cx="827519" cy="58094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A2A6C23-65D8-4158-8029-5DF5FC4837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3359" y="9884895"/>
            <a:ext cx="1805912" cy="1206460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BFAD71D-7FD3-4737-931C-123D6D0C545B}"/>
              </a:ext>
            </a:extLst>
          </p:cNvPr>
          <p:cNvGrpSpPr/>
          <p:nvPr userDrawn="1"/>
        </p:nvGrpSpPr>
        <p:grpSpPr>
          <a:xfrm>
            <a:off x="8550303" y="9052717"/>
            <a:ext cx="1025163" cy="958438"/>
            <a:chOff x="24276917" y="2002334"/>
            <a:chExt cx="1025163" cy="958438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1A78D85-8526-4677-810A-E6A273A5C33E}"/>
                </a:ext>
              </a:extLst>
            </p:cNvPr>
            <p:cNvSpPr txBox="1"/>
            <p:nvPr/>
          </p:nvSpPr>
          <p:spPr>
            <a:xfrm>
              <a:off x="24276917" y="2375997"/>
              <a:ext cx="10251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9BC3D3">
                      <a:lumMod val="75000"/>
                    </a:srgbClr>
                  </a:solidFill>
                </a:rPr>
                <a:t>Regulatory Reporting </a:t>
              </a:r>
            </a:p>
            <a:p>
              <a:pPr algn="ctr"/>
              <a:r>
                <a:rPr lang="en-US" sz="800" b="1" dirty="0">
                  <a:solidFill>
                    <a:srgbClr val="9BC3D3">
                      <a:lumMod val="75000"/>
                    </a:srgbClr>
                  </a:solidFill>
                </a:rPr>
                <a:t>(Consumer Data Domain)</a:t>
              </a:r>
            </a:p>
          </p:txBody>
        </p: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F67F325B-375F-48D6-AF86-3362FACAC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597359" y="2002334"/>
              <a:ext cx="380851" cy="391125"/>
            </a:xfrm>
            <a:prstGeom prst="rect">
              <a:avLst/>
            </a:prstGeom>
          </p:spPr>
        </p:pic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CFB87C01-9DF1-4E02-9591-940C22A61E96}"/>
              </a:ext>
            </a:extLst>
          </p:cNvPr>
          <p:cNvGrpSpPr/>
          <p:nvPr userDrawn="1"/>
        </p:nvGrpSpPr>
        <p:grpSpPr>
          <a:xfrm>
            <a:off x="8618316" y="10167187"/>
            <a:ext cx="855198" cy="896543"/>
            <a:chOff x="24316335" y="2883611"/>
            <a:chExt cx="855198" cy="896543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EF6B7425-B12A-476C-906A-B1FA022BC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485289" y="2883611"/>
              <a:ext cx="456095" cy="468398"/>
            </a:xfrm>
            <a:prstGeom prst="rect">
              <a:avLst/>
            </a:prstGeom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B8967A06-66E4-40E1-8129-0D12B888028C}"/>
                </a:ext>
              </a:extLst>
            </p:cNvPr>
            <p:cNvSpPr txBox="1"/>
            <p:nvPr/>
          </p:nvSpPr>
          <p:spPr>
            <a:xfrm>
              <a:off x="24316335" y="3318489"/>
              <a:ext cx="855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E7E6E6">
                      <a:lumMod val="25000"/>
                    </a:srgbClr>
                  </a:solidFill>
                </a:rPr>
                <a:t>BDR</a:t>
              </a:r>
            </a:p>
            <a:p>
              <a:pPr algn="ctr"/>
              <a:r>
                <a:rPr lang="en-US" sz="800" b="1" dirty="0">
                  <a:solidFill>
                    <a:srgbClr val="E7E6E6">
                      <a:lumMod val="25000"/>
                    </a:srgbClr>
                  </a:solidFill>
                </a:rPr>
                <a:t>(Consumer Data Domain)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2ACB833-32C4-4D58-BC9E-9F430406052E}"/>
              </a:ext>
            </a:extLst>
          </p:cNvPr>
          <p:cNvGrpSpPr/>
          <p:nvPr userDrawn="1"/>
        </p:nvGrpSpPr>
        <p:grpSpPr>
          <a:xfrm>
            <a:off x="8678414" y="11351284"/>
            <a:ext cx="855198" cy="791321"/>
            <a:chOff x="20365553" y="4987355"/>
            <a:chExt cx="855198" cy="791321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CDB5B878-4D7A-4E7F-9904-195F660F5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539147" y="4987355"/>
              <a:ext cx="449538" cy="461665"/>
            </a:xfrm>
            <a:prstGeom prst="rect">
              <a:avLst/>
            </a:prstGeom>
          </p:spPr>
        </p:pic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CF72E51E-E2C6-4904-B09F-BB2795CD1588}"/>
                </a:ext>
              </a:extLst>
            </p:cNvPr>
            <p:cNvSpPr txBox="1"/>
            <p:nvPr/>
          </p:nvSpPr>
          <p:spPr>
            <a:xfrm>
              <a:off x="20365553" y="5440122"/>
              <a:ext cx="855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E7E6E6">
                      <a:lumMod val="25000"/>
                    </a:srgbClr>
                  </a:solidFill>
                </a:rPr>
                <a:t>Other</a:t>
              </a:r>
            </a:p>
            <a:p>
              <a:pPr algn="ctr"/>
              <a:r>
                <a:rPr lang="en-US" sz="800" b="1" dirty="0">
                  <a:solidFill>
                    <a:srgbClr val="E7E6E6">
                      <a:lumMod val="25000"/>
                    </a:srgbClr>
                  </a:solidFill>
                </a:rPr>
                <a:t>Models</a:t>
              </a:r>
            </a:p>
          </p:txBody>
        </p:sp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5C4F07A3-7F7E-454B-909D-18BCFB0BD7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14289" y="10240895"/>
            <a:ext cx="396274" cy="51375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835F8A5-8965-4A86-BD98-73F4C625D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58642" y="10251514"/>
            <a:ext cx="827519" cy="58094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AE187EB-E774-40C8-AC3B-B4AFA435F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05533" y="11381065"/>
            <a:ext cx="396274" cy="51375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A51B541-DCD6-4AB8-A53D-AD3133D82F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49886" y="11391684"/>
            <a:ext cx="827519" cy="580947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07C6C833-BBCC-4991-89E6-BECB7DC4DEFF}"/>
              </a:ext>
            </a:extLst>
          </p:cNvPr>
          <p:cNvSpPr txBox="1"/>
          <p:nvPr userDrawn="1"/>
        </p:nvSpPr>
        <p:spPr>
          <a:xfrm>
            <a:off x="2827127" y="9562425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1BD2DA7-14AF-499E-9B8C-299B381CAEE0}"/>
              </a:ext>
            </a:extLst>
          </p:cNvPr>
          <p:cNvSpPr txBox="1"/>
          <p:nvPr userDrawn="1"/>
        </p:nvSpPr>
        <p:spPr>
          <a:xfrm>
            <a:off x="2827127" y="10711243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A374DEA-0A4E-40A9-A7D0-04E72C775915}"/>
              </a:ext>
            </a:extLst>
          </p:cNvPr>
          <p:cNvSpPr txBox="1"/>
          <p:nvPr userDrawn="1"/>
        </p:nvSpPr>
        <p:spPr>
          <a:xfrm>
            <a:off x="2829422" y="11853810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8ECFB35-06C7-473A-AF82-D292C2C36BB3}"/>
              </a:ext>
            </a:extLst>
          </p:cNvPr>
          <p:cNvSpPr/>
          <p:nvPr userDrawn="1"/>
        </p:nvSpPr>
        <p:spPr>
          <a:xfrm>
            <a:off x="1887794" y="8758933"/>
            <a:ext cx="8137319" cy="3718202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FFFFFF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D26990-62A8-45BA-9427-57C294EB474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500" y="2350153"/>
            <a:ext cx="5326732" cy="2645411"/>
          </a:xfrm>
          <a:prstGeom prst="rect">
            <a:avLst/>
          </a:prstGeom>
        </p:spPr>
      </p:pic>
      <p:pic>
        <p:nvPicPr>
          <p:cNvPr id="4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4002DDE5-DCE8-632F-F2E0-B23526EC78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E84E9B-88B1-5570-8FCC-98BE5A319D9D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47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02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92">
          <p15:clr>
            <a:srgbClr val="F26B43"/>
          </p15:clr>
        </p15:guide>
        <p15:guide id="2" pos="7225">
          <p15:clr>
            <a:srgbClr val="F26B43"/>
          </p15:clr>
        </p15:guide>
        <p15:guide id="3" pos="5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ianmonetpro.unix.aacc.corp:15008/suite/sites/gop_peticiones/page/records/record/lYBLMSDV6OzQgMJoodDnW8iHUdQqNVwaQ0d2f7u6nKkFoOGQGvFlyRMbGTAlIQ8Noq7KqrewXYxsVeiaKPjI5c8FtNMHfinjVBqsKVb5bcDBAlfI2ccvg/view/summar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antander.service-now.com/incident.do?sys_id=32062d2787684398314431973cbb355a&amp;sysparm_record_target=incident&amp;sysparm_record_row=1&amp;sysparm_record_rows=2&amp;sysparm_record_list=opened_byDYNAMIC90d1921e5f510100a9ad2572f2b477fe%5EORcaller_idDYNAMIC90d1921e5f510100a9ad2572f2b477fe%5Eactive%3Dtrue%5Eu_segregation_restricted%3Dfalse%5EORopened_by%3D122c290c1b90f3480fe1ea08bd4bcb7e%5EORcaller_id%3D122c290c1b90f3480fe1ea08bd4bcb7e%5EORDERBYDESCopened_at%5EORDERBYsys_id" TargetMode="External"/><Relationship Id="rId4" Type="http://schemas.openxmlformats.org/officeDocument/2006/relationships/hyperlink" Target="https://santander.service-now.com/sc_req_item.do?sys_id=55db75af87248798314431973cbb357f&amp;sysparm_record_target=sc_req_item&amp;sysparm_record_row=5&amp;sysparm_record_rows=12&amp;sysparm_record_list=request.requested_forDYNAMIC90d1921e5f510100a9ad2572f2b477fe%5EORrequest.opened_byDYNAMIC90d1921e5f510100a9ad2572f2b477fe%5Eactive%3Dtrue%5Eu_segregation_restricted%3Dfalse%5EORopened_by%3D122c290c1b90f3480fe1ea08bd4bcb7e%5EORDERBYDESCopened_at%5EORDERBYsys_i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antander.service-now.com/rm_release.do?sys_id=b9d33998978cc75c235afe37f053af5b&amp;sysparm_view=release&amp;sysparm_record_target=rm_release&amp;sysparm_record_row=12&amp;sysparm_record_rows=18&amp;sysparm_record_list=sys_class_name%3Drm_release%5Eactive%3Dtrue%5Eassignment_groupDYNAMICd6435e965f510100a9ad2572f2b47744%5EORopened_byDYNAMIC90d1921e5f510100a9ad2572f2b477fe%5EORu_requested_byDYNAMIC90d1921e5f510100a9ad2572f2b477fe%5EORu_requested_groupDYNAMICd6435e965f510100a9ad2572f2b47744%5Eu_segregation_restricted%3Dfalse%5EORDERBYDESCsys_created_on%5EORDERBYsys_id&amp;sysparm_view=releas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ancorp.atlassian.net/wiki/spaces/PONEFCCDIL/pages/2504982532/OneFCC+-+BAU+Automa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ancorp.atlassian.net/wiki/spaces/PONEFCCDIL/pages/2504982532/OneFCC+-+BAU+Automa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antander.service-now.com/sc_req_item.do?sys_id=2c18e92c8707be5427ae0d480cbb3526&amp;sysparm_record_target=sc_req_item&amp;sysparm_catalog=719aafd0db031f448c6c7cde3b9619f8&amp;sysparm_catalog_view=catalog_technical_catalo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antandernet-my.sharepoint.com/personal/x982469_santanderglobaltech_com/Documents/Escritorio/Test_Release_1.xlsx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antandernet-my.sharepoint.com/personal/x982469_santanderglobaltech_com/Documents/Escritorio/RELEASE%201%20&#8211;%20Evidencias.docx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antander.service-now.com/rm_release.do?sys_id=16dc38ca477b3a9029ce6051e36d43c6&amp;sysparm_view=release&amp;sysparm_record_target=rm_release&amp;sysparm_record_row=2&amp;sysparm_record_rows=7&amp;sysparm_record_list=sys_class_name%3Drm_release%5Eactive%3Dtrue%5Eassignment_groupDYNAMICd6435e965f510100a9ad2572f2b47744%5EORopened_byDYNAMIC90d1921e5f510100a9ad2572f2b477fe%5EORu_requested_byDYNAMIC90d1921e5f510100a9ad2572f2b477fe%5EORu_requested_groupDYNAMICd6435e965f510100a9ad2572f2b47744%5Eu_segregation_restricted%3Dfalse%5EORDERBYDESCsys_created_on%5EORDERBYsys_id&amp;sysparm_view=releas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antander.service-now.com/rm_release.do?sys_id=2bfead96873fb614df27eb909bbb35c1&amp;sysparm_view=release&amp;sysparm_record_target=rm_release&amp;sysparm_record_row=1&amp;sysparm_record_rows=7&amp;sysparm_record_list=sys_class_name%3Drm_release%5Eactive%3Dtrue%5Eassignment_groupDYNAMICd6435e965f510100a9ad2572f2b47744%5EORopened_byDYNAMIC90d1921e5f510100a9ad2572f2b477fe%5EORu_requested_byDYNAMIC90d1921e5f510100a9ad2572f2b477fe%5EORu_requested_groupDYNAMICd6435e965f510100a9ad2572f2b47744%5Eu_segregation_restricted%3Dfalse%5EORDERBYDESCsys_created_on%5EORDERBYsys_id&amp;sysparm_view=release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antander.service-now.com/rm_release.do?sys_id=b9d33998978cc75c235afe37f053af5b&amp;sysparm_view=release&amp;sysparm_record_target=rm_release&amp;sysparm_record_row=2&amp;sysparm_record_rows=8&amp;sysparm_record_list=sys_class_name%3Drm_release%5Eactive%3Dtrue%5Eassignment_groupDYNAMICd6435e965f510100a9ad2572f2b47744%5EORopened_byDYNAMIC90d1921e5f510100a9ad2572f2b477fe%5EORu_requested_byDYNAMIC90d1921e5f510100a9ad2572f2b477fe%5EORu_requested_groupDYNAMICd6435e965f510100a9ad2572f2b47744%5Eu_segregation_restricted%3Dfalse%5EORDERBYDESCsys_created_on%5EORDERBYsys_id&amp;sysparm_view=release" TargetMode="External"/><Relationship Id="rId7" Type="http://schemas.openxmlformats.org/officeDocument/2006/relationships/hyperlink" Target="https://santander.service-now.com/sc_req_item.do?sys_id=24981b9747040f945ad61a7df26d437b&amp;sysparm_record_target=sc_req_item&amp;sysparm_record_row=1&amp;sysparm_record_rows=9&amp;sysparm_record_list=request.requested_forDYNAMIC90d1921e5f510100a9ad2572f2b477fe%5EORrequest.opened_byDYNAMIC90d1921e5f510100a9ad2572f2b477fe%5Eactive%3Dtrue%5Eu_segregation_restricted%3Dfalse%5EORopened_by%3D1aab6008978d29547b25b79fe153afd4%5EORDERBYDESCopened_at%5EORDERBYsys_id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antander.service-now.com/sc_req_item.do?sys_id=230486ac870ccb1cd08decee8bbb35bf&amp;sysparm_record_target=sc_req_item&amp;sysparm_record_row=2&amp;sysparm_record_rows=10&amp;sysparm_record_list=request.requested_forDYNAMIC90d1921e5f510100a9ad2572f2b477fe%5EORrequest.opened_byDYNAMIC90d1921e5f510100a9ad2572f2b477fe%5Eactive%3Dtrue%5Eu_segregation_restricted%3Dfalse%5EORopened_by%3D1aab6008978d29547b25b79fe153afd4%5EORDERBYDESCopened_at%5EORDERBYsys_id" TargetMode="External"/><Relationship Id="rId5" Type="http://schemas.openxmlformats.org/officeDocument/2006/relationships/hyperlink" Target="https://santander.service-now.com/rm_release.do?sys_id=16dc38ca477b3a9029ce6051e36d43c6&amp;sysparm_view=release&amp;sysparm_record_target=rm_release&amp;sysparm_record_row=4&amp;sysparm_record_rows=8&amp;sysparm_record_list=sys_class_name%3Drm_release%5Eactive%3Dtrue%5Eassignment_groupDYNAMICd6435e965f510100a9ad2572f2b47744%5EORopened_byDYNAMIC90d1921e5f510100a9ad2572f2b477fe%5EORu_requested_byDYNAMIC90d1921e5f510100a9ad2572f2b477fe%5EORu_requested_groupDYNAMICd6435e965f510100a9ad2572f2b47744%5Eu_segregation_restricted%3Dfalse%5EORDERBYDESCsys_created_on%5EORDERBYsys_id&amp;sysparm_view=release" TargetMode="External"/><Relationship Id="rId4" Type="http://schemas.openxmlformats.org/officeDocument/2006/relationships/hyperlink" Target="https://santander.service-now.com/rm_release.do?sys_id=2c46649c4708071443aec094f16d435c&amp;sysparm_view=release&amp;sysparm_record_target=rm_release&amp;sysparm_record_row=3&amp;sysparm_record_rows=8&amp;sysparm_record_list=sys_class_name%3Drm_release%5Eactive%3Dtrue%5Eassignment_groupDYNAMICd6435e965f510100a9ad2572f2b47744%5EORopened_byDYNAMIC90d1921e5f510100a9ad2572f2b477fe%5EORu_requested_byDYNAMIC90d1921e5f510100a9ad2572f2b477fe%5EORu_requested_groupDYNAMICd6435e965f510100a9ad2572f2b47744%5Eu_segregation_restricted%3Dfalse%5EORDERBYDESCsys_created_on%5EORDERBYsys_id&amp;sysparm_view=release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ianmonetpro.unix.aacc.corp:15008/suite/sites/gop_peticiones/page/records/record/lYBLMSDV6OzQgMJoodDnW8iHUdQqNVwaQ0d2f7u6nKkFoOGQGvFlyRMbGTAlIQ8Noq7KqrewXYxsVeiaKPiI5M4FpvUl86OixVbBY2GpJhL74T3reqHAw/view/summar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antander.service-now.com/rm_task.do?sys_id=729705ce47f3ba9029ce6051e36d43c4&amp;sysparm_view=release&amp;sysparm_record_target=rm_task&amp;sysparm_record_row=4&amp;sysparm_record_rows=5&amp;sysparm_record_list=top_task%3D16dc38ca477b3a9029ce6051e36d43c6%5Eu_segregation_restricted%3Dfalse%5EORDERBYorder%5EORDERBYsys_id&amp;sysparm_view=releas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ppianmonetpro.unix.aacc.corp:15008/suite/sites/gop_peticiones/page/records/record/lYBLMSDV6OzQgMJoodDnW8iHUdQqNVwaQ0d2f7u6nKkFoOGQGvFlyRMbGTAlIQ8Noq7KqrewXYxsVeiaKPiIZUxFtsMhTFuKwzWXsZuZE7P_3guod6I2w/view/summary" TargetMode="External"/><Relationship Id="rId4" Type="http://schemas.openxmlformats.org/officeDocument/2006/relationships/hyperlink" Target="https://santander.service-now.com/rm_release.do?sys_id=16dc38ca477b3a9029ce6051e36d43c6&amp;sysparm_view=release&amp;sysparm_record_target=rm_release&amp;sysparm_record_row=6&amp;sysparm_record_rows=10&amp;sysparm_record_list=sys_class_name%3Drm_release%5Eactive%3Dtrue%5Eassignment_groupDYNAMICd6435e965f510100a9ad2572f2b47744%5EORopened_byDYNAMIC90d1921e5f510100a9ad2572f2b477fe%5EORu_requested_byDYNAMIC90d1921e5f510100a9ad2572f2b477fe%5EORu_requested_groupDYNAMICd6435e965f510100a9ad2572f2b47744%5Eu_segregation_restricted%3Dfalse%5EORDERBYDESCsys_created_on%5EORDERBYsys_id&amp;sysparm_view=release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jpe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jpeg"/><Relationship Id="rId18" Type="http://schemas.openxmlformats.org/officeDocument/2006/relationships/image" Target="../media/image41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12" Type="http://schemas.openxmlformats.org/officeDocument/2006/relationships/image" Target="../media/image36.jpe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svg"/><Relationship Id="rId19" Type="http://schemas.openxmlformats.org/officeDocument/2006/relationships/image" Target="../media/image26.svg"/><Relationship Id="rId4" Type="http://schemas.openxmlformats.org/officeDocument/2006/relationships/image" Target="../media/image28.jpeg"/><Relationship Id="rId9" Type="http://schemas.openxmlformats.org/officeDocument/2006/relationships/image" Target="../media/image33.svg"/><Relationship Id="rId14" Type="http://schemas.openxmlformats.org/officeDocument/2006/relationships/image" Target="../media/image3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8.png"/><Relationship Id="rId9" Type="http://schemas.openxmlformats.org/officeDocument/2006/relationships/image" Target="../media/image45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s-ES" noProof="0" dirty="0"/>
              <a:t>Seguimiento Automatización de actividades BAU OneFCC</a:t>
            </a:r>
          </a:p>
        </p:txBody>
      </p:sp>
    </p:spTree>
    <p:extLst>
      <p:ext uri="{BB962C8B-B14F-4D97-AF65-F5344CB8AC3E}">
        <p14:creationId xmlns:p14="http://schemas.microsoft.com/office/powerpoint/2010/main" val="184936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2F73F-E893-A4D7-8BB2-253775D8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98FB3-B396-DD9C-FFEB-3260B2762614}"/>
              </a:ext>
            </a:extLst>
          </p:cNvPr>
          <p:cNvSpPr/>
          <p:nvPr/>
        </p:nvSpPr>
        <p:spPr>
          <a:xfrm>
            <a:off x="815788" y="905434"/>
            <a:ext cx="7628965" cy="49485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400"/>
              </a:spcBef>
            </a:pPr>
            <a:r>
              <a:rPr lang="es-ES" sz="2400" noProof="0" dirty="0">
                <a:solidFill>
                  <a:srgbClr val="FF0000"/>
                </a:solidFill>
              </a:rPr>
              <a:t>1. </a:t>
            </a:r>
            <a:r>
              <a:rPr lang="es-ES" sz="3200" noProof="0" dirty="0">
                <a:solidFill>
                  <a:schemeClr val="bg1">
                    <a:lumMod val="50000"/>
                  </a:schemeClr>
                </a:solidFill>
              </a:rPr>
              <a:t>Avance semanal</a:t>
            </a:r>
          </a:p>
          <a:p>
            <a:pPr>
              <a:spcBef>
                <a:spcPts val="2400"/>
              </a:spcBef>
            </a:pPr>
            <a:r>
              <a:rPr lang="es-ES" sz="2400" noProof="0" dirty="0">
                <a:solidFill>
                  <a:srgbClr val="FF0000"/>
                </a:solidFill>
              </a:rPr>
              <a:t>2. </a:t>
            </a:r>
            <a:r>
              <a:rPr lang="es-ES" sz="3200" noProof="0" dirty="0">
                <a:solidFill>
                  <a:schemeClr val="bg1">
                    <a:lumMod val="50000"/>
                  </a:schemeClr>
                </a:solidFill>
              </a:rPr>
              <a:t>Riesgos</a:t>
            </a:r>
          </a:p>
          <a:p>
            <a:pPr>
              <a:spcBef>
                <a:spcPts val="2400"/>
              </a:spcBef>
            </a:pPr>
            <a:r>
              <a:rPr lang="es-ES" sz="2400" noProof="0" dirty="0">
                <a:solidFill>
                  <a:srgbClr val="FF0000"/>
                </a:solidFill>
              </a:rPr>
              <a:t>3. </a:t>
            </a:r>
            <a:r>
              <a:rPr lang="es-ES" sz="3200" noProof="0" dirty="0">
                <a:solidFill>
                  <a:schemeClr val="bg1">
                    <a:lumMod val="50000"/>
                  </a:schemeClr>
                </a:solidFill>
              </a:rPr>
              <a:t>Cronograma</a:t>
            </a:r>
          </a:p>
          <a:p>
            <a:pPr>
              <a:spcBef>
                <a:spcPts val="2400"/>
              </a:spcBef>
            </a:pPr>
            <a:r>
              <a:rPr lang="es-ES" sz="2400" noProof="0" dirty="0">
                <a:solidFill>
                  <a:srgbClr val="FF0000"/>
                </a:solidFill>
              </a:rPr>
              <a:t>4. </a:t>
            </a:r>
            <a:r>
              <a:rPr lang="es-ES" sz="3200" noProof="0" dirty="0">
                <a:solidFill>
                  <a:schemeClr val="bg1">
                    <a:lumMod val="50000"/>
                  </a:schemeClr>
                </a:solidFill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103074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3F9A-F76D-FF8B-F33C-2A8366E1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Avance semanal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7B83A-57D0-85AF-1D1B-5DD8A9DBA3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noProof="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8009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973D-44C1-9FB3-0F71-0272FA49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97734-DC60-EF6B-296B-9F94AE8E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4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8E09D3-EB0C-9CF1-C7C9-C39B871332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08/05/2026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897D2D-49D6-3587-B230-E5443CDEF62E}"/>
              </a:ext>
            </a:extLst>
          </p:cNvPr>
          <p:cNvSpPr/>
          <p:nvPr/>
        </p:nvSpPr>
        <p:spPr>
          <a:xfrm>
            <a:off x="300500" y="1066442"/>
            <a:ext cx="5645250" cy="3076933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/>
              <a:t>Se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despliega la versión v0.3.13 de R1 en PRE. Se replican los problemas de escritura en Snowflake.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completa el desarrollo de R2B en DEV. Se están completando las pruebas unitarias.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completa la definición y se avanza en el desarrollo de R3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304C80-1C86-E475-207A-5C408266228D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19298-009D-87FE-2B6C-E3007C89DBDD}"/>
              </a:ext>
            </a:extLst>
          </p:cNvPr>
          <p:cNvSpPr/>
          <p:nvPr/>
        </p:nvSpPr>
        <p:spPr>
          <a:xfrm>
            <a:off x="310332" y="4541418"/>
            <a:ext cx="5645250" cy="1578532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97FC2-4645-52CB-2BCC-3F79AA7AF3EB}"/>
              </a:ext>
            </a:extLst>
          </p:cNvPr>
          <p:cNvSpPr/>
          <p:nvPr/>
        </p:nvSpPr>
        <p:spPr>
          <a:xfrm>
            <a:off x="300500" y="421639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E84A2B-6B77-1868-82FB-1444E84B8E95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86326C-8337-7B2A-42E1-2E274E04E2A2}"/>
              </a:ext>
            </a:extLst>
          </p:cNvPr>
          <p:cNvSpPr/>
          <p:nvPr/>
        </p:nvSpPr>
        <p:spPr>
          <a:xfrm>
            <a:off x="6246250" y="4230300"/>
            <a:ext cx="5645250" cy="188965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la resolución de la petición </a:t>
            </a:r>
            <a:r>
              <a:rPr lang="es-ES" sz="1100" dirty="0">
                <a:hlinkClick r:id="rId3"/>
              </a:rPr>
              <a:t>71415</a:t>
            </a:r>
            <a:r>
              <a:rPr lang="es-ES" sz="1100" dirty="0"/>
              <a:t> de GoPortal.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Despliegue en PRE de R2A y R2B: Pendientes de solucionar el problema de SIF PRE</a:t>
            </a:r>
            <a:r>
              <a:rPr lang="es-ES" sz="1100" dirty="0"/>
              <a:t>. </a:t>
            </a:r>
            <a:r>
              <a:rPr lang="es-ES" sz="1100" dirty="0">
                <a:hlinkClick r:id="rId4" tooltip="https://santander.service-now.com/sc_req_item.do?sys_id=55db75af87248798314431973cbb357f&amp;sysparm_record_target=sc_req_item&amp;sysparm_record_row=5&amp;sysparm_record_rows=12&amp;sysparm_record_list=request.requested_fordynamic90d1921e5f510100a9ad2572f2b477fe%5eorrequest.opened_bydynamic90d1921e5f510100a9ad2572f2b477fe%5eactive%3dtrue%5eu_segregation_restricted%3dfalse%5eoropened_by%3d122c290c1b90f3480fe1ea08bd4bcb7e%5eorderbydescopened_at%5eorderbysys_id"/>
              </a:rPr>
              <a:t>RITM020442178</a:t>
            </a:r>
            <a:r>
              <a:rPr lang="es-ES" sz="1100" dirty="0"/>
              <a:t> / </a:t>
            </a:r>
            <a:r>
              <a:rPr lang="es-ES" sz="1100" dirty="0">
                <a:hlinkClick r:id="rId5" tooltip="https://santander.service-now.com/incident.do?sys_id=32062d2787684398314431973cbb355a&amp;sysparm_record_target=incident&amp;sysparm_record_row=1&amp;sysparm_record_rows=2&amp;sysparm_record_list=opened_bydynamic90d1921e5f510100a9ad2572f2b477fe%5eorcaller_iddynamic90d1921e5f510100a9ad2572f2b477fe%5eactive%3dtrue%5eu_segregation_restricted%3dfalse%5eoropened_by%3d122c290c1b90f3480fe1ea08bd4bcb7e%5eorcaller_id%3d122c290c1b90f3480fe1ea08bd4bcb7e%5eorderbydescopened_at%5eorderbysys_id"/>
              </a:rPr>
              <a:t>INC066738053</a:t>
            </a:r>
            <a:endParaRPr lang="es-ES" sz="1100" dirty="0"/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2E1310-7BBE-A963-BA4B-55568B1BD30E}"/>
              </a:ext>
            </a:extLst>
          </p:cNvPr>
          <p:cNvSpPr/>
          <p:nvPr/>
        </p:nvSpPr>
        <p:spPr>
          <a:xfrm>
            <a:off x="6246250" y="3888650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42EE16FB-E0EC-219F-1825-B0817DC2B9F6}"/>
              </a:ext>
            </a:extLst>
          </p:cNvPr>
          <p:cNvSpPr/>
          <p:nvPr/>
        </p:nvSpPr>
        <p:spPr>
          <a:xfrm>
            <a:off x="6246250" y="1066441"/>
            <a:ext cx="5645250" cy="257528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Completar el desarrollo de R3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R2A, R2B y R3 en 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Shakedown de R1 en PRE.</a:t>
            </a:r>
          </a:p>
        </p:txBody>
      </p:sp>
    </p:spTree>
    <p:extLst>
      <p:ext uri="{BB962C8B-B14F-4D97-AF65-F5344CB8AC3E}">
        <p14:creationId xmlns:p14="http://schemas.microsoft.com/office/powerpoint/2010/main" val="40141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A216A-221A-9A3F-0F3C-E6BE53520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BA3FED-C93A-1999-FBC7-F84397FDC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5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00BD85-223B-8DB3-BE37-C088AEFD5E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18/05/2026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E07D72-5694-94F1-6D5E-7A579299B3FF}"/>
              </a:ext>
            </a:extLst>
          </p:cNvPr>
          <p:cNvSpPr/>
          <p:nvPr/>
        </p:nvSpPr>
        <p:spPr>
          <a:xfrm>
            <a:off x="300500" y="1066442"/>
            <a:ext cx="5645250" cy="3076933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/>
              <a:t>Se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completa el desarrollo y testing de R2B y R3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Release de despliegue en PRE de R2A, R2B y R3: </a:t>
            </a:r>
            <a:r>
              <a:rPr lang="es-ES" sz="1100" dirty="0">
                <a:hlinkClick r:id="rId3"/>
              </a:rPr>
              <a:t>RLSE1334886</a:t>
            </a:r>
            <a:r>
              <a:rPr lang="es-ES" sz="1100" dirty="0"/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termina la documentación del proyecto en Confluence.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75480E-68F8-8224-2606-191FBC9F4EBB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2514ED-FEDB-A143-494B-0A10E5EA1BA5}"/>
              </a:ext>
            </a:extLst>
          </p:cNvPr>
          <p:cNvSpPr/>
          <p:nvPr/>
        </p:nvSpPr>
        <p:spPr>
          <a:xfrm>
            <a:off x="310332" y="4541418"/>
            <a:ext cx="5645250" cy="1578532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¿Considerar el campo executionType en la tabla BAU_RECONCILIATION_RECORDS?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04BFA-8624-3775-F9EE-ADCAB7858695}"/>
              </a:ext>
            </a:extLst>
          </p:cNvPr>
          <p:cNvSpPr/>
          <p:nvPr/>
        </p:nvSpPr>
        <p:spPr>
          <a:xfrm>
            <a:off x="300500" y="421639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295AD-5670-3E7B-D98C-2F617ABAE4F3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E2AFA5-A0BF-47A7-ACAD-AB946B95AFFC}"/>
              </a:ext>
            </a:extLst>
          </p:cNvPr>
          <p:cNvSpPr/>
          <p:nvPr/>
        </p:nvSpPr>
        <p:spPr>
          <a:xfrm>
            <a:off x="6246250" y="4230300"/>
            <a:ext cx="5645250" cy="188965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32D762-F57B-D491-41C2-D32B8A1F88AB}"/>
              </a:ext>
            </a:extLst>
          </p:cNvPr>
          <p:cNvSpPr/>
          <p:nvPr/>
        </p:nvSpPr>
        <p:spPr>
          <a:xfrm>
            <a:off x="6246250" y="3888650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9AAF3376-0E58-4A27-FEB2-86C359A38129}"/>
              </a:ext>
            </a:extLst>
          </p:cNvPr>
          <p:cNvSpPr/>
          <p:nvPr/>
        </p:nvSpPr>
        <p:spPr>
          <a:xfrm>
            <a:off x="6246250" y="1066441"/>
            <a:ext cx="5645250" cy="257528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Traspasar el conocimiento del proyecto al equipo correspondiente.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Incluir los puntos que revisamos ayer en la reunión de traspaso.</a:t>
            </a:r>
          </a:p>
        </p:txBody>
      </p:sp>
    </p:spTree>
    <p:extLst>
      <p:ext uri="{BB962C8B-B14F-4D97-AF65-F5344CB8AC3E}">
        <p14:creationId xmlns:p14="http://schemas.microsoft.com/office/powerpoint/2010/main" val="163558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4612-65D8-4DB4-B7DD-34C3BDEF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2">
            <a:extLst>
              <a:ext uri="{FF2B5EF4-FFF2-40B4-BE49-F238E27FC236}">
                <a16:creationId xmlns:a16="http://schemas.microsoft.com/office/drawing/2014/main" id="{1674B283-EC85-60AA-C308-C2800D6BF68C}"/>
              </a:ext>
            </a:extLst>
          </p:cNvPr>
          <p:cNvSpPr/>
          <p:nvPr/>
        </p:nvSpPr>
        <p:spPr>
          <a:xfrm>
            <a:off x="5759835" y="2157289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3B581E-2100-3E15-BC69-4D57FAFE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1320" y="6295325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6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8995A-D7AE-9358-6E0F-D28EA27E11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Visión global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F77FC-E62B-B31F-37A8-982F21F64214}"/>
              </a:ext>
            </a:extLst>
          </p:cNvPr>
          <p:cNvSpPr txBox="1"/>
          <p:nvPr/>
        </p:nvSpPr>
        <p:spPr>
          <a:xfrm>
            <a:off x="764253" y="1038043"/>
            <a:ext cx="2988000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BAU-5 – ALERTAS MOTOR WARNING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2DB77-B54B-9F7B-FC8E-452DFC4CD947}"/>
              </a:ext>
            </a:extLst>
          </p:cNvPr>
          <p:cNvSpPr txBox="1"/>
          <p:nvPr/>
        </p:nvSpPr>
        <p:spPr>
          <a:xfrm>
            <a:off x="764253" y="1411125"/>
            <a:ext cx="2988000" cy="25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BAU-6 - ALERTAS MOTOR KO	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07B76E-02E2-F37C-EF60-6F2A85573214}"/>
              </a:ext>
            </a:extLst>
          </p:cNvPr>
          <p:cNvSpPr txBox="1"/>
          <p:nvPr/>
        </p:nvSpPr>
        <p:spPr>
          <a:xfrm>
            <a:off x="764253" y="1784207"/>
            <a:ext cx="2988000" cy="25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BAU-7 - FALLOS ALERTAS MOTOR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6BA16C-E75A-5F1C-108A-0D3711658126}"/>
              </a:ext>
            </a:extLst>
          </p:cNvPr>
          <p:cNvSpPr txBox="1"/>
          <p:nvPr/>
        </p:nvSpPr>
        <p:spPr>
          <a:xfrm>
            <a:off x="764253" y="2157289"/>
            <a:ext cx="2988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BAU-1 - REVISION INGESTA DH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F63D39-A0AB-E55B-478A-2FD530F2BF19}"/>
              </a:ext>
            </a:extLst>
          </p:cNvPr>
          <p:cNvSpPr txBox="1"/>
          <p:nvPr/>
        </p:nvSpPr>
        <p:spPr>
          <a:xfrm>
            <a:off x="764253" y="2530371"/>
            <a:ext cx="2988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BAU-2 - VOLUMETRÍAS DH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5258D4-7B0C-1116-DC0C-CD30FC18FEEA}"/>
              </a:ext>
            </a:extLst>
          </p:cNvPr>
          <p:cNvSpPr txBox="1"/>
          <p:nvPr/>
        </p:nvSpPr>
        <p:spPr>
          <a:xfrm>
            <a:off x="764253" y="3276535"/>
            <a:ext cx="2988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BAU-4 - INTEGRIDAD REFERENCIAL DH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9BE3C2-ED78-C604-25FF-61874D353AD3}"/>
              </a:ext>
            </a:extLst>
          </p:cNvPr>
          <p:cNvSpPr txBox="1"/>
          <p:nvPr/>
        </p:nvSpPr>
        <p:spPr>
          <a:xfrm>
            <a:off x="764253" y="3649617"/>
            <a:ext cx="2988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BAU-18 - PROACTIVOS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6E8EBB-EA98-F42F-D486-321A8A3FCA20}"/>
              </a:ext>
            </a:extLst>
          </p:cNvPr>
          <p:cNvSpPr txBox="1"/>
          <p:nvPr/>
        </p:nvSpPr>
        <p:spPr>
          <a:xfrm>
            <a:off x="764253" y="4022699"/>
            <a:ext cx="2988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BAU-19 - REACTIVOS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DDA201-92C9-F2DA-A89B-682176A7BE22}"/>
              </a:ext>
            </a:extLst>
          </p:cNvPr>
          <p:cNvSpPr txBox="1"/>
          <p:nvPr/>
        </p:nvSpPr>
        <p:spPr>
          <a:xfrm>
            <a:off x="764253" y="4395781"/>
            <a:ext cx="2988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BAU-8 - REVISION CONSUMOS TM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BC7FDE-2276-0DD0-0BAF-B40E3665BC08}"/>
              </a:ext>
            </a:extLst>
          </p:cNvPr>
          <p:cNvSpPr txBox="1"/>
          <p:nvPr/>
        </p:nvSpPr>
        <p:spPr>
          <a:xfrm>
            <a:off x="764253" y="4768863"/>
            <a:ext cx="2988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BAU-12 - REPORTE PROYECTO Y CORREO TM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6041D1-09AE-CDC3-5ADC-9C27F9923E28}"/>
              </a:ext>
            </a:extLst>
          </p:cNvPr>
          <p:cNvSpPr txBox="1"/>
          <p:nvPr/>
        </p:nvSpPr>
        <p:spPr>
          <a:xfrm>
            <a:off x="764253" y="5141945"/>
            <a:ext cx="2988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BAU-20 - CORREO TRX TYPE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D13BF7-E713-6830-8602-6BD79030A7D8}"/>
              </a:ext>
            </a:extLst>
          </p:cNvPr>
          <p:cNvSpPr txBox="1"/>
          <p:nvPr/>
        </p:nvSpPr>
        <p:spPr>
          <a:xfrm>
            <a:off x="764253" y="5515028"/>
            <a:ext cx="2988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noProof="0" dirty="0"/>
              <a:t>MODELO DE GESTIÓN DE INCIDENCIAS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267B7A-6216-AE8E-F839-43ACFFE99E7F}"/>
              </a:ext>
            </a:extLst>
          </p:cNvPr>
          <p:cNvSpPr txBox="1"/>
          <p:nvPr/>
        </p:nvSpPr>
        <p:spPr>
          <a:xfrm>
            <a:off x="351731" y="937468"/>
            <a:ext cx="360000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noProof="0" dirty="0"/>
              <a:t>MVP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DF6446-F86D-3973-5B3E-91A7703FD4F3}"/>
              </a:ext>
            </a:extLst>
          </p:cNvPr>
          <p:cNvSpPr txBox="1"/>
          <p:nvPr/>
        </p:nvSpPr>
        <p:spPr>
          <a:xfrm>
            <a:off x="351731" y="1406780"/>
            <a:ext cx="360000" cy="6215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noProof="0" dirty="0"/>
              <a:t>R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F78F55-C7A3-A9F3-9106-A9A496E0ED2A}"/>
              </a:ext>
            </a:extLst>
          </p:cNvPr>
          <p:cNvSpPr txBox="1"/>
          <p:nvPr/>
        </p:nvSpPr>
        <p:spPr>
          <a:xfrm>
            <a:off x="351731" y="2134348"/>
            <a:ext cx="360000" cy="13941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noProof="0" dirty="0"/>
              <a:t>R 2 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EA1A8B-A5DE-7CC3-FCA6-6FA8D17CE68C}"/>
              </a:ext>
            </a:extLst>
          </p:cNvPr>
          <p:cNvSpPr txBox="1"/>
          <p:nvPr/>
        </p:nvSpPr>
        <p:spPr>
          <a:xfrm>
            <a:off x="342206" y="4390148"/>
            <a:ext cx="360000" cy="1412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noProof="0" dirty="0"/>
              <a:t>R 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839A28-453B-2D64-67D2-D64BDC1F8E71}"/>
              </a:ext>
            </a:extLst>
          </p:cNvPr>
          <p:cNvSpPr/>
          <p:nvPr/>
        </p:nvSpPr>
        <p:spPr>
          <a:xfrm>
            <a:off x="7649166" y="1038043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3B0EFD-15F5-5860-A00B-7735C15E1097}"/>
              </a:ext>
            </a:extLst>
          </p:cNvPr>
          <p:cNvSpPr/>
          <p:nvPr/>
        </p:nvSpPr>
        <p:spPr>
          <a:xfrm>
            <a:off x="7649166" y="1411125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07EFF4-FD5C-F15B-0668-F5B21E08101C}"/>
              </a:ext>
            </a:extLst>
          </p:cNvPr>
          <p:cNvSpPr txBox="1"/>
          <p:nvPr/>
        </p:nvSpPr>
        <p:spPr>
          <a:xfrm>
            <a:off x="4216003" y="587429"/>
            <a:ext cx="1133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Definición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E71AA2-CD52-8C8A-2A78-D6F538717AE9}"/>
              </a:ext>
            </a:extLst>
          </p:cNvPr>
          <p:cNvSpPr txBox="1"/>
          <p:nvPr/>
        </p:nvSpPr>
        <p:spPr>
          <a:xfrm>
            <a:off x="8854177" y="412754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Despliegue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5872AFF-63AF-6522-16E8-29979A722692}"/>
              </a:ext>
            </a:extLst>
          </p:cNvPr>
          <p:cNvSpPr/>
          <p:nvPr/>
        </p:nvSpPr>
        <p:spPr>
          <a:xfrm>
            <a:off x="7649166" y="1784207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FCC1A42-55A6-D24B-64FD-E691021EE461}"/>
              </a:ext>
            </a:extLst>
          </p:cNvPr>
          <p:cNvSpPr/>
          <p:nvPr/>
        </p:nvSpPr>
        <p:spPr>
          <a:xfrm>
            <a:off x="7649166" y="2157289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D2E2717-C43A-ECDE-2AF0-35510496A71B}"/>
              </a:ext>
            </a:extLst>
          </p:cNvPr>
          <p:cNvSpPr/>
          <p:nvPr/>
        </p:nvSpPr>
        <p:spPr>
          <a:xfrm>
            <a:off x="7649166" y="2530371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524EFE8-CC9D-0320-CE7A-93257E212B76}"/>
              </a:ext>
            </a:extLst>
          </p:cNvPr>
          <p:cNvSpPr/>
          <p:nvPr/>
        </p:nvSpPr>
        <p:spPr>
          <a:xfrm>
            <a:off x="7649166" y="2903453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52A9C03-0DDF-8D42-2B0D-4FC1C578CB55}"/>
              </a:ext>
            </a:extLst>
          </p:cNvPr>
          <p:cNvSpPr/>
          <p:nvPr/>
        </p:nvSpPr>
        <p:spPr>
          <a:xfrm>
            <a:off x="7649166" y="3276535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788BEB-B435-1341-171B-F3CCC34F9A58}"/>
              </a:ext>
            </a:extLst>
          </p:cNvPr>
          <p:cNvSpPr/>
          <p:nvPr/>
        </p:nvSpPr>
        <p:spPr>
          <a:xfrm>
            <a:off x="7649166" y="3649617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E952ADE-6CE3-F5BE-C831-74234DEA9961}"/>
              </a:ext>
            </a:extLst>
          </p:cNvPr>
          <p:cNvSpPr/>
          <p:nvPr/>
        </p:nvSpPr>
        <p:spPr>
          <a:xfrm>
            <a:off x="7639641" y="4395781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9CA72B-C7C5-AC10-4479-3DE5B6BB3005}"/>
              </a:ext>
            </a:extLst>
          </p:cNvPr>
          <p:cNvSpPr/>
          <p:nvPr/>
        </p:nvSpPr>
        <p:spPr>
          <a:xfrm>
            <a:off x="7639641" y="4768863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C979E06-EDD9-4FC7-64F8-B1438EE0EC9B}"/>
              </a:ext>
            </a:extLst>
          </p:cNvPr>
          <p:cNvSpPr/>
          <p:nvPr/>
        </p:nvSpPr>
        <p:spPr>
          <a:xfrm>
            <a:off x="7639641" y="5141945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FCEBA9C-9755-4C9C-E02A-5A7EAC42260B}"/>
              </a:ext>
            </a:extLst>
          </p:cNvPr>
          <p:cNvSpPr/>
          <p:nvPr/>
        </p:nvSpPr>
        <p:spPr>
          <a:xfrm>
            <a:off x="7639641" y="5515028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99" name="Straight Connector 31">
            <a:extLst>
              <a:ext uri="{FF2B5EF4-FFF2-40B4-BE49-F238E27FC236}">
                <a16:creationId xmlns:a16="http://schemas.microsoft.com/office/drawing/2014/main" id="{4C9F9C33-14BF-6F0D-D79A-893F0CA4623F}"/>
              </a:ext>
            </a:extLst>
          </p:cNvPr>
          <p:cNvCxnSpPr>
            <a:cxnSpLocks/>
          </p:cNvCxnSpPr>
          <p:nvPr/>
        </p:nvCxnSpPr>
        <p:spPr>
          <a:xfrm>
            <a:off x="10131832" y="956761"/>
            <a:ext cx="0" cy="5004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4412A29-BCA8-3299-9327-D4F89103F18C}"/>
              </a:ext>
            </a:extLst>
          </p:cNvPr>
          <p:cNvSpPr txBox="1"/>
          <p:nvPr/>
        </p:nvSpPr>
        <p:spPr>
          <a:xfrm>
            <a:off x="9788055" y="758505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noProof="0" dirty="0"/>
              <a:t>PRE (60%)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DC66CC7-FB4B-98F5-45DC-1F16DE2DAE64}"/>
              </a:ext>
            </a:extLst>
          </p:cNvPr>
          <p:cNvSpPr txBox="1"/>
          <p:nvPr/>
        </p:nvSpPr>
        <p:spPr>
          <a:xfrm>
            <a:off x="10650773" y="758505"/>
            <a:ext cx="7986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noProof="0" dirty="0"/>
              <a:t>PRO (100%)</a:t>
            </a:r>
          </a:p>
        </p:txBody>
      </p:sp>
      <p:cxnSp>
        <p:nvCxnSpPr>
          <p:cNvPr id="2" name="Straight Connector 31">
            <a:extLst>
              <a:ext uri="{FF2B5EF4-FFF2-40B4-BE49-F238E27FC236}">
                <a16:creationId xmlns:a16="http://schemas.microsoft.com/office/drawing/2014/main" id="{C51BAD20-89E2-4450-26C7-9270BD61D0DB}"/>
              </a:ext>
            </a:extLst>
          </p:cNvPr>
          <p:cNvCxnSpPr>
            <a:cxnSpLocks/>
          </p:cNvCxnSpPr>
          <p:nvPr/>
        </p:nvCxnSpPr>
        <p:spPr>
          <a:xfrm>
            <a:off x="8884057" y="956761"/>
            <a:ext cx="0" cy="5004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138DFDC-D092-DE7A-37F6-37CC0EB74C43}"/>
              </a:ext>
            </a:extLst>
          </p:cNvPr>
          <p:cNvSpPr txBox="1"/>
          <p:nvPr/>
        </p:nvSpPr>
        <p:spPr>
          <a:xfrm>
            <a:off x="8521230" y="758505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noProof="0" dirty="0"/>
              <a:t>DEV (30%)</a:t>
            </a: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A57B3A6F-E0A9-7F81-9165-15B8725AC87F}"/>
              </a:ext>
            </a:extLst>
          </p:cNvPr>
          <p:cNvSpPr txBox="1"/>
          <p:nvPr/>
        </p:nvSpPr>
        <p:spPr>
          <a:xfrm>
            <a:off x="764253" y="2903453"/>
            <a:ext cx="2988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BAU-3 - </a:t>
            </a:r>
            <a:r>
              <a:rPr lang="es-ES" sz="1200" noProof="0" dirty="0">
                <a:solidFill>
                  <a:srgbClr val="FFFFFF"/>
                </a:solidFill>
                <a:latin typeface="Santander Text"/>
                <a:ea typeface="Calibri"/>
                <a:cs typeface="Calibri"/>
              </a:rPr>
              <a:t>ALERTAS ING DH</a:t>
            </a:r>
          </a:p>
        </p:txBody>
      </p:sp>
      <p:sp>
        <p:nvSpPr>
          <p:cNvPr id="8" name="Rectangle 64">
            <a:extLst>
              <a:ext uri="{FF2B5EF4-FFF2-40B4-BE49-F238E27FC236}">
                <a16:creationId xmlns:a16="http://schemas.microsoft.com/office/drawing/2014/main" id="{02CA0859-ECF5-77B3-7790-D5ED400C3626}"/>
              </a:ext>
            </a:extLst>
          </p:cNvPr>
          <p:cNvSpPr/>
          <p:nvPr/>
        </p:nvSpPr>
        <p:spPr>
          <a:xfrm>
            <a:off x="7649166" y="4022699"/>
            <a:ext cx="3631832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TextBox 45">
            <a:extLst>
              <a:ext uri="{FF2B5EF4-FFF2-40B4-BE49-F238E27FC236}">
                <a16:creationId xmlns:a16="http://schemas.microsoft.com/office/drawing/2014/main" id="{B5959F6C-940A-8749-4B25-FD7BCA167B8E}"/>
              </a:ext>
            </a:extLst>
          </p:cNvPr>
          <p:cNvSpPr txBox="1"/>
          <p:nvPr/>
        </p:nvSpPr>
        <p:spPr>
          <a:xfrm>
            <a:off x="6061267" y="587429"/>
            <a:ext cx="1149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Desarrollo</a:t>
            </a:r>
          </a:p>
        </p:txBody>
      </p:sp>
      <p:sp>
        <p:nvSpPr>
          <p:cNvPr id="23" name="Rectangle 42">
            <a:extLst>
              <a:ext uri="{FF2B5EF4-FFF2-40B4-BE49-F238E27FC236}">
                <a16:creationId xmlns:a16="http://schemas.microsoft.com/office/drawing/2014/main" id="{DEB3C4E0-9E23-D70A-343F-4D6DFE829EC6}"/>
              </a:ext>
            </a:extLst>
          </p:cNvPr>
          <p:cNvSpPr/>
          <p:nvPr/>
        </p:nvSpPr>
        <p:spPr>
          <a:xfrm>
            <a:off x="3880030" y="2560698"/>
            <a:ext cx="1752026" cy="2216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7" name="Rectangle 42">
            <a:extLst>
              <a:ext uri="{FF2B5EF4-FFF2-40B4-BE49-F238E27FC236}">
                <a16:creationId xmlns:a16="http://schemas.microsoft.com/office/drawing/2014/main" id="{3405E01B-E4B0-F7D2-A526-FAA3A03581C3}"/>
              </a:ext>
            </a:extLst>
          </p:cNvPr>
          <p:cNvSpPr/>
          <p:nvPr/>
        </p:nvSpPr>
        <p:spPr>
          <a:xfrm>
            <a:off x="5759834" y="2530371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1" name="Rectangle 51">
            <a:extLst>
              <a:ext uri="{FF2B5EF4-FFF2-40B4-BE49-F238E27FC236}">
                <a16:creationId xmlns:a16="http://schemas.microsoft.com/office/drawing/2014/main" id="{68C7A4DA-571A-4799-29DA-E6F82C892432}"/>
              </a:ext>
            </a:extLst>
          </p:cNvPr>
          <p:cNvSpPr/>
          <p:nvPr/>
        </p:nvSpPr>
        <p:spPr>
          <a:xfrm>
            <a:off x="5747166" y="2903453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6" name="Rectangle 51">
            <a:extLst>
              <a:ext uri="{FF2B5EF4-FFF2-40B4-BE49-F238E27FC236}">
                <a16:creationId xmlns:a16="http://schemas.microsoft.com/office/drawing/2014/main" id="{80B029E7-0EA9-371B-0ADE-2CCEDADF6DE9}"/>
              </a:ext>
            </a:extLst>
          </p:cNvPr>
          <p:cNvSpPr/>
          <p:nvPr/>
        </p:nvSpPr>
        <p:spPr>
          <a:xfrm>
            <a:off x="3865947" y="3276535"/>
            <a:ext cx="1777367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84" name="Rectangle 51">
            <a:extLst>
              <a:ext uri="{FF2B5EF4-FFF2-40B4-BE49-F238E27FC236}">
                <a16:creationId xmlns:a16="http://schemas.microsoft.com/office/drawing/2014/main" id="{E2725D5B-0BF6-1CF1-9DB2-036D89C49183}"/>
              </a:ext>
            </a:extLst>
          </p:cNvPr>
          <p:cNvSpPr/>
          <p:nvPr/>
        </p:nvSpPr>
        <p:spPr>
          <a:xfrm>
            <a:off x="5751316" y="3276535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85" name="Rectangle 51">
            <a:extLst>
              <a:ext uri="{FF2B5EF4-FFF2-40B4-BE49-F238E27FC236}">
                <a16:creationId xmlns:a16="http://schemas.microsoft.com/office/drawing/2014/main" id="{C88E8F0E-958D-D7C6-AD00-00D105BE7736}"/>
              </a:ext>
            </a:extLst>
          </p:cNvPr>
          <p:cNvSpPr/>
          <p:nvPr/>
        </p:nvSpPr>
        <p:spPr>
          <a:xfrm>
            <a:off x="3861797" y="3649617"/>
            <a:ext cx="1777367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7" name="Rectangle 51">
            <a:extLst>
              <a:ext uri="{FF2B5EF4-FFF2-40B4-BE49-F238E27FC236}">
                <a16:creationId xmlns:a16="http://schemas.microsoft.com/office/drawing/2014/main" id="{C818DE7C-7552-7485-F3EF-C4AE16C7AF1C}"/>
              </a:ext>
            </a:extLst>
          </p:cNvPr>
          <p:cNvSpPr/>
          <p:nvPr/>
        </p:nvSpPr>
        <p:spPr>
          <a:xfrm>
            <a:off x="5747166" y="3649617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8" name="Rectangle 51">
            <a:extLst>
              <a:ext uri="{FF2B5EF4-FFF2-40B4-BE49-F238E27FC236}">
                <a16:creationId xmlns:a16="http://schemas.microsoft.com/office/drawing/2014/main" id="{58DB6A08-5197-BF1A-425D-E56E226AF7AB}"/>
              </a:ext>
            </a:extLst>
          </p:cNvPr>
          <p:cNvSpPr/>
          <p:nvPr/>
        </p:nvSpPr>
        <p:spPr>
          <a:xfrm>
            <a:off x="3861797" y="4022699"/>
            <a:ext cx="1777367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1" name="Rectangle 51">
            <a:extLst>
              <a:ext uri="{FF2B5EF4-FFF2-40B4-BE49-F238E27FC236}">
                <a16:creationId xmlns:a16="http://schemas.microsoft.com/office/drawing/2014/main" id="{CE3FBCBD-71CA-FAF7-A5F2-0482C24AAFA7}"/>
              </a:ext>
            </a:extLst>
          </p:cNvPr>
          <p:cNvSpPr/>
          <p:nvPr/>
        </p:nvSpPr>
        <p:spPr>
          <a:xfrm>
            <a:off x="5747166" y="4022699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3" name="Rectangle 51">
            <a:extLst>
              <a:ext uri="{FF2B5EF4-FFF2-40B4-BE49-F238E27FC236}">
                <a16:creationId xmlns:a16="http://schemas.microsoft.com/office/drawing/2014/main" id="{8C537D2F-DC55-A0FE-B9DD-F8C3D5F69A9F}"/>
              </a:ext>
            </a:extLst>
          </p:cNvPr>
          <p:cNvSpPr/>
          <p:nvPr/>
        </p:nvSpPr>
        <p:spPr>
          <a:xfrm>
            <a:off x="3861797" y="4395781"/>
            <a:ext cx="1777367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4" name="Rectangle 51">
            <a:extLst>
              <a:ext uri="{FF2B5EF4-FFF2-40B4-BE49-F238E27FC236}">
                <a16:creationId xmlns:a16="http://schemas.microsoft.com/office/drawing/2014/main" id="{2489C13D-C01C-8686-69A1-7D1D65EA01FE}"/>
              </a:ext>
            </a:extLst>
          </p:cNvPr>
          <p:cNvSpPr/>
          <p:nvPr/>
        </p:nvSpPr>
        <p:spPr>
          <a:xfrm>
            <a:off x="5747166" y="4395781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5" name="Rectangle 51">
            <a:extLst>
              <a:ext uri="{FF2B5EF4-FFF2-40B4-BE49-F238E27FC236}">
                <a16:creationId xmlns:a16="http://schemas.microsoft.com/office/drawing/2014/main" id="{3847AFAA-ADE3-A5AB-8795-8B767D800056}"/>
              </a:ext>
            </a:extLst>
          </p:cNvPr>
          <p:cNvSpPr/>
          <p:nvPr/>
        </p:nvSpPr>
        <p:spPr>
          <a:xfrm>
            <a:off x="3861797" y="4768863"/>
            <a:ext cx="1777367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6" name="Rectangle 51">
            <a:extLst>
              <a:ext uri="{FF2B5EF4-FFF2-40B4-BE49-F238E27FC236}">
                <a16:creationId xmlns:a16="http://schemas.microsoft.com/office/drawing/2014/main" id="{EDF287C7-E131-B82C-FB49-A9C3E8124D2F}"/>
              </a:ext>
            </a:extLst>
          </p:cNvPr>
          <p:cNvSpPr/>
          <p:nvPr/>
        </p:nvSpPr>
        <p:spPr>
          <a:xfrm>
            <a:off x="5747166" y="4768863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7" name="Rectangle 51">
            <a:extLst>
              <a:ext uri="{FF2B5EF4-FFF2-40B4-BE49-F238E27FC236}">
                <a16:creationId xmlns:a16="http://schemas.microsoft.com/office/drawing/2014/main" id="{E8844D21-34C7-7D29-B190-E57C8E929CC6}"/>
              </a:ext>
            </a:extLst>
          </p:cNvPr>
          <p:cNvSpPr/>
          <p:nvPr/>
        </p:nvSpPr>
        <p:spPr>
          <a:xfrm>
            <a:off x="3861797" y="5141945"/>
            <a:ext cx="1777367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8" name="Rectangle 51">
            <a:extLst>
              <a:ext uri="{FF2B5EF4-FFF2-40B4-BE49-F238E27FC236}">
                <a16:creationId xmlns:a16="http://schemas.microsoft.com/office/drawing/2014/main" id="{1C6F423F-76B9-D68C-3313-7AF04CD09C2B}"/>
              </a:ext>
            </a:extLst>
          </p:cNvPr>
          <p:cNvSpPr/>
          <p:nvPr/>
        </p:nvSpPr>
        <p:spPr>
          <a:xfrm>
            <a:off x="5747166" y="5141945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9" name="Rectangle 51">
            <a:extLst>
              <a:ext uri="{FF2B5EF4-FFF2-40B4-BE49-F238E27FC236}">
                <a16:creationId xmlns:a16="http://schemas.microsoft.com/office/drawing/2014/main" id="{D4FB833E-161E-4A9A-7799-A38CBD4F5D25}"/>
              </a:ext>
            </a:extLst>
          </p:cNvPr>
          <p:cNvSpPr/>
          <p:nvPr/>
        </p:nvSpPr>
        <p:spPr>
          <a:xfrm>
            <a:off x="3861797" y="5515028"/>
            <a:ext cx="1777367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0" name="Rectangle 51">
            <a:extLst>
              <a:ext uri="{FF2B5EF4-FFF2-40B4-BE49-F238E27FC236}">
                <a16:creationId xmlns:a16="http://schemas.microsoft.com/office/drawing/2014/main" id="{73CF33C3-F25F-BB1F-3EEE-3604C445A3C3}"/>
              </a:ext>
            </a:extLst>
          </p:cNvPr>
          <p:cNvSpPr/>
          <p:nvPr/>
        </p:nvSpPr>
        <p:spPr>
          <a:xfrm>
            <a:off x="5747166" y="5515028"/>
            <a:ext cx="1764000" cy="25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9E2C763E-A124-86E7-C983-A098FE117225}"/>
              </a:ext>
            </a:extLst>
          </p:cNvPr>
          <p:cNvCxnSpPr>
            <a:cxnSpLocks/>
          </p:cNvCxnSpPr>
          <p:nvPr/>
        </p:nvCxnSpPr>
        <p:spPr>
          <a:xfrm>
            <a:off x="5691951" y="956761"/>
            <a:ext cx="0" cy="5004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24C14EDA-8F42-C76E-0672-12AC7F3082BB}"/>
              </a:ext>
            </a:extLst>
          </p:cNvPr>
          <p:cNvCxnSpPr>
            <a:cxnSpLocks/>
          </p:cNvCxnSpPr>
          <p:nvPr/>
        </p:nvCxnSpPr>
        <p:spPr>
          <a:xfrm>
            <a:off x="7580375" y="956761"/>
            <a:ext cx="0" cy="5004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A4C8623D-7B61-38C6-5EDE-E67C796432AD}"/>
              </a:ext>
            </a:extLst>
          </p:cNvPr>
          <p:cNvSpPr/>
          <p:nvPr/>
        </p:nvSpPr>
        <p:spPr>
          <a:xfrm>
            <a:off x="3880030" y="1038043"/>
            <a:ext cx="1752026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844555E-23D2-F1E7-18C2-2C7B63AB93C2}"/>
              </a:ext>
            </a:extLst>
          </p:cNvPr>
          <p:cNvSpPr/>
          <p:nvPr/>
        </p:nvSpPr>
        <p:spPr>
          <a:xfrm>
            <a:off x="7649165" y="1038043"/>
            <a:ext cx="2482664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60</a:t>
            </a:r>
            <a:r>
              <a:rPr lang="es-ES" sz="1050" noProof="0" dirty="0"/>
              <a:t>%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0AC996F-E95E-70F2-39E0-688DA626FF4A}"/>
              </a:ext>
            </a:extLst>
          </p:cNvPr>
          <p:cNvSpPr/>
          <p:nvPr/>
        </p:nvSpPr>
        <p:spPr>
          <a:xfrm>
            <a:off x="7649166" y="1411125"/>
            <a:ext cx="2482663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60</a:t>
            </a:r>
            <a:r>
              <a:rPr lang="es-ES" sz="1050" noProof="0" dirty="0"/>
              <a:t>%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C170200-F543-7A9E-AE00-AFCB20452A5D}"/>
              </a:ext>
            </a:extLst>
          </p:cNvPr>
          <p:cNvSpPr/>
          <p:nvPr/>
        </p:nvSpPr>
        <p:spPr>
          <a:xfrm>
            <a:off x="7649165" y="1784207"/>
            <a:ext cx="2482663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60</a:t>
            </a:r>
            <a:r>
              <a:rPr lang="es-ES" sz="1050" noProof="0" dirty="0"/>
              <a:t>%</a:t>
            </a:r>
          </a:p>
        </p:txBody>
      </p:sp>
      <p:sp>
        <p:nvSpPr>
          <p:cNvPr id="16" name="Rectangle 71">
            <a:extLst>
              <a:ext uri="{FF2B5EF4-FFF2-40B4-BE49-F238E27FC236}">
                <a16:creationId xmlns:a16="http://schemas.microsoft.com/office/drawing/2014/main" id="{53EEE246-2412-41CC-6BDA-F228F54206EA}"/>
              </a:ext>
            </a:extLst>
          </p:cNvPr>
          <p:cNvSpPr/>
          <p:nvPr/>
        </p:nvSpPr>
        <p:spPr>
          <a:xfrm>
            <a:off x="5759837" y="1038043"/>
            <a:ext cx="1764000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7" name="Rectangle 71">
            <a:extLst>
              <a:ext uri="{FF2B5EF4-FFF2-40B4-BE49-F238E27FC236}">
                <a16:creationId xmlns:a16="http://schemas.microsoft.com/office/drawing/2014/main" id="{ACFF9E18-2387-439F-BA92-934F0B42C399}"/>
              </a:ext>
            </a:extLst>
          </p:cNvPr>
          <p:cNvSpPr/>
          <p:nvPr/>
        </p:nvSpPr>
        <p:spPr>
          <a:xfrm>
            <a:off x="3880030" y="1411125"/>
            <a:ext cx="1752026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8" name="Rectangle 71">
            <a:extLst>
              <a:ext uri="{FF2B5EF4-FFF2-40B4-BE49-F238E27FC236}">
                <a16:creationId xmlns:a16="http://schemas.microsoft.com/office/drawing/2014/main" id="{74ECC161-5908-5187-578E-823CA01BC9F5}"/>
              </a:ext>
            </a:extLst>
          </p:cNvPr>
          <p:cNvSpPr/>
          <p:nvPr/>
        </p:nvSpPr>
        <p:spPr>
          <a:xfrm>
            <a:off x="5759837" y="1411125"/>
            <a:ext cx="1764000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9" name="Rectangle 71">
            <a:extLst>
              <a:ext uri="{FF2B5EF4-FFF2-40B4-BE49-F238E27FC236}">
                <a16:creationId xmlns:a16="http://schemas.microsoft.com/office/drawing/2014/main" id="{41402394-1D18-4EC2-E722-849F7DED8534}"/>
              </a:ext>
            </a:extLst>
          </p:cNvPr>
          <p:cNvSpPr/>
          <p:nvPr/>
        </p:nvSpPr>
        <p:spPr>
          <a:xfrm>
            <a:off x="3887138" y="1784207"/>
            <a:ext cx="1752026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20" name="Rectangle 71">
            <a:extLst>
              <a:ext uri="{FF2B5EF4-FFF2-40B4-BE49-F238E27FC236}">
                <a16:creationId xmlns:a16="http://schemas.microsoft.com/office/drawing/2014/main" id="{9C4676AE-B277-869A-7D40-4EF4D96017C4}"/>
              </a:ext>
            </a:extLst>
          </p:cNvPr>
          <p:cNvSpPr/>
          <p:nvPr/>
        </p:nvSpPr>
        <p:spPr>
          <a:xfrm>
            <a:off x="5766945" y="1784207"/>
            <a:ext cx="1764000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21" name="Rectangle 71">
            <a:extLst>
              <a:ext uri="{FF2B5EF4-FFF2-40B4-BE49-F238E27FC236}">
                <a16:creationId xmlns:a16="http://schemas.microsoft.com/office/drawing/2014/main" id="{EDE64BFC-9A2D-1018-21C6-FBBF334EE2BD}"/>
              </a:ext>
            </a:extLst>
          </p:cNvPr>
          <p:cNvSpPr/>
          <p:nvPr/>
        </p:nvSpPr>
        <p:spPr>
          <a:xfrm>
            <a:off x="3887138" y="2157289"/>
            <a:ext cx="1752026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29" name="Rectangle 71">
            <a:extLst>
              <a:ext uri="{FF2B5EF4-FFF2-40B4-BE49-F238E27FC236}">
                <a16:creationId xmlns:a16="http://schemas.microsoft.com/office/drawing/2014/main" id="{39101BBD-5744-7EF3-9D52-E9829E1249F9}"/>
              </a:ext>
            </a:extLst>
          </p:cNvPr>
          <p:cNvSpPr/>
          <p:nvPr/>
        </p:nvSpPr>
        <p:spPr>
          <a:xfrm>
            <a:off x="3871305" y="2530371"/>
            <a:ext cx="1767859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58" name="Rectangle 71">
            <a:extLst>
              <a:ext uri="{FF2B5EF4-FFF2-40B4-BE49-F238E27FC236}">
                <a16:creationId xmlns:a16="http://schemas.microsoft.com/office/drawing/2014/main" id="{28EB05F2-E64E-3D15-D100-BB908806EBF9}"/>
              </a:ext>
            </a:extLst>
          </p:cNvPr>
          <p:cNvSpPr/>
          <p:nvPr/>
        </p:nvSpPr>
        <p:spPr>
          <a:xfrm>
            <a:off x="5747165" y="2530371"/>
            <a:ext cx="1775299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26" name="Rectangle 71">
            <a:extLst>
              <a:ext uri="{FF2B5EF4-FFF2-40B4-BE49-F238E27FC236}">
                <a16:creationId xmlns:a16="http://schemas.microsoft.com/office/drawing/2014/main" id="{BF443ED4-8CE0-0043-4C09-59C716D413FC}"/>
              </a:ext>
            </a:extLst>
          </p:cNvPr>
          <p:cNvSpPr/>
          <p:nvPr/>
        </p:nvSpPr>
        <p:spPr>
          <a:xfrm>
            <a:off x="5759835" y="2157289"/>
            <a:ext cx="1762630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noProof="0" dirty="0"/>
              <a:t>100%</a:t>
            </a:r>
          </a:p>
        </p:txBody>
      </p:sp>
      <p:sp>
        <p:nvSpPr>
          <p:cNvPr id="122" name="Rectangle 71">
            <a:extLst>
              <a:ext uri="{FF2B5EF4-FFF2-40B4-BE49-F238E27FC236}">
                <a16:creationId xmlns:a16="http://schemas.microsoft.com/office/drawing/2014/main" id="{9FEEBE35-368C-FC84-5D3C-DD17C23A54A5}"/>
              </a:ext>
            </a:extLst>
          </p:cNvPr>
          <p:cNvSpPr/>
          <p:nvPr/>
        </p:nvSpPr>
        <p:spPr>
          <a:xfrm>
            <a:off x="3865947" y="3276535"/>
            <a:ext cx="1782727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36" name="Rectangle 71">
            <a:extLst>
              <a:ext uri="{FF2B5EF4-FFF2-40B4-BE49-F238E27FC236}">
                <a16:creationId xmlns:a16="http://schemas.microsoft.com/office/drawing/2014/main" id="{96B836F6-2530-580C-217A-22AB25F3E8B5}"/>
              </a:ext>
            </a:extLst>
          </p:cNvPr>
          <p:cNvSpPr/>
          <p:nvPr/>
        </p:nvSpPr>
        <p:spPr>
          <a:xfrm>
            <a:off x="3852286" y="4395781"/>
            <a:ext cx="1786878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37" name="Rectangle 71">
            <a:extLst>
              <a:ext uri="{FF2B5EF4-FFF2-40B4-BE49-F238E27FC236}">
                <a16:creationId xmlns:a16="http://schemas.microsoft.com/office/drawing/2014/main" id="{C9FEAB6C-FBA8-A558-6503-5921E9E5079F}"/>
              </a:ext>
            </a:extLst>
          </p:cNvPr>
          <p:cNvSpPr/>
          <p:nvPr/>
        </p:nvSpPr>
        <p:spPr>
          <a:xfrm>
            <a:off x="3847608" y="4768863"/>
            <a:ext cx="1784448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38" name="Rectangle 71">
            <a:extLst>
              <a:ext uri="{FF2B5EF4-FFF2-40B4-BE49-F238E27FC236}">
                <a16:creationId xmlns:a16="http://schemas.microsoft.com/office/drawing/2014/main" id="{3C5DED26-C3C2-A42D-2B9E-FA8DB02611D8}"/>
              </a:ext>
            </a:extLst>
          </p:cNvPr>
          <p:cNvSpPr/>
          <p:nvPr/>
        </p:nvSpPr>
        <p:spPr>
          <a:xfrm>
            <a:off x="3861796" y="5141945"/>
            <a:ext cx="1777367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7" name="Rectangle 71">
            <a:extLst>
              <a:ext uri="{FF2B5EF4-FFF2-40B4-BE49-F238E27FC236}">
                <a16:creationId xmlns:a16="http://schemas.microsoft.com/office/drawing/2014/main" id="{8653F3A1-9E11-B46D-2A2A-7D2B133C3DF0}"/>
              </a:ext>
            </a:extLst>
          </p:cNvPr>
          <p:cNvSpPr/>
          <p:nvPr/>
        </p:nvSpPr>
        <p:spPr>
          <a:xfrm>
            <a:off x="5748991" y="2903453"/>
            <a:ext cx="1756356" cy="248024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21" name="Rectangle 71">
            <a:extLst>
              <a:ext uri="{FF2B5EF4-FFF2-40B4-BE49-F238E27FC236}">
                <a16:creationId xmlns:a16="http://schemas.microsoft.com/office/drawing/2014/main" id="{5F4D946D-3536-9C46-1B59-A81156EB6DAD}"/>
              </a:ext>
            </a:extLst>
          </p:cNvPr>
          <p:cNvSpPr/>
          <p:nvPr/>
        </p:nvSpPr>
        <p:spPr>
          <a:xfrm>
            <a:off x="3871305" y="2903453"/>
            <a:ext cx="1786877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A88266-B0B8-F8B9-3B52-9885734E3EDF}"/>
              </a:ext>
            </a:extLst>
          </p:cNvPr>
          <p:cNvSpPr txBox="1"/>
          <p:nvPr/>
        </p:nvSpPr>
        <p:spPr>
          <a:xfrm>
            <a:off x="351730" y="3649617"/>
            <a:ext cx="360000" cy="6250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noProof="0" dirty="0"/>
              <a:t>R 2 B</a:t>
            </a:r>
          </a:p>
        </p:txBody>
      </p:sp>
      <p:sp>
        <p:nvSpPr>
          <p:cNvPr id="13" name="Rectangle 71">
            <a:extLst>
              <a:ext uri="{FF2B5EF4-FFF2-40B4-BE49-F238E27FC236}">
                <a16:creationId xmlns:a16="http://schemas.microsoft.com/office/drawing/2014/main" id="{F8B52D56-BA6E-C0E3-043D-1388012B5500}"/>
              </a:ext>
            </a:extLst>
          </p:cNvPr>
          <p:cNvSpPr/>
          <p:nvPr/>
        </p:nvSpPr>
        <p:spPr>
          <a:xfrm>
            <a:off x="3861796" y="5515028"/>
            <a:ext cx="1770260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15" name="Rectangle 71">
            <a:extLst>
              <a:ext uri="{FF2B5EF4-FFF2-40B4-BE49-F238E27FC236}">
                <a16:creationId xmlns:a16="http://schemas.microsoft.com/office/drawing/2014/main" id="{64BE3B5F-2718-5AB3-244C-E0263BAE586F}"/>
              </a:ext>
            </a:extLst>
          </p:cNvPr>
          <p:cNvSpPr/>
          <p:nvPr/>
        </p:nvSpPr>
        <p:spPr>
          <a:xfrm>
            <a:off x="3861796" y="3649617"/>
            <a:ext cx="1777367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050" noProof="0" dirty="0"/>
              <a:t>100%</a:t>
            </a:r>
          </a:p>
        </p:txBody>
      </p:sp>
      <p:sp>
        <p:nvSpPr>
          <p:cNvPr id="22" name="Rectangle 71">
            <a:extLst>
              <a:ext uri="{FF2B5EF4-FFF2-40B4-BE49-F238E27FC236}">
                <a16:creationId xmlns:a16="http://schemas.microsoft.com/office/drawing/2014/main" id="{8C43D44C-4578-81F0-D935-E6F111D4657C}"/>
              </a:ext>
            </a:extLst>
          </p:cNvPr>
          <p:cNvSpPr/>
          <p:nvPr/>
        </p:nvSpPr>
        <p:spPr>
          <a:xfrm>
            <a:off x="3861796" y="4022699"/>
            <a:ext cx="1777367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050" dirty="0"/>
              <a:t>10</a:t>
            </a:r>
            <a:r>
              <a:rPr lang="es-ES" sz="1050" noProof="0" dirty="0"/>
              <a:t>0%</a:t>
            </a:r>
          </a:p>
        </p:txBody>
      </p:sp>
      <p:sp>
        <p:nvSpPr>
          <p:cNvPr id="36" name="Rectangle 71">
            <a:extLst>
              <a:ext uri="{FF2B5EF4-FFF2-40B4-BE49-F238E27FC236}">
                <a16:creationId xmlns:a16="http://schemas.microsoft.com/office/drawing/2014/main" id="{59C77AA3-1D40-70B1-AB58-B6DDB88134A5}"/>
              </a:ext>
            </a:extLst>
          </p:cNvPr>
          <p:cNvSpPr/>
          <p:nvPr/>
        </p:nvSpPr>
        <p:spPr>
          <a:xfrm>
            <a:off x="5750709" y="3276535"/>
            <a:ext cx="1754635" cy="254509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42" name="Rectangle 87">
            <a:extLst>
              <a:ext uri="{FF2B5EF4-FFF2-40B4-BE49-F238E27FC236}">
                <a16:creationId xmlns:a16="http://schemas.microsoft.com/office/drawing/2014/main" id="{334512C4-9C87-6F1A-FF69-53D5AA830FBD}"/>
              </a:ext>
            </a:extLst>
          </p:cNvPr>
          <p:cNvSpPr/>
          <p:nvPr/>
        </p:nvSpPr>
        <p:spPr>
          <a:xfrm>
            <a:off x="7645435" y="2153188"/>
            <a:ext cx="1238622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30</a:t>
            </a:r>
            <a:r>
              <a:rPr lang="es-ES" sz="1050" noProof="0" dirty="0"/>
              <a:t>%</a:t>
            </a:r>
          </a:p>
        </p:txBody>
      </p:sp>
      <p:sp>
        <p:nvSpPr>
          <p:cNvPr id="44" name="Rectangle 87">
            <a:extLst>
              <a:ext uri="{FF2B5EF4-FFF2-40B4-BE49-F238E27FC236}">
                <a16:creationId xmlns:a16="http://schemas.microsoft.com/office/drawing/2014/main" id="{F75D1AEA-339A-CD92-CE70-2DE5908A50CE}"/>
              </a:ext>
            </a:extLst>
          </p:cNvPr>
          <p:cNvSpPr/>
          <p:nvPr/>
        </p:nvSpPr>
        <p:spPr>
          <a:xfrm>
            <a:off x="7645435" y="2526270"/>
            <a:ext cx="1238619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noProof="0" dirty="0"/>
              <a:t>30%</a:t>
            </a:r>
          </a:p>
        </p:txBody>
      </p:sp>
      <p:sp>
        <p:nvSpPr>
          <p:cNvPr id="48" name="Rectangle 87">
            <a:extLst>
              <a:ext uri="{FF2B5EF4-FFF2-40B4-BE49-F238E27FC236}">
                <a16:creationId xmlns:a16="http://schemas.microsoft.com/office/drawing/2014/main" id="{4670A095-F92F-0355-66BE-1BC15484B7C7}"/>
              </a:ext>
            </a:extLst>
          </p:cNvPr>
          <p:cNvSpPr/>
          <p:nvPr/>
        </p:nvSpPr>
        <p:spPr>
          <a:xfrm>
            <a:off x="7645914" y="3276535"/>
            <a:ext cx="1238141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30</a:t>
            </a:r>
            <a:r>
              <a:rPr lang="es-ES" sz="1050" noProof="0" dirty="0"/>
              <a:t>%</a:t>
            </a:r>
          </a:p>
        </p:txBody>
      </p:sp>
      <p:sp>
        <p:nvSpPr>
          <p:cNvPr id="49" name="Rectangle 87">
            <a:extLst>
              <a:ext uri="{FF2B5EF4-FFF2-40B4-BE49-F238E27FC236}">
                <a16:creationId xmlns:a16="http://schemas.microsoft.com/office/drawing/2014/main" id="{D7869F4A-3229-4A46-025B-5E0320605A82}"/>
              </a:ext>
            </a:extLst>
          </p:cNvPr>
          <p:cNvSpPr/>
          <p:nvPr/>
        </p:nvSpPr>
        <p:spPr>
          <a:xfrm>
            <a:off x="7651877" y="2899352"/>
            <a:ext cx="1232179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noProof="0" dirty="0"/>
              <a:t>30%</a:t>
            </a:r>
          </a:p>
        </p:txBody>
      </p:sp>
      <p:sp>
        <p:nvSpPr>
          <p:cNvPr id="55" name="Rectangle 87">
            <a:extLst>
              <a:ext uri="{FF2B5EF4-FFF2-40B4-BE49-F238E27FC236}">
                <a16:creationId xmlns:a16="http://schemas.microsoft.com/office/drawing/2014/main" id="{ADEA0920-5092-08E3-9A27-8537428FDF46}"/>
              </a:ext>
            </a:extLst>
          </p:cNvPr>
          <p:cNvSpPr/>
          <p:nvPr/>
        </p:nvSpPr>
        <p:spPr>
          <a:xfrm>
            <a:off x="7636084" y="5515028"/>
            <a:ext cx="1238141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30</a:t>
            </a:r>
            <a:r>
              <a:rPr lang="es-ES" sz="1050" noProof="0" dirty="0"/>
              <a:t>%</a:t>
            </a:r>
          </a:p>
        </p:txBody>
      </p:sp>
      <p:sp>
        <p:nvSpPr>
          <p:cNvPr id="51" name="Rectangle 71">
            <a:extLst>
              <a:ext uri="{FF2B5EF4-FFF2-40B4-BE49-F238E27FC236}">
                <a16:creationId xmlns:a16="http://schemas.microsoft.com/office/drawing/2014/main" id="{DA35175C-BC1C-3C0F-ADF2-8283680F64CA}"/>
              </a:ext>
            </a:extLst>
          </p:cNvPr>
          <p:cNvSpPr/>
          <p:nvPr/>
        </p:nvSpPr>
        <p:spPr>
          <a:xfrm>
            <a:off x="5756531" y="4393271"/>
            <a:ext cx="1754635" cy="254509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57" name="Rectangle 71">
            <a:extLst>
              <a:ext uri="{FF2B5EF4-FFF2-40B4-BE49-F238E27FC236}">
                <a16:creationId xmlns:a16="http://schemas.microsoft.com/office/drawing/2014/main" id="{5356BF34-6261-AA93-7824-2F712B7AEEE3}"/>
              </a:ext>
            </a:extLst>
          </p:cNvPr>
          <p:cNvSpPr/>
          <p:nvPr/>
        </p:nvSpPr>
        <p:spPr>
          <a:xfrm>
            <a:off x="5756531" y="4766353"/>
            <a:ext cx="1754635" cy="254509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59" name="Rectangle 71">
            <a:extLst>
              <a:ext uri="{FF2B5EF4-FFF2-40B4-BE49-F238E27FC236}">
                <a16:creationId xmlns:a16="http://schemas.microsoft.com/office/drawing/2014/main" id="{29F2768F-4034-2641-A65E-493F6CB1EFBE}"/>
              </a:ext>
            </a:extLst>
          </p:cNvPr>
          <p:cNvSpPr/>
          <p:nvPr/>
        </p:nvSpPr>
        <p:spPr>
          <a:xfrm>
            <a:off x="5756531" y="5141945"/>
            <a:ext cx="1754635" cy="254509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70" name="Rectangle 71">
            <a:extLst>
              <a:ext uri="{FF2B5EF4-FFF2-40B4-BE49-F238E27FC236}">
                <a16:creationId xmlns:a16="http://schemas.microsoft.com/office/drawing/2014/main" id="{C2C7CF18-66D4-C1ED-3597-B96B970E8007}"/>
              </a:ext>
            </a:extLst>
          </p:cNvPr>
          <p:cNvSpPr/>
          <p:nvPr/>
        </p:nvSpPr>
        <p:spPr>
          <a:xfrm>
            <a:off x="5756643" y="5513773"/>
            <a:ext cx="1754635" cy="254509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73" name="Rectangle 71">
            <a:extLst>
              <a:ext uri="{FF2B5EF4-FFF2-40B4-BE49-F238E27FC236}">
                <a16:creationId xmlns:a16="http://schemas.microsoft.com/office/drawing/2014/main" id="{0514117D-F0C7-A630-0518-EEF57D713E78}"/>
              </a:ext>
            </a:extLst>
          </p:cNvPr>
          <p:cNvSpPr/>
          <p:nvPr/>
        </p:nvSpPr>
        <p:spPr>
          <a:xfrm>
            <a:off x="5735230" y="3647108"/>
            <a:ext cx="1770722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74" name="Rectangle 71">
            <a:extLst>
              <a:ext uri="{FF2B5EF4-FFF2-40B4-BE49-F238E27FC236}">
                <a16:creationId xmlns:a16="http://schemas.microsoft.com/office/drawing/2014/main" id="{38CE1F3D-294A-B90A-56FD-D9CBD376C8A8}"/>
              </a:ext>
            </a:extLst>
          </p:cNvPr>
          <p:cNvSpPr/>
          <p:nvPr/>
        </p:nvSpPr>
        <p:spPr>
          <a:xfrm>
            <a:off x="5735229" y="4023078"/>
            <a:ext cx="1792358" cy="254509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dirty="0"/>
              <a:t>100</a:t>
            </a:r>
            <a:r>
              <a:rPr lang="es-ES" sz="1050" noProof="0" dirty="0"/>
              <a:t>%</a:t>
            </a:r>
          </a:p>
        </p:txBody>
      </p:sp>
      <p:sp>
        <p:nvSpPr>
          <p:cNvPr id="77" name="Rectangle 87">
            <a:extLst>
              <a:ext uri="{FF2B5EF4-FFF2-40B4-BE49-F238E27FC236}">
                <a16:creationId xmlns:a16="http://schemas.microsoft.com/office/drawing/2014/main" id="{6139EBE1-4228-E338-4350-76ED0844FFC0}"/>
              </a:ext>
            </a:extLst>
          </p:cNvPr>
          <p:cNvSpPr/>
          <p:nvPr/>
        </p:nvSpPr>
        <p:spPr>
          <a:xfrm>
            <a:off x="7652355" y="3651612"/>
            <a:ext cx="1238141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30</a:t>
            </a:r>
            <a:r>
              <a:rPr lang="es-ES" sz="1050" noProof="0" dirty="0"/>
              <a:t>%</a:t>
            </a:r>
          </a:p>
        </p:txBody>
      </p:sp>
      <p:sp>
        <p:nvSpPr>
          <p:cNvPr id="78" name="Rectangle 87">
            <a:extLst>
              <a:ext uri="{FF2B5EF4-FFF2-40B4-BE49-F238E27FC236}">
                <a16:creationId xmlns:a16="http://schemas.microsoft.com/office/drawing/2014/main" id="{558BC623-209F-EB21-2D5D-80DC3935646D}"/>
              </a:ext>
            </a:extLst>
          </p:cNvPr>
          <p:cNvSpPr/>
          <p:nvPr/>
        </p:nvSpPr>
        <p:spPr>
          <a:xfrm>
            <a:off x="7652355" y="4022758"/>
            <a:ext cx="1238141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30</a:t>
            </a:r>
            <a:r>
              <a:rPr lang="es-ES" sz="1050" noProof="0" dirty="0"/>
              <a:t>%</a:t>
            </a:r>
          </a:p>
        </p:txBody>
      </p:sp>
      <p:sp>
        <p:nvSpPr>
          <p:cNvPr id="79" name="Rectangle 87">
            <a:extLst>
              <a:ext uri="{FF2B5EF4-FFF2-40B4-BE49-F238E27FC236}">
                <a16:creationId xmlns:a16="http://schemas.microsoft.com/office/drawing/2014/main" id="{77B4700E-28EB-617A-074B-BD4F0698818F}"/>
              </a:ext>
            </a:extLst>
          </p:cNvPr>
          <p:cNvSpPr/>
          <p:nvPr/>
        </p:nvSpPr>
        <p:spPr>
          <a:xfrm>
            <a:off x="7636683" y="4395840"/>
            <a:ext cx="1238141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30</a:t>
            </a:r>
            <a:r>
              <a:rPr lang="es-ES" sz="1050" noProof="0" dirty="0"/>
              <a:t>%</a:t>
            </a:r>
          </a:p>
        </p:txBody>
      </p:sp>
      <p:sp>
        <p:nvSpPr>
          <p:cNvPr id="80" name="Rectangle 87">
            <a:extLst>
              <a:ext uri="{FF2B5EF4-FFF2-40B4-BE49-F238E27FC236}">
                <a16:creationId xmlns:a16="http://schemas.microsoft.com/office/drawing/2014/main" id="{B90CD3E0-9E9E-6D17-3505-DD453CDF658E}"/>
              </a:ext>
            </a:extLst>
          </p:cNvPr>
          <p:cNvSpPr/>
          <p:nvPr/>
        </p:nvSpPr>
        <p:spPr>
          <a:xfrm>
            <a:off x="7640163" y="4768922"/>
            <a:ext cx="1238141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30</a:t>
            </a:r>
            <a:r>
              <a:rPr lang="es-ES" sz="1050" noProof="0" dirty="0"/>
              <a:t>%</a:t>
            </a:r>
          </a:p>
        </p:txBody>
      </p:sp>
      <p:sp>
        <p:nvSpPr>
          <p:cNvPr id="81" name="Rectangle 87">
            <a:extLst>
              <a:ext uri="{FF2B5EF4-FFF2-40B4-BE49-F238E27FC236}">
                <a16:creationId xmlns:a16="http://schemas.microsoft.com/office/drawing/2014/main" id="{44BE2A82-F681-483B-9CA5-DAE364A7F068}"/>
              </a:ext>
            </a:extLst>
          </p:cNvPr>
          <p:cNvSpPr/>
          <p:nvPr/>
        </p:nvSpPr>
        <p:spPr>
          <a:xfrm>
            <a:off x="7646259" y="5135908"/>
            <a:ext cx="1238141" cy="25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30</a:t>
            </a:r>
            <a:r>
              <a:rPr lang="es-ES" sz="1050" noProof="0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79879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50650-769C-1CE7-0DD9-C8C16017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5646-0AF4-5282-E95A-8B834730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Riesgos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CAFA3-03CC-CF67-E5BB-A5BC460135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noProof="0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151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6D36-BA2E-6629-F274-99FBB70CE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62335F-350A-6FC3-88E5-0B153638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8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823D7A-3EA8-9313-955A-42E76A7567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ES" noProof="0" dirty="0"/>
              <a:t>Detalle Riesgos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936038-7B8E-9FD1-DBC2-8971CDF5B861}"/>
              </a:ext>
            </a:extLst>
          </p:cNvPr>
          <p:cNvSpPr/>
          <p:nvPr/>
        </p:nvSpPr>
        <p:spPr>
          <a:xfrm>
            <a:off x="806643" y="886208"/>
            <a:ext cx="7628965" cy="658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400"/>
              </a:spcBef>
            </a:pPr>
            <a:r>
              <a:rPr lang="es-ES" sz="2000" noProof="0" dirty="0">
                <a:solidFill>
                  <a:srgbClr val="FF0000"/>
                </a:solidFill>
              </a:rPr>
              <a:t>1. </a:t>
            </a:r>
            <a:r>
              <a:rPr lang="es-ES" sz="2800" noProof="0" dirty="0">
                <a:solidFill>
                  <a:schemeClr val="bg1">
                    <a:lumMod val="50000"/>
                  </a:schemeClr>
                </a:solidFill>
              </a:rPr>
              <a:t>Infraestructura no disponible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ABD039-0674-ACF2-87C0-F6D8F786E94A}"/>
              </a:ext>
            </a:extLst>
          </p:cNvPr>
          <p:cNvSpPr/>
          <p:nvPr/>
        </p:nvSpPr>
        <p:spPr>
          <a:xfrm>
            <a:off x="806642" y="1544398"/>
            <a:ext cx="10663115" cy="332257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Identificado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: Martes 27/01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Descripción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: La infraestructura existente no es capaz de incorporar los componentes que se prevé desarrollar como parte de la Automatización. Esto se habló en el seguimiento del 15/01, y se compartió en el acta del 16/01 enviado por Aitor Malo.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Impacto funcional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: No podemos desplegar a DEV / HYB / PRE / PRO. Como en el entorno de desarrollo local no se puede conectar con CosmosDB, </a:t>
            </a:r>
            <a:r>
              <a:rPr lang="es-ES" sz="1200" b="1" u="sng" noProof="0" dirty="0">
                <a:solidFill>
                  <a:srgbClr val="000000"/>
                </a:solidFill>
                <a:highlight>
                  <a:srgbClr val="FFFF00"/>
                </a:highlight>
                <a:latin typeface="Santander Text"/>
                <a:cs typeface="Segoe UI Light"/>
              </a:rPr>
              <a:t>no se pueden probar las funciones.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Impacto en plan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: Depende del tiempo de resolución del ticket: </a:t>
            </a:r>
            <a:r>
              <a:rPr lang="es-ES" sz="1200" noProof="0" dirty="0">
                <a:cs typeface="Segoe UI Light"/>
              </a:rPr>
              <a:t>RITM019194901. </a:t>
            </a:r>
            <a:r>
              <a:rPr lang="es-ES" sz="1200" b="1" u="sng" noProof="0" dirty="0">
                <a:highlight>
                  <a:srgbClr val="FFFF00"/>
                </a:highlight>
                <a:cs typeface="Segoe UI Light"/>
              </a:rPr>
              <a:t>A partir del lunes 2 de febrero, es retraso directo sobre el plan</a:t>
            </a:r>
            <a:r>
              <a:rPr lang="es-ES" sz="1200" noProof="0" dirty="0">
                <a:cs typeface="Segoe UI Light"/>
              </a:rPr>
              <a:t>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cs typeface="Segoe UI Light"/>
              </a:rPr>
              <a:t>Plan de acción: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Contactar con el equipo SRE para priorizar el ticket.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Elegir una persona responsable de la distribución de componentes de infraestructura.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Confirmar y acordar la estrategia de ampliación de infraestructura y, si aplica, migración de componentes.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cs typeface="Segoe UI Light"/>
              </a:rPr>
              <a:t>Update 05/02/2026: </a:t>
            </a: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El ticket se solucionó el día 04/02, pero el problema de despliegue persiste por problemas de autorización. Estamos en contacto con Ángel Amadeo González para que incluyan los permisos necesarios. Si hoy a las 14:00 seguimos teniendo el mismo error, reabrimos el ticket </a:t>
            </a:r>
            <a:r>
              <a:rPr lang="es-ES" sz="1200" noProof="0" dirty="0">
                <a:cs typeface="Segoe UI Light"/>
              </a:rPr>
              <a:t>RITM019194901.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cs typeface="Segoe UI Light"/>
              </a:rPr>
              <a:t>Update 05/02/2026: </a:t>
            </a:r>
            <a:r>
              <a:rPr lang="es-ES" sz="1200" noProof="0" dirty="0">
                <a:cs typeface="Segoe UI Light"/>
              </a:rPr>
              <a:t>El problema se ha solucionado a las 12:46 y hemos podido desplegar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8161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2511-B593-B8E0-8518-98A212B3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722642-B94D-16D2-4783-1BFD73F5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9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F570E5-CFE1-981F-83CC-E182AD4888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ES" noProof="0" dirty="0"/>
              <a:t>Detalle Riesgos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EE2EB4-7E77-328D-53D7-26D9DC0CB011}"/>
              </a:ext>
            </a:extLst>
          </p:cNvPr>
          <p:cNvSpPr/>
          <p:nvPr/>
        </p:nvSpPr>
        <p:spPr>
          <a:xfrm>
            <a:off x="806643" y="886208"/>
            <a:ext cx="7628965" cy="658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400"/>
              </a:spcBef>
            </a:pPr>
            <a:r>
              <a:rPr lang="es-ES" sz="2000" noProof="0" dirty="0">
                <a:solidFill>
                  <a:srgbClr val="FF0000"/>
                </a:solidFill>
              </a:rPr>
              <a:t>2. </a:t>
            </a:r>
            <a:r>
              <a:rPr lang="es-ES" sz="2800" noProof="0" dirty="0">
                <a:solidFill>
                  <a:schemeClr val="bg1">
                    <a:lumMod val="50000"/>
                  </a:schemeClr>
                </a:solidFill>
              </a:rPr>
              <a:t>Cuadre de Volumetrías Datahub - TM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B0D17-3BEB-E8AD-AE1A-ED9711B9EE9E}"/>
              </a:ext>
            </a:extLst>
          </p:cNvPr>
          <p:cNvSpPr/>
          <p:nvPr/>
        </p:nvSpPr>
        <p:spPr>
          <a:xfrm>
            <a:off x="806643" y="1544397"/>
            <a:ext cx="10578714" cy="3741978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Identificado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: Miércoles 03/02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Descripción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: El cuadre de volumetrías es una actividad que actualmente se realiza de manera manual. De esta tarea se estimó el último punto: “Generar alertas y abrir incidencias”. Esta tarea involucra a 4 equipos diferentes y es necesario un seguimiento específico de la misma.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Impacto funcional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: La tarea involucra las siguientes actividades, con los correspondientes equipos responsables. Requiere de un plan específico y de identificar las funciones de cada uno: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Enviar la información desde el Data Hub a DEVO. =&gt; </a:t>
            </a:r>
            <a:r>
              <a:rPr lang="es-ES" sz="1200" b="1" u="sng" noProof="0" dirty="0">
                <a:solidFill>
                  <a:srgbClr val="000000"/>
                </a:solidFill>
                <a:highlight>
                  <a:srgbClr val="FFFF00"/>
                </a:highlight>
                <a:latin typeface="Santander Text"/>
                <a:cs typeface="Segoe UI Light"/>
              </a:rPr>
              <a:t>Es necesario modificar la estructura actual de los eventos que se envían a DEVO.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 </a:t>
            </a:r>
            <a:r>
              <a:rPr lang="es-ES" sz="1200" b="1" noProof="0" dirty="0">
                <a:solidFill>
                  <a:schemeClr val="accent1"/>
                </a:solidFill>
                <a:latin typeface="Santander Text"/>
                <a:cs typeface="Segoe UI Light"/>
              </a:rPr>
              <a:t>Equipo Plataforma?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Enviar la información desde TM a DEVO. =&gt; Equipo TM.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Realizar la comparación de la información.  =&gt; Equipo DEVO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Generar alertas y abrir incidencias. =&gt; </a:t>
            </a:r>
            <a:r>
              <a:rPr lang="es-ES" sz="1200" noProof="0" dirty="0">
                <a:solidFill>
                  <a:schemeClr val="accent4"/>
                </a:solidFill>
                <a:latin typeface="Santander Text"/>
                <a:cs typeface="Segoe UI Light"/>
              </a:rPr>
              <a:t>Equipo Automatización: BAU - 12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Impacto en plan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: </a:t>
            </a:r>
            <a:r>
              <a:rPr lang="es-ES" sz="1200" b="1" u="sng" noProof="0" dirty="0">
                <a:solidFill>
                  <a:srgbClr val="000000"/>
                </a:solidFill>
                <a:highlight>
                  <a:srgbClr val="FFFF00"/>
                </a:highlight>
                <a:latin typeface="Santander Text"/>
                <a:cs typeface="Segoe UI Light"/>
              </a:rPr>
              <a:t>Se requiere plan específico en función de la estrategia.</a:t>
            </a:r>
            <a:endParaRPr lang="es-ES" sz="1200" b="1" u="sng" noProof="0" dirty="0">
              <a:highlight>
                <a:srgbClr val="FFFF00"/>
              </a:highlight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b="1" noProof="0" dirty="0">
                <a:cs typeface="Segoe UI Light"/>
              </a:rPr>
              <a:t>Plan de acción: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Identificación de responsabilidades.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Aprobación de un plan por todas las partes involucradas.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Revisión del impacto en el plan original de automatización.</a:t>
            </a:r>
          </a:p>
        </p:txBody>
      </p:sp>
    </p:spTree>
    <p:extLst>
      <p:ext uri="{BB962C8B-B14F-4D97-AF65-F5344CB8AC3E}">
        <p14:creationId xmlns:p14="http://schemas.microsoft.com/office/powerpoint/2010/main" val="34824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79D05-A8CD-8C30-CD9B-8EE48085B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C691-0734-B398-B0B2-C1DA3A68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Cronograma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03E7D-8AB0-286E-9725-9D870F5DED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noProof="0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9233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7F6C-656F-2DA2-5A23-24169C3E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adroTexto 34">
            <a:extLst>
              <a:ext uri="{FF2B5EF4-FFF2-40B4-BE49-F238E27FC236}">
                <a16:creationId xmlns:a16="http://schemas.microsoft.com/office/drawing/2014/main" id="{C13E2FD2-27EB-C058-3C7C-B9D60A536135}"/>
              </a:ext>
            </a:extLst>
          </p:cNvPr>
          <p:cNvSpPr txBox="1"/>
          <p:nvPr/>
        </p:nvSpPr>
        <p:spPr>
          <a:xfrm>
            <a:off x="10688117" y="5927212"/>
            <a:ext cx="434734" cy="1978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" sz="686" dirty="0">
                <a:solidFill>
                  <a:schemeClr val="bg1"/>
                </a:solidFill>
                <a:latin typeface="Santander Headline" panose="020B0504020201020104" pitchFamily="34" charset="0"/>
              </a:rPr>
              <a:t>TODAY</a:t>
            </a:r>
            <a:endParaRPr lang="es-ES" sz="686" noProof="0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cxnSp>
        <p:nvCxnSpPr>
          <p:cNvPr id="61" name="Straight Connector 31">
            <a:extLst>
              <a:ext uri="{FF2B5EF4-FFF2-40B4-BE49-F238E27FC236}">
                <a16:creationId xmlns:a16="http://schemas.microsoft.com/office/drawing/2014/main" id="{9A6A01FA-240E-ABA8-B491-2E4B147E53D3}"/>
              </a:ext>
            </a:extLst>
          </p:cNvPr>
          <p:cNvCxnSpPr>
            <a:cxnSpLocks/>
          </p:cNvCxnSpPr>
          <p:nvPr/>
        </p:nvCxnSpPr>
        <p:spPr>
          <a:xfrm>
            <a:off x="10895657" y="1064411"/>
            <a:ext cx="0" cy="4860000"/>
          </a:xfrm>
          <a:prstGeom prst="line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ángulo redondeado 188">
            <a:extLst>
              <a:ext uri="{FF2B5EF4-FFF2-40B4-BE49-F238E27FC236}">
                <a16:creationId xmlns:a16="http://schemas.microsoft.com/office/drawing/2014/main" id="{2D78CED3-D32C-7F7E-5F12-0C304E404C34}"/>
              </a:ext>
            </a:extLst>
          </p:cNvPr>
          <p:cNvSpPr/>
          <p:nvPr/>
        </p:nvSpPr>
        <p:spPr>
          <a:xfrm>
            <a:off x="10111641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May 2026</a:t>
            </a:r>
          </a:p>
        </p:txBody>
      </p:sp>
      <p:cxnSp>
        <p:nvCxnSpPr>
          <p:cNvPr id="41" name="Straight Connector 32">
            <a:extLst>
              <a:ext uri="{FF2B5EF4-FFF2-40B4-BE49-F238E27FC236}">
                <a16:creationId xmlns:a16="http://schemas.microsoft.com/office/drawing/2014/main" id="{CF48ED08-7711-C379-778D-E4C12C187C14}"/>
              </a:ext>
            </a:extLst>
          </p:cNvPr>
          <p:cNvCxnSpPr>
            <a:cxnSpLocks/>
          </p:cNvCxnSpPr>
          <p:nvPr/>
        </p:nvCxnSpPr>
        <p:spPr>
          <a:xfrm>
            <a:off x="1975641" y="186314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7D7B00E7-3838-9D7E-4F8E-883BF89236D3}"/>
              </a:ext>
            </a:extLst>
          </p:cNvPr>
          <p:cNvCxnSpPr>
            <a:cxnSpLocks/>
          </p:cNvCxnSpPr>
          <p:nvPr/>
        </p:nvCxnSpPr>
        <p:spPr>
          <a:xfrm>
            <a:off x="1975641" y="129528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E217D6-89B6-2BF1-0B05-A79BCC06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11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23C105-7140-5E2F-2A58-7518B80F46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Cronograma |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Hitos principales y estado actual</a:t>
            </a:r>
            <a:endParaRPr lang="es-ES" noProof="0" dirty="0"/>
          </a:p>
        </p:txBody>
      </p:sp>
      <p:cxnSp>
        <p:nvCxnSpPr>
          <p:cNvPr id="9" name="Straight Connector 32">
            <a:extLst>
              <a:ext uri="{FF2B5EF4-FFF2-40B4-BE49-F238E27FC236}">
                <a16:creationId xmlns:a16="http://schemas.microsoft.com/office/drawing/2014/main" id="{D9CAA155-7131-53FD-0425-08BB5E4DB9E3}"/>
              </a:ext>
            </a:extLst>
          </p:cNvPr>
          <p:cNvCxnSpPr>
            <a:cxnSpLocks/>
          </p:cNvCxnSpPr>
          <p:nvPr/>
        </p:nvCxnSpPr>
        <p:spPr>
          <a:xfrm>
            <a:off x="2948985" y="1007261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6D0FC134-6D6A-8569-0D88-B2C92ADC8CA1}"/>
              </a:ext>
            </a:extLst>
          </p:cNvPr>
          <p:cNvCxnSpPr>
            <a:cxnSpLocks/>
          </p:cNvCxnSpPr>
          <p:nvPr/>
        </p:nvCxnSpPr>
        <p:spPr>
          <a:xfrm>
            <a:off x="3970116" y="1007261"/>
            <a:ext cx="0" cy="5040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1A7B5647-B74E-C7BF-44AE-3FF7C064A8D8}"/>
              </a:ext>
            </a:extLst>
          </p:cNvPr>
          <p:cNvCxnSpPr>
            <a:cxnSpLocks/>
          </p:cNvCxnSpPr>
          <p:nvPr/>
        </p:nvCxnSpPr>
        <p:spPr>
          <a:xfrm>
            <a:off x="4991247" y="1007261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DB186B12-3D1E-BEDB-3154-A076149BE3D3}"/>
              </a:ext>
            </a:extLst>
          </p:cNvPr>
          <p:cNvCxnSpPr>
            <a:cxnSpLocks/>
          </p:cNvCxnSpPr>
          <p:nvPr/>
        </p:nvCxnSpPr>
        <p:spPr>
          <a:xfrm>
            <a:off x="6012378" y="1007261"/>
            <a:ext cx="0" cy="5040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ángulo redondeado 188">
            <a:extLst>
              <a:ext uri="{FF2B5EF4-FFF2-40B4-BE49-F238E27FC236}">
                <a16:creationId xmlns:a16="http://schemas.microsoft.com/office/drawing/2014/main" id="{A92272C0-BC71-6E2A-BE06-62020EA2169F}"/>
              </a:ext>
            </a:extLst>
          </p:cNvPr>
          <p:cNvSpPr/>
          <p:nvPr/>
        </p:nvSpPr>
        <p:spPr>
          <a:xfrm>
            <a:off x="1940985" y="820192"/>
            <a:ext cx="20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b="1" noProof="0" dirty="0">
                <a:solidFill>
                  <a:prstClr val="white"/>
                </a:solidFill>
                <a:latin typeface="Santander Headline" panose="020B0504020201020104"/>
              </a:rPr>
              <a:t>Jan</a:t>
            </a: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 2026</a:t>
            </a:r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C967CE35-69F1-4939-938E-A795E1AACB92}"/>
              </a:ext>
            </a:extLst>
          </p:cNvPr>
          <p:cNvCxnSpPr>
            <a:cxnSpLocks/>
          </p:cNvCxnSpPr>
          <p:nvPr/>
        </p:nvCxnSpPr>
        <p:spPr>
          <a:xfrm>
            <a:off x="10088495" y="1007261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redondeado 188">
            <a:extLst>
              <a:ext uri="{FF2B5EF4-FFF2-40B4-BE49-F238E27FC236}">
                <a16:creationId xmlns:a16="http://schemas.microsoft.com/office/drawing/2014/main" id="{A92836C8-02C3-AD45-BBD0-A7713F88DFDB}"/>
              </a:ext>
            </a:extLst>
          </p:cNvPr>
          <p:cNvSpPr/>
          <p:nvPr/>
        </p:nvSpPr>
        <p:spPr>
          <a:xfrm>
            <a:off x="6026313" y="820192"/>
            <a:ext cx="20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Mar 2026</a:t>
            </a:r>
          </a:p>
        </p:txBody>
      </p:sp>
      <p:sp>
        <p:nvSpPr>
          <p:cNvPr id="21" name="Rectángulo redondeado 188">
            <a:extLst>
              <a:ext uri="{FF2B5EF4-FFF2-40B4-BE49-F238E27FC236}">
                <a16:creationId xmlns:a16="http://schemas.microsoft.com/office/drawing/2014/main" id="{6D70E170-9E5D-5BC0-F931-94A44E1BFFA1}"/>
              </a:ext>
            </a:extLst>
          </p:cNvPr>
          <p:cNvSpPr/>
          <p:nvPr/>
        </p:nvSpPr>
        <p:spPr>
          <a:xfrm>
            <a:off x="8068977" y="820192"/>
            <a:ext cx="20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Abr 2026</a:t>
            </a:r>
          </a:p>
        </p:txBody>
      </p:sp>
      <p:sp>
        <p:nvSpPr>
          <p:cNvPr id="23" name="Rectángulo redondeado 188">
            <a:extLst>
              <a:ext uri="{FF2B5EF4-FFF2-40B4-BE49-F238E27FC236}">
                <a16:creationId xmlns:a16="http://schemas.microsoft.com/office/drawing/2014/main" id="{49B63151-CE64-333B-C2DE-C4FC6F93F1AC}"/>
              </a:ext>
            </a:extLst>
          </p:cNvPr>
          <p:cNvSpPr/>
          <p:nvPr/>
        </p:nvSpPr>
        <p:spPr>
          <a:xfrm>
            <a:off x="3983649" y="820192"/>
            <a:ext cx="20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Feb 2027</a:t>
            </a:r>
          </a:p>
        </p:txBody>
      </p:sp>
      <p:cxnSp>
        <p:nvCxnSpPr>
          <p:cNvPr id="27" name="Straight Connector 31">
            <a:extLst>
              <a:ext uri="{FF2B5EF4-FFF2-40B4-BE49-F238E27FC236}">
                <a16:creationId xmlns:a16="http://schemas.microsoft.com/office/drawing/2014/main" id="{605AC0E6-2A06-B0CC-7105-93A07108FC2C}"/>
              </a:ext>
            </a:extLst>
          </p:cNvPr>
          <p:cNvCxnSpPr>
            <a:cxnSpLocks/>
          </p:cNvCxnSpPr>
          <p:nvPr/>
        </p:nvCxnSpPr>
        <p:spPr>
          <a:xfrm>
            <a:off x="7033509" y="1007261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31">
            <a:extLst>
              <a:ext uri="{FF2B5EF4-FFF2-40B4-BE49-F238E27FC236}">
                <a16:creationId xmlns:a16="http://schemas.microsoft.com/office/drawing/2014/main" id="{466F1ACB-360C-B9A5-DCB4-4E2D477350CC}"/>
              </a:ext>
            </a:extLst>
          </p:cNvPr>
          <p:cNvCxnSpPr>
            <a:cxnSpLocks/>
          </p:cNvCxnSpPr>
          <p:nvPr/>
        </p:nvCxnSpPr>
        <p:spPr>
          <a:xfrm>
            <a:off x="8054640" y="1007261"/>
            <a:ext cx="0" cy="5040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161E2C8-2EE7-488F-9F29-90E58A3EB309}"/>
              </a:ext>
            </a:extLst>
          </p:cNvPr>
          <p:cNvSpPr/>
          <p:nvPr/>
        </p:nvSpPr>
        <p:spPr>
          <a:xfrm>
            <a:off x="180973" y="1195013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noProof="0" dirty="0">
                <a:solidFill>
                  <a:schemeClr val="accent1"/>
                </a:solidFill>
              </a:rPr>
              <a:t>Diseño de arquitectura</a:t>
            </a:r>
          </a:p>
          <a:p>
            <a:pPr algn="r"/>
            <a:r>
              <a:rPr lang="es-ES" sz="1100" noProof="0" dirty="0">
                <a:solidFill>
                  <a:schemeClr val="accent1"/>
                </a:solidFill>
              </a:rPr>
              <a:t>Acceso y permisos a la infraestructura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C58553-5608-21DF-57E4-9E41B6998B68}"/>
              </a:ext>
            </a:extLst>
          </p:cNvPr>
          <p:cNvSpPr/>
          <p:nvPr/>
        </p:nvSpPr>
        <p:spPr>
          <a:xfrm>
            <a:off x="180973" y="1775416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noProof="0" dirty="0">
                <a:solidFill>
                  <a:schemeClr val="accent1"/>
                </a:solidFill>
              </a:rPr>
              <a:t>Definición del mapa de procesos (Scheduler)</a:t>
            </a:r>
          </a:p>
        </p:txBody>
      </p:sp>
      <p:cxnSp>
        <p:nvCxnSpPr>
          <p:cNvPr id="42" name="Straight Connector 32">
            <a:extLst>
              <a:ext uri="{FF2B5EF4-FFF2-40B4-BE49-F238E27FC236}">
                <a16:creationId xmlns:a16="http://schemas.microsoft.com/office/drawing/2014/main" id="{04B0B5ED-BE2C-1370-9CA4-0E3BBE17D70A}"/>
              </a:ext>
            </a:extLst>
          </p:cNvPr>
          <p:cNvCxnSpPr>
            <a:cxnSpLocks/>
          </p:cNvCxnSpPr>
          <p:nvPr/>
        </p:nvCxnSpPr>
        <p:spPr>
          <a:xfrm>
            <a:off x="1975641" y="243100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3724FC6-CDAE-BF6A-90F4-DD1DF831610D}"/>
              </a:ext>
            </a:extLst>
          </p:cNvPr>
          <p:cNvSpPr/>
          <p:nvPr/>
        </p:nvSpPr>
        <p:spPr>
          <a:xfrm>
            <a:off x="175252" y="2355819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noProof="0" dirty="0">
                <a:solidFill>
                  <a:schemeClr val="accent1"/>
                </a:solidFill>
              </a:rPr>
              <a:t>MVP – “BAU-5”</a:t>
            </a:r>
          </a:p>
        </p:txBody>
      </p: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6C85FA82-52A0-75C1-9D5D-3EF2ABD8B5CE}"/>
              </a:ext>
            </a:extLst>
          </p:cNvPr>
          <p:cNvCxnSpPr>
            <a:cxnSpLocks/>
          </p:cNvCxnSpPr>
          <p:nvPr/>
        </p:nvCxnSpPr>
        <p:spPr>
          <a:xfrm>
            <a:off x="1975641" y="303696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600EA0E-44F4-2EFB-4698-9458BC05802D}"/>
              </a:ext>
            </a:extLst>
          </p:cNvPr>
          <p:cNvSpPr/>
          <p:nvPr/>
        </p:nvSpPr>
        <p:spPr>
          <a:xfrm>
            <a:off x="175252" y="2936222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noProof="0" dirty="0">
                <a:solidFill>
                  <a:schemeClr val="accent1"/>
                </a:solidFill>
              </a:rPr>
              <a:t>Release 1</a:t>
            </a:r>
          </a:p>
        </p:txBody>
      </p:sp>
      <p:cxnSp>
        <p:nvCxnSpPr>
          <p:cNvPr id="50" name="Straight Connector 32">
            <a:extLst>
              <a:ext uri="{FF2B5EF4-FFF2-40B4-BE49-F238E27FC236}">
                <a16:creationId xmlns:a16="http://schemas.microsoft.com/office/drawing/2014/main" id="{C1F438AA-0F19-6F32-9349-FE03A46AB586}"/>
              </a:ext>
            </a:extLst>
          </p:cNvPr>
          <p:cNvCxnSpPr>
            <a:cxnSpLocks/>
          </p:cNvCxnSpPr>
          <p:nvPr/>
        </p:nvCxnSpPr>
        <p:spPr>
          <a:xfrm>
            <a:off x="1975641" y="356672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CC462FF8-E88E-B27A-6DAF-CC9A1B7173C4}"/>
              </a:ext>
            </a:extLst>
          </p:cNvPr>
          <p:cNvSpPr/>
          <p:nvPr/>
        </p:nvSpPr>
        <p:spPr>
          <a:xfrm>
            <a:off x="146317" y="3516625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noProof="0" dirty="0">
                <a:solidFill>
                  <a:schemeClr val="accent1"/>
                </a:solidFill>
              </a:rPr>
              <a:t>Release 2 A</a:t>
            </a:r>
          </a:p>
        </p:txBody>
      </p:sp>
      <p:cxnSp>
        <p:nvCxnSpPr>
          <p:cNvPr id="53" name="Straight Connector 32">
            <a:extLst>
              <a:ext uri="{FF2B5EF4-FFF2-40B4-BE49-F238E27FC236}">
                <a16:creationId xmlns:a16="http://schemas.microsoft.com/office/drawing/2014/main" id="{3ED9305E-D507-C85F-F9E8-677690B768DF}"/>
              </a:ext>
            </a:extLst>
          </p:cNvPr>
          <p:cNvCxnSpPr>
            <a:cxnSpLocks/>
          </p:cNvCxnSpPr>
          <p:nvPr/>
        </p:nvCxnSpPr>
        <p:spPr>
          <a:xfrm>
            <a:off x="1975641" y="478228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067CB75-C971-B7BE-306B-B02F80FFF5DB}"/>
              </a:ext>
            </a:extLst>
          </p:cNvPr>
          <p:cNvSpPr/>
          <p:nvPr/>
        </p:nvSpPr>
        <p:spPr>
          <a:xfrm>
            <a:off x="165367" y="4677428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noProof="0" dirty="0">
                <a:solidFill>
                  <a:schemeClr val="accent1"/>
                </a:solidFill>
              </a:rPr>
              <a:t>Release 3</a:t>
            </a:r>
          </a:p>
        </p:txBody>
      </p:sp>
      <p:cxnSp>
        <p:nvCxnSpPr>
          <p:cNvPr id="44" name="414 Conector recto de flecha">
            <a:extLst>
              <a:ext uri="{FF2B5EF4-FFF2-40B4-BE49-F238E27FC236}">
                <a16:creationId xmlns:a16="http://schemas.microsoft.com/office/drawing/2014/main" id="{EBBB8334-F4AC-720E-B35A-E72425944EAB}"/>
              </a:ext>
            </a:extLst>
          </p:cNvPr>
          <p:cNvCxnSpPr>
            <a:cxnSpLocks/>
          </p:cNvCxnSpPr>
          <p:nvPr/>
        </p:nvCxnSpPr>
        <p:spPr bwMode="auto">
          <a:xfrm>
            <a:off x="2542031" y="2431006"/>
            <a:ext cx="1692000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9" name="414 Conector recto de flecha">
            <a:extLst>
              <a:ext uri="{FF2B5EF4-FFF2-40B4-BE49-F238E27FC236}">
                <a16:creationId xmlns:a16="http://schemas.microsoft.com/office/drawing/2014/main" id="{25B3E084-A715-9D88-B6BA-8774657CA236}"/>
              </a:ext>
            </a:extLst>
          </p:cNvPr>
          <p:cNvCxnSpPr>
            <a:cxnSpLocks/>
          </p:cNvCxnSpPr>
          <p:nvPr/>
        </p:nvCxnSpPr>
        <p:spPr bwMode="auto">
          <a:xfrm>
            <a:off x="4155854" y="3028522"/>
            <a:ext cx="2516494" cy="13737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2" name="414 Conector recto de flecha">
            <a:extLst>
              <a:ext uri="{FF2B5EF4-FFF2-40B4-BE49-F238E27FC236}">
                <a16:creationId xmlns:a16="http://schemas.microsoft.com/office/drawing/2014/main" id="{098AFCFC-8B65-4A98-1173-24CBAEA5D99A}"/>
              </a:ext>
            </a:extLst>
          </p:cNvPr>
          <p:cNvCxnSpPr>
            <a:cxnSpLocks/>
          </p:cNvCxnSpPr>
          <p:nvPr/>
        </p:nvCxnSpPr>
        <p:spPr bwMode="auto">
          <a:xfrm flipV="1">
            <a:off x="7318674" y="3568366"/>
            <a:ext cx="2054601" cy="8001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5" name="414 Conector recto de flecha">
            <a:extLst>
              <a:ext uri="{FF2B5EF4-FFF2-40B4-BE49-F238E27FC236}">
                <a16:creationId xmlns:a16="http://schemas.microsoft.com/office/drawing/2014/main" id="{725BCAFE-4672-1169-A3F0-A6F22FED851C}"/>
              </a:ext>
            </a:extLst>
          </p:cNvPr>
          <p:cNvCxnSpPr>
            <a:cxnSpLocks/>
          </p:cNvCxnSpPr>
          <p:nvPr/>
        </p:nvCxnSpPr>
        <p:spPr bwMode="auto">
          <a:xfrm>
            <a:off x="8347015" y="4781318"/>
            <a:ext cx="1440000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7" name="Star: 5 Points 14">
            <a:extLst>
              <a:ext uri="{FF2B5EF4-FFF2-40B4-BE49-F238E27FC236}">
                <a16:creationId xmlns:a16="http://schemas.microsoft.com/office/drawing/2014/main" id="{1FCF0B1C-4973-20BB-822B-7FB057CB02F0}"/>
              </a:ext>
            </a:extLst>
          </p:cNvPr>
          <p:cNvSpPr/>
          <p:nvPr/>
        </p:nvSpPr>
        <p:spPr>
          <a:xfrm>
            <a:off x="9975102" y="4663528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7" name="Star: 5 Points 14">
            <a:extLst>
              <a:ext uri="{FF2B5EF4-FFF2-40B4-BE49-F238E27FC236}">
                <a16:creationId xmlns:a16="http://schemas.microsoft.com/office/drawing/2014/main" id="{6FA68016-F8BD-DE36-6DBB-BB58BF04A709}"/>
              </a:ext>
            </a:extLst>
          </p:cNvPr>
          <p:cNvSpPr/>
          <p:nvPr/>
        </p:nvSpPr>
        <p:spPr>
          <a:xfrm>
            <a:off x="6133535" y="6450641"/>
            <a:ext cx="180000" cy="180000"/>
          </a:xfrm>
          <a:prstGeom prst="star5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tar: 5 Points 14">
            <a:extLst>
              <a:ext uri="{FF2B5EF4-FFF2-40B4-BE49-F238E27FC236}">
                <a16:creationId xmlns:a16="http://schemas.microsoft.com/office/drawing/2014/main" id="{1B93C0BD-A1FA-157B-D4DA-14899CF7C664}"/>
              </a:ext>
            </a:extLst>
          </p:cNvPr>
          <p:cNvSpPr/>
          <p:nvPr/>
        </p:nvSpPr>
        <p:spPr>
          <a:xfrm>
            <a:off x="5022531" y="6450641"/>
            <a:ext cx="180000" cy="180000"/>
          </a:xfrm>
          <a:prstGeom prst="star5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Star: 5 Points 14">
            <a:extLst>
              <a:ext uri="{FF2B5EF4-FFF2-40B4-BE49-F238E27FC236}">
                <a16:creationId xmlns:a16="http://schemas.microsoft.com/office/drawing/2014/main" id="{BECA6294-E7D6-EC47-8E45-A3EEE048DA50}"/>
              </a:ext>
            </a:extLst>
          </p:cNvPr>
          <p:cNvSpPr/>
          <p:nvPr/>
        </p:nvSpPr>
        <p:spPr>
          <a:xfrm>
            <a:off x="9420171" y="3435462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633A9D5E-FAB9-B308-1845-136A3622A09A}"/>
              </a:ext>
            </a:extLst>
          </p:cNvPr>
          <p:cNvCxnSpPr>
            <a:cxnSpLocks/>
          </p:cNvCxnSpPr>
          <p:nvPr/>
        </p:nvCxnSpPr>
        <p:spPr>
          <a:xfrm>
            <a:off x="8985859" y="1007261"/>
            <a:ext cx="0" cy="5040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414 Conector recto de flecha">
            <a:extLst>
              <a:ext uri="{FF2B5EF4-FFF2-40B4-BE49-F238E27FC236}">
                <a16:creationId xmlns:a16="http://schemas.microsoft.com/office/drawing/2014/main" id="{4919E23F-1A20-CB66-7595-CBAECB70B752}"/>
              </a:ext>
            </a:extLst>
          </p:cNvPr>
          <p:cNvCxnSpPr>
            <a:cxnSpLocks/>
          </p:cNvCxnSpPr>
          <p:nvPr/>
        </p:nvCxnSpPr>
        <p:spPr bwMode="auto">
          <a:xfrm>
            <a:off x="1925738" y="1295286"/>
            <a:ext cx="1944000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193BA9E9-F468-3157-37E6-C0A478429022}"/>
              </a:ext>
            </a:extLst>
          </p:cNvPr>
          <p:cNvSpPr/>
          <p:nvPr/>
        </p:nvSpPr>
        <p:spPr>
          <a:xfrm>
            <a:off x="3961566" y="6450641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CuadroTexto 34">
            <a:extLst>
              <a:ext uri="{FF2B5EF4-FFF2-40B4-BE49-F238E27FC236}">
                <a16:creationId xmlns:a16="http://schemas.microsoft.com/office/drawing/2014/main" id="{A7CABA50-D5C9-59E9-C01A-3545355E1AE0}"/>
              </a:ext>
            </a:extLst>
          </p:cNvPr>
          <p:cNvSpPr txBox="1"/>
          <p:nvPr/>
        </p:nvSpPr>
        <p:spPr>
          <a:xfrm>
            <a:off x="4126078" y="6442606"/>
            <a:ext cx="577402" cy="19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Completed</a:t>
            </a:r>
          </a:p>
        </p:txBody>
      </p:sp>
      <p:sp>
        <p:nvSpPr>
          <p:cNvPr id="45" name="CuadroTexto 179">
            <a:extLst>
              <a:ext uri="{FF2B5EF4-FFF2-40B4-BE49-F238E27FC236}">
                <a16:creationId xmlns:a16="http://schemas.microsoft.com/office/drawing/2014/main" id="{C9009536-E1A0-BA6E-3C88-945EDE8CE104}"/>
              </a:ext>
            </a:extLst>
          </p:cNvPr>
          <p:cNvSpPr txBox="1"/>
          <p:nvPr/>
        </p:nvSpPr>
        <p:spPr>
          <a:xfrm>
            <a:off x="5187043" y="6388933"/>
            <a:ext cx="625492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Recoverable</a:t>
            </a:r>
            <a:b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</a:b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delay</a:t>
            </a:r>
          </a:p>
        </p:txBody>
      </p:sp>
      <p:sp>
        <p:nvSpPr>
          <p:cNvPr id="57" name="CuadroTexto 182">
            <a:extLst>
              <a:ext uri="{FF2B5EF4-FFF2-40B4-BE49-F238E27FC236}">
                <a16:creationId xmlns:a16="http://schemas.microsoft.com/office/drawing/2014/main" id="{E3EF8683-C0BE-B001-0E91-EB3724D5A35B}"/>
              </a:ext>
            </a:extLst>
          </p:cNvPr>
          <p:cNvSpPr txBox="1"/>
          <p:nvPr/>
        </p:nvSpPr>
        <p:spPr>
          <a:xfrm>
            <a:off x="6298047" y="6388933"/>
            <a:ext cx="998991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Risk / Non-recoverable</a:t>
            </a:r>
            <a:b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</a:b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delay</a:t>
            </a:r>
          </a:p>
        </p:txBody>
      </p:sp>
      <p:sp>
        <p:nvSpPr>
          <p:cNvPr id="74" name="Star: 5 Points 14">
            <a:extLst>
              <a:ext uri="{FF2B5EF4-FFF2-40B4-BE49-F238E27FC236}">
                <a16:creationId xmlns:a16="http://schemas.microsoft.com/office/drawing/2014/main" id="{301BCF0E-82A5-9333-8A85-237FD77F1A34}"/>
              </a:ext>
            </a:extLst>
          </p:cNvPr>
          <p:cNvSpPr/>
          <p:nvPr/>
        </p:nvSpPr>
        <p:spPr>
          <a:xfrm>
            <a:off x="7408046" y="6450641"/>
            <a:ext cx="180000" cy="180000"/>
          </a:xfrm>
          <a:prstGeom prst="star5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CuadroTexto 182">
            <a:extLst>
              <a:ext uri="{FF2B5EF4-FFF2-40B4-BE49-F238E27FC236}">
                <a16:creationId xmlns:a16="http://schemas.microsoft.com/office/drawing/2014/main" id="{ADDB33C1-8D0B-8A57-57C5-75C08E136FBB}"/>
              </a:ext>
            </a:extLst>
          </p:cNvPr>
          <p:cNvSpPr txBox="1"/>
          <p:nvPr/>
        </p:nvSpPr>
        <p:spPr>
          <a:xfrm>
            <a:off x="7572558" y="6388933"/>
            <a:ext cx="570990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On going</a:t>
            </a:r>
            <a:b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</a:b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as planned</a:t>
            </a:r>
          </a:p>
        </p:txBody>
      </p:sp>
      <p:sp>
        <p:nvSpPr>
          <p:cNvPr id="77" name="CuadroTexto 186">
            <a:extLst>
              <a:ext uri="{FF2B5EF4-FFF2-40B4-BE49-F238E27FC236}">
                <a16:creationId xmlns:a16="http://schemas.microsoft.com/office/drawing/2014/main" id="{AC3D3BD8-3712-FB45-6197-CCD706347A6A}"/>
              </a:ext>
            </a:extLst>
          </p:cNvPr>
          <p:cNvSpPr txBox="1"/>
          <p:nvPr/>
        </p:nvSpPr>
        <p:spPr>
          <a:xfrm>
            <a:off x="9653503" y="6441704"/>
            <a:ext cx="676788" cy="19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To be defined</a:t>
            </a:r>
          </a:p>
        </p:txBody>
      </p:sp>
      <p:sp>
        <p:nvSpPr>
          <p:cNvPr id="79" name="CuadroTexto 187">
            <a:extLst>
              <a:ext uri="{FF2B5EF4-FFF2-40B4-BE49-F238E27FC236}">
                <a16:creationId xmlns:a16="http://schemas.microsoft.com/office/drawing/2014/main" id="{E8A3A8F7-1288-8978-4CF3-E0526A113E7B}"/>
              </a:ext>
            </a:extLst>
          </p:cNvPr>
          <p:cNvSpPr txBox="1"/>
          <p:nvPr/>
        </p:nvSpPr>
        <p:spPr>
          <a:xfrm>
            <a:off x="8635472" y="6441704"/>
            <a:ext cx="526106" cy="19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Cancelled</a:t>
            </a:r>
          </a:p>
        </p:txBody>
      </p:sp>
      <p:sp>
        <p:nvSpPr>
          <p:cNvPr id="80" name="Star: 5 Points 14">
            <a:extLst>
              <a:ext uri="{FF2B5EF4-FFF2-40B4-BE49-F238E27FC236}">
                <a16:creationId xmlns:a16="http://schemas.microsoft.com/office/drawing/2014/main" id="{05DB474B-5C52-763C-65A3-A905EE2A89B1}"/>
              </a:ext>
            </a:extLst>
          </p:cNvPr>
          <p:cNvSpPr/>
          <p:nvPr/>
        </p:nvSpPr>
        <p:spPr>
          <a:xfrm>
            <a:off x="8470960" y="6450641"/>
            <a:ext cx="180000" cy="180000"/>
          </a:xfrm>
          <a:prstGeom prst="star5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Star: 5 Points 14">
            <a:extLst>
              <a:ext uri="{FF2B5EF4-FFF2-40B4-BE49-F238E27FC236}">
                <a16:creationId xmlns:a16="http://schemas.microsoft.com/office/drawing/2014/main" id="{DFD043D5-963B-7AE3-B10C-AA0197103C72}"/>
              </a:ext>
            </a:extLst>
          </p:cNvPr>
          <p:cNvSpPr/>
          <p:nvPr/>
        </p:nvSpPr>
        <p:spPr>
          <a:xfrm>
            <a:off x="9488990" y="6450641"/>
            <a:ext cx="180000" cy="180000"/>
          </a:xfrm>
          <a:prstGeom prst="star5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Star: 5 Points 14">
            <a:extLst>
              <a:ext uri="{FF2B5EF4-FFF2-40B4-BE49-F238E27FC236}">
                <a16:creationId xmlns:a16="http://schemas.microsoft.com/office/drawing/2014/main" id="{D6EB42F7-7A35-147C-A73C-6BCDA8F7A567}"/>
              </a:ext>
            </a:extLst>
          </p:cNvPr>
          <p:cNvSpPr/>
          <p:nvPr/>
        </p:nvSpPr>
        <p:spPr>
          <a:xfrm>
            <a:off x="3780444" y="1181762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noProof="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83" name="CuadroTexto 34">
            <a:extLst>
              <a:ext uri="{FF2B5EF4-FFF2-40B4-BE49-F238E27FC236}">
                <a16:creationId xmlns:a16="http://schemas.microsoft.com/office/drawing/2014/main" id="{B7D71A40-745E-CFFD-1D32-7197099FFC46}"/>
              </a:ext>
            </a:extLst>
          </p:cNvPr>
          <p:cNvSpPr txBox="1"/>
          <p:nvPr/>
        </p:nvSpPr>
        <p:spPr>
          <a:xfrm>
            <a:off x="3444749" y="1365721"/>
            <a:ext cx="862736" cy="514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29/01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Distribución Azure 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Functions</a:t>
            </a:r>
          </a:p>
          <a:p>
            <a:pPr algn="ctr"/>
            <a:endParaRPr lang="es-ES" sz="686" noProof="0" dirty="0">
              <a:solidFill>
                <a:srgbClr val="000000"/>
              </a:solidFill>
              <a:latin typeface="Santander Headline" panose="020B0504020201020104" pitchFamily="34" charset="0"/>
            </a:endParaRPr>
          </a:p>
        </p:txBody>
      </p:sp>
      <p:cxnSp>
        <p:nvCxnSpPr>
          <p:cNvPr id="84" name="414 Conector recto de flecha">
            <a:extLst>
              <a:ext uri="{FF2B5EF4-FFF2-40B4-BE49-F238E27FC236}">
                <a16:creationId xmlns:a16="http://schemas.microsoft.com/office/drawing/2014/main" id="{829BBEC0-1E68-300C-79F5-1E6A869D0B58}"/>
              </a:ext>
            </a:extLst>
          </p:cNvPr>
          <p:cNvCxnSpPr>
            <a:cxnSpLocks/>
          </p:cNvCxnSpPr>
          <p:nvPr/>
        </p:nvCxnSpPr>
        <p:spPr bwMode="auto">
          <a:xfrm>
            <a:off x="1940985" y="1863146"/>
            <a:ext cx="1980000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6" name="Star: 5 Points 14">
            <a:extLst>
              <a:ext uri="{FF2B5EF4-FFF2-40B4-BE49-F238E27FC236}">
                <a16:creationId xmlns:a16="http://schemas.microsoft.com/office/drawing/2014/main" id="{D118136E-CB7C-AF7B-51F1-64EC93FE78AF}"/>
              </a:ext>
            </a:extLst>
          </p:cNvPr>
          <p:cNvSpPr/>
          <p:nvPr/>
        </p:nvSpPr>
        <p:spPr>
          <a:xfrm>
            <a:off x="3847119" y="1743737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noProof="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87" name="CuadroTexto 34">
            <a:extLst>
              <a:ext uri="{FF2B5EF4-FFF2-40B4-BE49-F238E27FC236}">
                <a16:creationId xmlns:a16="http://schemas.microsoft.com/office/drawing/2014/main" id="{64486133-4FAC-AD6D-3380-4264A4B41C0D}"/>
              </a:ext>
            </a:extLst>
          </p:cNvPr>
          <p:cNvSpPr txBox="1"/>
          <p:nvPr/>
        </p:nvSpPr>
        <p:spPr>
          <a:xfrm>
            <a:off x="3738186" y="1888332"/>
            <a:ext cx="397866" cy="19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30/01</a:t>
            </a:r>
          </a:p>
        </p:txBody>
      </p:sp>
      <p:sp>
        <p:nvSpPr>
          <p:cNvPr id="95" name="Star: 5 Points 14">
            <a:extLst>
              <a:ext uri="{FF2B5EF4-FFF2-40B4-BE49-F238E27FC236}">
                <a16:creationId xmlns:a16="http://schemas.microsoft.com/office/drawing/2014/main" id="{37BCE81E-907E-1072-B387-B46F099EBF69}"/>
              </a:ext>
            </a:extLst>
          </p:cNvPr>
          <p:cNvSpPr/>
          <p:nvPr/>
        </p:nvSpPr>
        <p:spPr>
          <a:xfrm>
            <a:off x="6731024" y="2946966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4" name="Star: 5 Points 14">
            <a:extLst>
              <a:ext uri="{FF2B5EF4-FFF2-40B4-BE49-F238E27FC236}">
                <a16:creationId xmlns:a16="http://schemas.microsoft.com/office/drawing/2014/main" id="{98272BD0-04B1-8851-79F5-64B874C45102}"/>
              </a:ext>
            </a:extLst>
          </p:cNvPr>
          <p:cNvSpPr/>
          <p:nvPr/>
        </p:nvSpPr>
        <p:spPr>
          <a:xfrm>
            <a:off x="4546912" y="1188203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5" name="CuadroTexto 34">
            <a:extLst>
              <a:ext uri="{FF2B5EF4-FFF2-40B4-BE49-F238E27FC236}">
                <a16:creationId xmlns:a16="http://schemas.microsoft.com/office/drawing/2014/main" id="{6F30D202-2EC0-4A89-5AEF-88743299424E}"/>
              </a:ext>
            </a:extLst>
          </p:cNvPr>
          <p:cNvSpPr txBox="1"/>
          <p:nvPr/>
        </p:nvSpPr>
        <p:spPr>
          <a:xfrm>
            <a:off x="4290503" y="1390882"/>
            <a:ext cx="692818" cy="6200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10/02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Confirmación 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Infraestructra 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PRE / PRO</a:t>
            </a:r>
          </a:p>
          <a:p>
            <a:pPr algn="ctr"/>
            <a:endParaRPr lang="es-ES" sz="686" noProof="0" dirty="0">
              <a:solidFill>
                <a:srgbClr val="000000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7" name="Star: 5 Points 14">
            <a:extLst>
              <a:ext uri="{FF2B5EF4-FFF2-40B4-BE49-F238E27FC236}">
                <a16:creationId xmlns:a16="http://schemas.microsoft.com/office/drawing/2014/main" id="{D8364795-2E6F-EBBA-24F3-92D3543E6128}"/>
              </a:ext>
            </a:extLst>
          </p:cNvPr>
          <p:cNvSpPr/>
          <p:nvPr/>
        </p:nvSpPr>
        <p:spPr>
          <a:xfrm>
            <a:off x="4155854" y="2307870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noProof="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6" name="CuadroTexto 34">
            <a:extLst>
              <a:ext uri="{FF2B5EF4-FFF2-40B4-BE49-F238E27FC236}">
                <a16:creationId xmlns:a16="http://schemas.microsoft.com/office/drawing/2014/main" id="{FC3D1283-7FBD-4EC0-7D09-449D20B15B2D}"/>
              </a:ext>
            </a:extLst>
          </p:cNvPr>
          <p:cNvSpPr txBox="1"/>
          <p:nvPr/>
        </p:nvSpPr>
        <p:spPr>
          <a:xfrm>
            <a:off x="4046921" y="2490700"/>
            <a:ext cx="397866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05/02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DEV</a:t>
            </a:r>
          </a:p>
        </p:txBody>
      </p:sp>
      <p:sp>
        <p:nvSpPr>
          <p:cNvPr id="30" name="CuadroTexto 34">
            <a:extLst>
              <a:ext uri="{FF2B5EF4-FFF2-40B4-BE49-F238E27FC236}">
                <a16:creationId xmlns:a16="http://schemas.microsoft.com/office/drawing/2014/main" id="{60D002BD-A7B7-BF99-972C-46949F953428}"/>
              </a:ext>
            </a:extLst>
          </p:cNvPr>
          <p:cNvSpPr txBox="1"/>
          <p:nvPr/>
        </p:nvSpPr>
        <p:spPr>
          <a:xfrm>
            <a:off x="6622088" y="3146640"/>
            <a:ext cx="397866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dirty="0">
                <a:solidFill>
                  <a:srgbClr val="000000"/>
                </a:solidFill>
                <a:latin typeface="Santander Headline" panose="020B0504020201020104" pitchFamily="34" charset="0"/>
              </a:rPr>
              <a:t>12</a:t>
            </a: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/03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DEV</a:t>
            </a:r>
          </a:p>
        </p:txBody>
      </p:sp>
      <p:sp>
        <p:nvSpPr>
          <p:cNvPr id="2" name="CuadroTexto 34">
            <a:extLst>
              <a:ext uri="{FF2B5EF4-FFF2-40B4-BE49-F238E27FC236}">
                <a16:creationId xmlns:a16="http://schemas.microsoft.com/office/drawing/2014/main" id="{96BAAC3B-04C9-573D-D8C7-E4C805ED1EE3}"/>
              </a:ext>
            </a:extLst>
          </p:cNvPr>
          <p:cNvSpPr txBox="1"/>
          <p:nvPr/>
        </p:nvSpPr>
        <p:spPr>
          <a:xfrm>
            <a:off x="9311235" y="3586008"/>
            <a:ext cx="397866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dirty="0">
                <a:solidFill>
                  <a:srgbClr val="000000"/>
                </a:solidFill>
                <a:latin typeface="Santander Headline" panose="020B0504020201020104" pitchFamily="34" charset="0"/>
              </a:rPr>
              <a:t>20</a:t>
            </a: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/04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DEV</a:t>
            </a:r>
          </a:p>
        </p:txBody>
      </p:sp>
      <p:sp>
        <p:nvSpPr>
          <p:cNvPr id="20" name="CuadroTexto 34">
            <a:extLst>
              <a:ext uri="{FF2B5EF4-FFF2-40B4-BE49-F238E27FC236}">
                <a16:creationId xmlns:a16="http://schemas.microsoft.com/office/drawing/2014/main" id="{53418197-D8F4-7321-E5C8-7BF7D5952E91}"/>
              </a:ext>
            </a:extLst>
          </p:cNvPr>
          <p:cNvSpPr txBox="1"/>
          <p:nvPr/>
        </p:nvSpPr>
        <p:spPr>
          <a:xfrm>
            <a:off x="9866166" y="4862816"/>
            <a:ext cx="397866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dirty="0">
                <a:solidFill>
                  <a:srgbClr val="000000"/>
                </a:solidFill>
                <a:latin typeface="Santander Headline" panose="020B0504020201020104" pitchFamily="34" charset="0"/>
              </a:rPr>
              <a:t>29</a:t>
            </a: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/0</a:t>
            </a:r>
            <a:r>
              <a:rPr lang="es-ES" sz="686" dirty="0">
                <a:solidFill>
                  <a:srgbClr val="000000"/>
                </a:solidFill>
                <a:latin typeface="Santander Headline" panose="020B0504020201020104" pitchFamily="34" charset="0"/>
              </a:rPr>
              <a:t>4</a:t>
            </a:r>
            <a:endParaRPr lang="es-ES" sz="686" noProof="0" dirty="0">
              <a:solidFill>
                <a:srgbClr val="000000"/>
              </a:solidFill>
              <a:latin typeface="Santander Headline" panose="020B0504020201020104" pitchFamily="34" charset="0"/>
            </a:endParaRP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DEV</a:t>
            </a:r>
          </a:p>
        </p:txBody>
      </p:sp>
      <p:cxnSp>
        <p:nvCxnSpPr>
          <p:cNvPr id="34" name="Straight Connector 32">
            <a:extLst>
              <a:ext uri="{FF2B5EF4-FFF2-40B4-BE49-F238E27FC236}">
                <a16:creationId xmlns:a16="http://schemas.microsoft.com/office/drawing/2014/main" id="{6DD26739-07FA-27B7-96B9-D2EFDEA1DB17}"/>
              </a:ext>
            </a:extLst>
          </p:cNvPr>
          <p:cNvCxnSpPr>
            <a:cxnSpLocks/>
          </p:cNvCxnSpPr>
          <p:nvPr/>
        </p:nvCxnSpPr>
        <p:spPr>
          <a:xfrm>
            <a:off x="1975641" y="4187417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2BEE900-7BB8-C645-FEC1-ECE227E850E4}"/>
              </a:ext>
            </a:extLst>
          </p:cNvPr>
          <p:cNvSpPr/>
          <p:nvPr/>
        </p:nvSpPr>
        <p:spPr>
          <a:xfrm>
            <a:off x="165367" y="4097028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noProof="0" dirty="0">
                <a:solidFill>
                  <a:schemeClr val="accent1"/>
                </a:solidFill>
              </a:rPr>
              <a:t>Release 2 B</a:t>
            </a:r>
          </a:p>
        </p:txBody>
      </p:sp>
      <p:cxnSp>
        <p:nvCxnSpPr>
          <p:cNvPr id="36" name="414 Conector recto de flecha">
            <a:extLst>
              <a:ext uri="{FF2B5EF4-FFF2-40B4-BE49-F238E27FC236}">
                <a16:creationId xmlns:a16="http://schemas.microsoft.com/office/drawing/2014/main" id="{1C94BA6A-955C-B580-112D-594B76DA7A9A}"/>
              </a:ext>
            </a:extLst>
          </p:cNvPr>
          <p:cNvCxnSpPr>
            <a:cxnSpLocks/>
          </p:cNvCxnSpPr>
          <p:nvPr/>
        </p:nvCxnSpPr>
        <p:spPr bwMode="auto">
          <a:xfrm>
            <a:off x="8715713" y="4195359"/>
            <a:ext cx="1711605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0" name="Star: 5 Points 14">
            <a:extLst>
              <a:ext uri="{FF2B5EF4-FFF2-40B4-BE49-F238E27FC236}">
                <a16:creationId xmlns:a16="http://schemas.microsoft.com/office/drawing/2014/main" id="{93FF0AAA-9A93-8225-147D-E55C6B34B7ED}"/>
              </a:ext>
            </a:extLst>
          </p:cNvPr>
          <p:cNvSpPr/>
          <p:nvPr/>
        </p:nvSpPr>
        <p:spPr>
          <a:xfrm>
            <a:off x="10441521" y="4056153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46" name="CuadroTexto 34">
            <a:extLst>
              <a:ext uri="{FF2B5EF4-FFF2-40B4-BE49-F238E27FC236}">
                <a16:creationId xmlns:a16="http://schemas.microsoft.com/office/drawing/2014/main" id="{C48D1216-E938-9B00-54F7-CA24ED01925D}"/>
              </a:ext>
            </a:extLst>
          </p:cNvPr>
          <p:cNvSpPr txBox="1"/>
          <p:nvPr/>
        </p:nvSpPr>
        <p:spPr>
          <a:xfrm>
            <a:off x="10332583" y="4206699"/>
            <a:ext cx="397866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dirty="0">
                <a:solidFill>
                  <a:srgbClr val="000000"/>
                </a:solidFill>
                <a:latin typeface="Santander Headline" panose="020B0504020201020104" pitchFamily="34" charset="0"/>
              </a:rPr>
              <a:t>08</a:t>
            </a: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/05</a:t>
            </a: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DEV</a:t>
            </a:r>
          </a:p>
        </p:txBody>
      </p:sp>
      <p:sp>
        <p:nvSpPr>
          <p:cNvPr id="59" name="Star: 5 Points 14">
            <a:extLst>
              <a:ext uri="{FF2B5EF4-FFF2-40B4-BE49-F238E27FC236}">
                <a16:creationId xmlns:a16="http://schemas.microsoft.com/office/drawing/2014/main" id="{323BB2AE-98B5-4382-51A5-6DD138662D61}"/>
              </a:ext>
            </a:extLst>
          </p:cNvPr>
          <p:cNvSpPr/>
          <p:nvPr/>
        </p:nvSpPr>
        <p:spPr>
          <a:xfrm>
            <a:off x="8883688" y="2913097"/>
            <a:ext cx="180000" cy="180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62" name="CuadroTexto 34">
            <a:extLst>
              <a:ext uri="{FF2B5EF4-FFF2-40B4-BE49-F238E27FC236}">
                <a16:creationId xmlns:a16="http://schemas.microsoft.com/office/drawing/2014/main" id="{52A2894D-2C25-4618-A51C-2DB2A51712E1}"/>
              </a:ext>
            </a:extLst>
          </p:cNvPr>
          <p:cNvSpPr txBox="1"/>
          <p:nvPr/>
        </p:nvSpPr>
        <p:spPr>
          <a:xfrm>
            <a:off x="8551938" y="3079508"/>
            <a:ext cx="843500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dirty="0">
                <a:solidFill>
                  <a:srgbClr val="000000"/>
                </a:solidFill>
                <a:latin typeface="Santander Headline" panose="020B0504020201020104" pitchFamily="34" charset="0"/>
              </a:rPr>
              <a:t>14</a:t>
            </a: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/04</a:t>
            </a:r>
          </a:p>
          <a:p>
            <a:pPr algn="ctr"/>
            <a:r>
              <a:rPr lang="es-ES" sz="686" dirty="0">
                <a:solidFill>
                  <a:srgbClr val="000000"/>
                </a:solidFill>
                <a:latin typeface="Santander Headline" panose="020B0504020201020104" pitchFamily="34" charset="0"/>
              </a:rPr>
              <a:t>Despliegue en </a:t>
            </a:r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PRE</a:t>
            </a:r>
          </a:p>
        </p:txBody>
      </p:sp>
      <p:sp>
        <p:nvSpPr>
          <p:cNvPr id="25" name="Star: 5 Points 14">
            <a:extLst>
              <a:ext uri="{FF2B5EF4-FFF2-40B4-BE49-F238E27FC236}">
                <a16:creationId xmlns:a16="http://schemas.microsoft.com/office/drawing/2014/main" id="{E3180156-1D6C-365D-B419-3ECC11BF6C54}"/>
              </a:ext>
            </a:extLst>
          </p:cNvPr>
          <p:cNvSpPr/>
          <p:nvPr/>
        </p:nvSpPr>
        <p:spPr>
          <a:xfrm>
            <a:off x="9296222" y="4943658"/>
            <a:ext cx="180000" cy="180000"/>
          </a:xfrm>
          <a:prstGeom prst="star5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8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31" name="CuadroTexto 34">
            <a:extLst>
              <a:ext uri="{FF2B5EF4-FFF2-40B4-BE49-F238E27FC236}">
                <a16:creationId xmlns:a16="http://schemas.microsoft.com/office/drawing/2014/main" id="{5E5A3045-723A-7F59-A4BE-DB1DFFD6C821}"/>
              </a:ext>
            </a:extLst>
          </p:cNvPr>
          <p:cNvSpPr txBox="1"/>
          <p:nvPr/>
        </p:nvSpPr>
        <p:spPr>
          <a:xfrm>
            <a:off x="8686354" y="5155903"/>
            <a:ext cx="1399742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15/0</a:t>
            </a:r>
            <a:r>
              <a:rPr lang="es-ES" sz="686" dirty="0">
                <a:solidFill>
                  <a:srgbClr val="000000"/>
                </a:solidFill>
                <a:latin typeface="Santander Headline" panose="020B0504020201020104" pitchFamily="34" charset="0"/>
              </a:rPr>
              <a:t>4</a:t>
            </a:r>
            <a:endParaRPr lang="es-ES" sz="686" noProof="0" dirty="0">
              <a:solidFill>
                <a:srgbClr val="000000"/>
              </a:solidFill>
              <a:latin typeface="Santander Headline" panose="020B0504020201020104" pitchFamily="34" charset="0"/>
            </a:endParaRPr>
          </a:p>
          <a:p>
            <a:pPr algn="ctr"/>
            <a:r>
              <a:rPr lang="es-ES" sz="686" noProof="0" dirty="0">
                <a:solidFill>
                  <a:srgbClr val="000000"/>
                </a:solidFill>
                <a:latin typeface="Santander Headline" panose="020B0504020201020104" pitchFamily="34" charset="0"/>
              </a:rPr>
              <a:t>Fin desarrollos de CI y DH ingestas</a:t>
            </a:r>
          </a:p>
        </p:txBody>
      </p: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32E5E3B1-69C3-9B2B-3365-1B891E10FE97}"/>
              </a:ext>
            </a:extLst>
          </p:cNvPr>
          <p:cNvCxnSpPr>
            <a:cxnSpLocks/>
            <a:stCxn id="25" idx="4"/>
            <a:endCxn id="67" idx="1"/>
          </p:cNvCxnSpPr>
          <p:nvPr/>
        </p:nvCxnSpPr>
        <p:spPr>
          <a:xfrm flipV="1">
            <a:off x="9476222" y="4732282"/>
            <a:ext cx="498880" cy="28013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21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5E4D1-8080-1D09-A730-3724506D4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26CB-848B-3FDC-B144-089700B8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Anexos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7495F-1A97-83C9-807F-36DDA43783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noProof="0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7238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7B3E-4AF9-A8E8-841F-B3E76938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17AB18-582E-4727-F85E-575EF6571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13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0F53C9-405A-238A-42F8-2A9DEF483A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Anexo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Documentos de trabajo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2CE877A-98F8-4391-82A7-278837877F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240349"/>
              </p:ext>
            </p:extLst>
          </p:nvPr>
        </p:nvGraphicFramePr>
        <p:xfrm>
          <a:off x="5633191" y="147781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525" progId="Excel.Sheet.12">
                  <p:embed/>
                </p:oleObj>
              </mc:Choice>
              <mc:Fallback>
                <p:oleObj name="Worksheet" showAsIcon="1" r:id="rId3" imgW="914400" imgH="771525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2CE877A-98F8-4391-82A7-278837877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3191" y="147781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9DFAAC75-3A57-1B33-BE3E-E5865C3B000B}"/>
              </a:ext>
            </a:extLst>
          </p:cNvPr>
          <p:cNvSpPr/>
          <p:nvPr/>
        </p:nvSpPr>
        <p:spPr>
          <a:xfrm>
            <a:off x="806643" y="886208"/>
            <a:ext cx="7628965" cy="658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400"/>
              </a:spcBef>
            </a:pPr>
            <a:r>
              <a:rPr lang="es-ES" sz="2000" noProof="0" dirty="0">
                <a:solidFill>
                  <a:srgbClr val="FF0000"/>
                </a:solidFill>
              </a:rPr>
              <a:t>1. </a:t>
            </a:r>
            <a:r>
              <a:rPr lang="es-ES" sz="2800" noProof="0" dirty="0">
                <a:solidFill>
                  <a:schemeClr val="bg1">
                    <a:lumMod val="50000"/>
                  </a:schemeClr>
                </a:solidFill>
              </a:rPr>
              <a:t>Listado de tareas de automatización BAU</a:t>
            </a:r>
          </a:p>
        </p:txBody>
      </p:sp>
    </p:spTree>
    <p:extLst>
      <p:ext uri="{BB962C8B-B14F-4D97-AF65-F5344CB8AC3E}">
        <p14:creationId xmlns:p14="http://schemas.microsoft.com/office/powerpoint/2010/main" val="24411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4BA2-9500-EBD9-8894-C386CB7C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04861-7F06-BA5E-0B75-9F303429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14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9A5F24-3EF7-504D-389D-B884FFF6E7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09/01/2026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CF73B0-D60D-8C03-E65E-34DA8B1674FF}"/>
              </a:ext>
            </a:extLst>
          </p:cNvPr>
          <p:cNvSpPr/>
          <p:nvPr/>
        </p:nvSpPr>
        <p:spPr>
          <a:xfrm>
            <a:off x="30050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 completado el </a:t>
            </a: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inventario de componentes y URLs 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asociadas.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han gestionado los </a:t>
            </a: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permisos y accesos 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del equipo a los aplicativos prácticamente al 100%. Tenemos el foco en el acceso a DEVO PRE, porque es el único punto que queda pendiente y puede impactar en la primera entrega.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 definido la primera planificación con 4 entregas para los próximos meses de proyecto.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Como objetivo: Disponer de </a:t>
            </a: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un MVP en PRO el 29 de enero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, orientado a validar el pipeline de despliegues, integración entre componentes y funcionalidades base de la automatización.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El resto de las entregas se ajustarán en función al aprendizaje obtenido durante el primer despliegue.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0A11CB-3DB1-4869-2D58-0B0F4553CA8C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DFE40-6159-5FB7-6564-A0D21144E702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Pendiente de aclarar el modelo de Desarrollo y Despliegue.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1FE9DE-4567-0C9F-32A5-AF09DB35F34D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8CA22-A9C7-9362-1DE7-58BED126332E}"/>
              </a:ext>
            </a:extLst>
          </p:cNvPr>
          <p:cNvSpPr/>
          <p:nvPr/>
        </p:nvSpPr>
        <p:spPr>
          <a:xfrm>
            <a:off x="624625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Reunión de alineamiento con el equipo de desarrollo para definir el modelo de desarrollo y despliegue (entornos, espacios de trabajo y componentes).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Definición de los requisitos de negocio sobre los datos a leer y almacenar en Cosmos.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Actualización del diseño de la arquitectura integrando Azure Functions, Databricks y Cosmos.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F4F8BA-1D48-A01D-9615-212613C529DD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DBE879-F3F3-8F84-D84A-8173A9407BBD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4EF8F3-8441-ED56-0FA8-677A16A69AF4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</p:spTree>
    <p:extLst>
      <p:ext uri="{BB962C8B-B14F-4D97-AF65-F5344CB8AC3E}">
        <p14:creationId xmlns:p14="http://schemas.microsoft.com/office/powerpoint/2010/main" val="155508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F671-E81E-5629-DEDF-184006D1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C11CEB-D755-C36E-B10C-46B53259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15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F1C9D6-AC10-8579-2009-B3BA6A4FED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15/01/2026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8E6EE6-0494-3969-B343-E7CF959B6772}"/>
              </a:ext>
            </a:extLst>
          </p:cNvPr>
          <p:cNvSpPr/>
          <p:nvPr/>
        </p:nvSpPr>
        <p:spPr>
          <a:xfrm>
            <a:off x="30050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 trabajado sobre el modelo de arquitectura que utilizará la solución y los componentes involucrados.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Aclarado el modelo de desarrollo y despliegue por GLUON. Se reutilizará la aplicación existente </a:t>
            </a:r>
            <a:r>
              <a:rPr lang="es-ES" sz="12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SDH – OneFCC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 y ajustado los roles para desarrollo.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 investigado la información almacenada en CosmosDB y se ha empezado a mapear parte de los datos que actualmente leemos de DEVO.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han identificado las condiciones de entrada para cada uno de los procesos a automatizar, desde un punto de vista funcional.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A1AEFB-DF04-1D74-5A39-6520DCD10356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86E7B-4A8A-8FAD-75C2-A51498F1C20B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Confirmar modelo de arquitectura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Python vs NodeJS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¿Cómo crear las incidencias en Service Now? A través de DEVO o mediante el API de Service Now.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Crear tablas para replicar la información que hay actualmente en Excel. ¿Se crean en CosmoDB, DEVO?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8EE18C-8BFE-A98B-A0A7-D74950DD5582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ED9ADD-7BC2-B59C-9F59-C9B0FE383294}"/>
              </a:ext>
            </a:extLst>
          </p:cNvPr>
          <p:cNvSpPr/>
          <p:nvPr/>
        </p:nvSpPr>
        <p:spPr>
          <a:xfrm>
            <a:off x="624625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Comenzar el desarrollo del MVP “BAU-5”: Integración Azure Functions con CosmosDB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Estabilizar la pipeline de desarrollo / despliegue.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Revisar cómo hacer la suscripción al tópico.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516E5E-5BA9-863D-35B1-EF2F43E55C27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3B8A1D-1D53-DCCF-3B54-A0A9CFDCCA3D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Necesitamos el catálogo de eventos que se envían a través del tópico.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Necesitamos soporte para entender el modelo de datos de CosmosDB terminar el mapeo con los datos en DEVO.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Actualmente, parte de las actividades manuales se ejecutan desde Databricks (BAU-20). Tenemos que analizar si finalmente Podemos eliminar esta dependencia.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Con la arquitectura basada en Azure Functions, ¿Cómo vamos a poder monitorizar los procesos?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B71F7D-17A0-1A54-0058-81B9FAB5BBB8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</p:spTree>
    <p:extLst>
      <p:ext uri="{BB962C8B-B14F-4D97-AF65-F5344CB8AC3E}">
        <p14:creationId xmlns:p14="http://schemas.microsoft.com/office/powerpoint/2010/main" val="228354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75B0-119B-84BD-610B-B0221E00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FE775B-D490-3400-DAEC-64089827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16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075A3-B061-B1C6-C745-5BB9BDA721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23/01/2026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FED9-F6F4-AF13-4B1D-42DCD16B2405}"/>
              </a:ext>
            </a:extLst>
          </p:cNvPr>
          <p:cNvSpPr/>
          <p:nvPr/>
        </p:nvSpPr>
        <p:spPr>
          <a:xfrm>
            <a:off x="30050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Se ha desarrollado un primer código en Azure Functions y estamos al 80% de poder desplegarlo en el entorno de DEV</a:t>
            </a:r>
            <a:r>
              <a:rPr lang="es-ES" sz="1200" noProof="0" dirty="0">
                <a:cs typeface="Segoe UI Light"/>
              </a:rPr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Se ha acordado que </a:t>
            </a:r>
            <a:r>
              <a:rPr lang="es-ES" sz="1200" noProof="0" dirty="0" err="1">
                <a:cs typeface="Segoe UI Light"/>
              </a:rPr>
              <a:t>SnowFlake</a:t>
            </a:r>
            <a:r>
              <a:rPr lang="es-ES" sz="1200" noProof="0" dirty="0">
                <a:cs typeface="Segoe UI Light"/>
              </a:rPr>
              <a:t> será el componente que se utilizará para guardar las estadísticas de ejecución de los procesos de automatización.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han configurado los accesos a </a:t>
            </a:r>
            <a:r>
              <a:rPr lang="es-ES" sz="1200" noProof="0" dirty="0" err="1">
                <a:solidFill>
                  <a:srgbClr val="000000"/>
                </a:solidFill>
                <a:latin typeface="Santander Text"/>
                <a:cs typeface="Segoe UI Light"/>
              </a:rPr>
              <a:t>SnowFlake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 y se ha hecho una primera toma de contacto con la aplicación.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Se han realizado las solicitudes RBAC para acceder a los tópicos de los Eventhubs.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latin typeface="Santander Text"/>
                <a:cs typeface="Segoe UI Light"/>
              </a:rPr>
              <a:t>Se han analizado las capacidades de monitorización de DEVO sobre las Azure Functions y se ha identificado la manera de explotar la información de los procesos.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4E786D-C37B-3165-37D9-6CC0F9F4AD85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552545-4E25-79F4-2BEB-9CC9DB2461A3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F30F09-F7E3-C7BA-A485-4AB4FF359333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7657B0-14F5-98D6-DC38-21530209DD91}"/>
              </a:ext>
            </a:extLst>
          </p:cNvPr>
          <p:cNvSpPr/>
          <p:nvPr/>
        </p:nvSpPr>
        <p:spPr>
          <a:xfrm>
            <a:off x="624625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Cerrar el primer despliegue en el entorno de DEV y empezar a monitorizar la función desde DEVO.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Crear las tablas en </a:t>
            </a:r>
            <a:r>
              <a:rPr lang="es-ES" sz="1200" noProof="0" dirty="0" err="1">
                <a:solidFill>
                  <a:srgbClr val="000000"/>
                </a:solidFill>
                <a:cs typeface="Segoe UI Light"/>
              </a:rPr>
              <a:t>SnowFlake</a:t>
            </a: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 en el entorno de DEV.</a:t>
            </a:r>
          </a:p>
          <a:p>
            <a:pPr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</a:pPr>
            <a:endParaRPr lang="es-ES" sz="1200" noProof="0" dirty="0">
              <a:solidFill>
                <a:srgbClr val="000000"/>
              </a:solidFill>
              <a:cs typeface="Segoe UI Light"/>
            </a:endParaRPr>
          </a:p>
          <a:p>
            <a:pPr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</a:pPr>
            <a:endParaRPr lang="es-ES" sz="1200" noProof="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2641FC-380C-9683-C527-0BE73CE56C28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E893E9-F4B1-B7C9-AAD6-D8F37303D932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Durante las pruebas en local con Node.js se han detectado problemas de conectividad derivados del uso de proxy y certificados corporativos. Esto limita la capacidad de prueba local y requiere desplegar los códigos en el entorno para verificar el funcionamiento de los procesos. Esto ralentiza el ciclo de prueba-error.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3E5D0F-58FE-E674-79FB-D1EB5C02F598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</p:spTree>
    <p:extLst>
      <p:ext uri="{BB962C8B-B14F-4D97-AF65-F5344CB8AC3E}">
        <p14:creationId xmlns:p14="http://schemas.microsoft.com/office/powerpoint/2010/main" val="140427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026B-261C-F5F9-B08B-35C461DD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7D15D0-83DD-3A8E-B445-69F48D9C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17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50EFBA-055D-5849-5705-2423DA0B49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29/01/2026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B69C5-17E2-1EAD-5E03-9C4D026432A5}"/>
              </a:ext>
            </a:extLst>
          </p:cNvPr>
          <p:cNvSpPr/>
          <p:nvPr/>
        </p:nvSpPr>
        <p:spPr>
          <a:xfrm>
            <a:off x="30050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latin typeface="Santander Text"/>
                <a:cs typeface="Segoe UI Light"/>
              </a:rPr>
              <a:t>No se ha conseguido desplegar a DEV. La infraestructura no está disponible para este proyecto.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latin typeface="Santander Text"/>
                <a:cs typeface="Segoe UI Light"/>
              </a:rPr>
              <a:t>Los datos de infraestructura de DEV / HYB / PRE / PRO se proporcionaron el 28/01.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latin typeface="Santander Text"/>
                <a:cs typeface="Segoe UI Light"/>
              </a:rPr>
              <a:t>Pendientes de la resolución del ticket: RITM019194901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 seguido avanzando en el desarrollo de BAU-5 (MVP), BAU-6, BAU-7 (R1).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latin typeface="Santander Text"/>
                <a:cs typeface="Segoe UI Light"/>
              </a:rPr>
              <a:t>Creada la carpeta en Confluence para empezar a documentar la solución:</a:t>
            </a:r>
            <a:br>
              <a:rPr lang="es-ES" sz="1200" noProof="0" dirty="0">
                <a:latin typeface="Santander Text"/>
                <a:cs typeface="Segoe UI Light"/>
              </a:rPr>
            </a:br>
            <a:r>
              <a:rPr lang="es-ES" sz="1200" noProof="0" dirty="0">
                <a:latin typeface="Santander Text"/>
                <a:cs typeface="Segoe UI Light"/>
                <a:hlinkClick r:id="rId3"/>
              </a:rPr>
              <a:t>https://sancorp.atlassian.net/wiki/spaces/PONEFCCDIL/pages/2504982532/OneFCC+-+BAU+Automation</a:t>
            </a:r>
            <a:endParaRPr lang="es-ES" sz="1200" noProof="0" dirty="0"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Se han rehecho las solicitudes RBAC con la plantilla actualizada.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868156-EACB-80F5-1A15-A2753190AA90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37A34C-5C04-2B4B-D5C8-A49372499BE9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Estratégicamente se van a mantener la infraestructura propuesta el día </a:t>
            </a:r>
            <a:r>
              <a:rPr lang="es-ES" sz="1200" noProof="0" dirty="0">
                <a:cs typeface="Segoe UI Light"/>
              </a:rPr>
              <a:t>28/01 o se espera migrar a una nueva, una vez se haya acordado con CTO.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Responsable de la infraestructura. Persona de contacto que coordine los componentes desplegados en cada AFA y las políticas a seguir en cada caso “durables”, “Blob”, …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¿Cómo crear las incidencias en ServiceNow? A través de DEVO o mediante el API de ServiceNow.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EFED9-405B-BD89-EB15-66ED62985752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8D0D1D-2354-BF4D-D0EC-AE5C34779E54}"/>
              </a:ext>
            </a:extLst>
          </p:cNvPr>
          <p:cNvSpPr/>
          <p:nvPr/>
        </p:nvSpPr>
        <p:spPr>
          <a:xfrm>
            <a:off x="624625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Cerrar el primer despliegue en el entorno de DEV y empezar a monitorizar la función desde DEVO.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Crear la Release de ServiceNow y desplegar en PRE.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Crear las tablas de </a:t>
            </a:r>
            <a:r>
              <a:rPr lang="es-ES" sz="1200" noProof="0" dirty="0" err="1">
                <a:solidFill>
                  <a:srgbClr val="000000"/>
                </a:solidFill>
                <a:cs typeface="Segoe UI Light"/>
              </a:rPr>
              <a:t>SnowFlake</a:t>
            </a: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Revisar las capacidades de logging en DEVO de Azure Functions para incorporarlas a nuestro código. </a:t>
            </a:r>
          </a:p>
          <a:p>
            <a:pPr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</a:pPr>
            <a:endParaRPr lang="es-ES" sz="1200" noProof="0" dirty="0">
              <a:solidFill>
                <a:srgbClr val="000000"/>
              </a:solidFill>
              <a:cs typeface="Segoe UI Light"/>
            </a:endParaRPr>
          </a:p>
          <a:p>
            <a:pPr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</a:pPr>
            <a:endParaRPr lang="es-ES" sz="1200" noProof="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4FBB2D-5B37-360B-C513-1B0EA4A1BB47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4319B8-DDE6-72AA-9020-AA0716C75935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Pendientes de la resolución del ticket: RITM019194901 -&gt; </a:t>
            </a:r>
            <a:r>
              <a:rPr lang="es-ES" sz="1200" b="1" u="sng" noProof="0" dirty="0">
                <a:solidFill>
                  <a:srgbClr val="FF0000"/>
                </a:solidFill>
                <a:cs typeface="Segoe UI Light"/>
              </a:rPr>
              <a:t>Necesitamos escalarlo</a:t>
            </a:r>
            <a:r>
              <a:rPr lang="es-ES" sz="1200" noProof="0" dirty="0">
                <a:cs typeface="Segoe UI Light"/>
              </a:rPr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Necesitamos confirmación de que la infraestructura está disponible para este proyecto.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B3A509-8247-639A-ADAB-5CBF0E8A90CB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</p:spTree>
    <p:extLst>
      <p:ext uri="{BB962C8B-B14F-4D97-AF65-F5344CB8AC3E}">
        <p14:creationId xmlns:p14="http://schemas.microsoft.com/office/powerpoint/2010/main" val="395135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A0AD-BC64-C8F0-CF5F-2FDFD40B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0F1EF5-7B26-D4A4-597E-7A1F46FC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18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76796C-5EE8-478B-E492-51BE5666B0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04/02/2026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5871D-74A7-EC9F-4319-EFFA7EB2EDBA}"/>
              </a:ext>
            </a:extLst>
          </p:cNvPr>
          <p:cNvSpPr/>
          <p:nvPr/>
        </p:nvSpPr>
        <p:spPr>
          <a:xfrm>
            <a:off x="30050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Seguimos bloqueados por la petición </a:t>
            </a:r>
            <a:r>
              <a:rPr lang="es-ES" sz="1200" noProof="0" dirty="0">
                <a:ea typeface="+mn-lt"/>
                <a:cs typeface="+mn-lt"/>
              </a:rPr>
              <a:t>RITM019194901. La petición se ha resuelto, pero no nos han otorgado permisos en el SPN. Se está revisando con el equipo, si a las 14:00 no tenemos los permisos, se reabrirá el ticket.</a:t>
            </a:r>
            <a:endParaRPr lang="es-ES" noProof="0" dirty="0">
              <a:ea typeface="+mn-lt"/>
              <a:cs typeface="+mn-l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Modelo de datos en Snowflake (DEV): Creación de tablas necesarias y generación de datos de entrada (.csv) para </a:t>
            </a:r>
            <a:r>
              <a:rPr lang="es-ES" sz="1200" noProof="0" dirty="0" err="1">
                <a:solidFill>
                  <a:srgbClr val="000000"/>
                </a:solidFill>
                <a:latin typeface="Santander Text"/>
                <a:cs typeface="Segoe UI Light"/>
              </a:rPr>
              <a:t>ingestar</a:t>
            </a: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 a través de SIF. Pruebas de carga realizadas a través de ingesta manual.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 definido cómo registrar la información de las Azure Functions en DEVO.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Avance en la documentación funcional y técnica de Confluence: </a:t>
            </a:r>
            <a:r>
              <a:rPr lang="es-ES" sz="1200" noProof="0" dirty="0">
                <a:cs typeface="Segoe UI Light"/>
                <a:hlinkClick r:id="rId3"/>
              </a:rPr>
              <a:t>Confluence</a:t>
            </a:r>
            <a:endParaRPr lang="es-ES" sz="1200" noProof="0" dirty="0"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Avance en la tarea BAU-6.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Redefinición del backlog de tareas priorizando las que requieren mayor tiempo en las ejecuciones manuales.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820D1D-1026-3735-B04A-4F8E6490533C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4828E4-8E4C-FF84-113D-50F712CE1ADD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Alinear expectativas sobre </a:t>
            </a: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el plan de ejecución del cuadre DH-TM, confirmando alcance, responsables y plazos.</a:t>
            </a: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430340-BD02-6C79-B475-591848BD7426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A28A82-0659-EFEE-262E-4A5B6EF835CD}"/>
              </a:ext>
            </a:extLst>
          </p:cNvPr>
          <p:cNvSpPr/>
          <p:nvPr/>
        </p:nvSpPr>
        <p:spPr>
          <a:xfrm>
            <a:off x="6246250" y="1066442"/>
            <a:ext cx="5645250" cy="27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Cerrar el primer despliegue en el entorno de DEV y empezar a monitorizar la función desde DEVO.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Continuar avanzando con BAU-6 y BAU-7.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D760C6-FCD1-32AD-C4B9-CE13D1C40B86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FA798F-3657-5F4C-6B11-1AB2F0BD9D17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Pendientes de la resolución del ticket: RITM019194901.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Pendientes de definir quién y cómo realiza el cuadre de transacciones entre DH y TM.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No está disponible SIF de 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cs typeface="Segoe UI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A4109B-0939-3D9C-91C2-F92966DB8079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</p:spTree>
    <p:extLst>
      <p:ext uri="{BB962C8B-B14F-4D97-AF65-F5344CB8AC3E}">
        <p14:creationId xmlns:p14="http://schemas.microsoft.com/office/powerpoint/2010/main" val="121784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D3E1-1353-19B6-8785-AC5A4B0F1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E04650-CE76-0AD4-BC31-F13A7F55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19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96D84A-0DBD-1DB9-9CCF-A994D3D4C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11/02/2026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FD3060-285A-C443-6D82-E087E18017DD}"/>
              </a:ext>
            </a:extLst>
          </p:cNvPr>
          <p:cNvSpPr/>
          <p:nvPr/>
        </p:nvSpPr>
        <p:spPr>
          <a:xfrm>
            <a:off x="300500" y="1066441"/>
            <a:ext cx="5645250" cy="2879301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latin typeface="Santander Text"/>
                <a:cs typeface="Segoe UI Light"/>
              </a:rPr>
              <a:t>El ticket RITM019194901 se cerró correctamente el día 05/02. Se ha desplegado la primera versión del MVP en el entorno de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latin typeface="Santander Text"/>
                <a:cs typeface="Segoe UI Light"/>
              </a:rPr>
              <a:t>Se valida que la función está activa a través de logs de Dynatrace. Los permisos que tenemos ahora mismo no son suficientes, pendientes de que nos incluyan en el grupo </a:t>
            </a:r>
            <a:r>
              <a:rPr lang="es-ES" sz="1100" noProof="0" dirty="0">
                <a:solidFill>
                  <a:srgbClr val="070F26"/>
                </a:solidFill>
              </a:rPr>
              <a:t>GTH_EU_SCIB_ACCESS_LOGS</a:t>
            </a:r>
            <a:r>
              <a:rPr lang="es-ES" sz="1100" noProof="0" dirty="0">
                <a:latin typeface="Santander Text"/>
                <a:cs typeface="Segoe UI Light"/>
              </a:rPr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latin typeface="Santander Text"/>
                <a:cs typeface="Segoe UI Light"/>
              </a:rPr>
              <a:t>Se ha intentado cargar datos en Snowflake a </a:t>
            </a:r>
            <a:r>
              <a:rPr lang="es-ES" sz="1100" noProof="0" dirty="0">
                <a:cs typeface="Segoe UI Light"/>
              </a:rPr>
              <a:t>través de </a:t>
            </a:r>
            <a:r>
              <a:rPr lang="es-ES" sz="1100" noProof="0" dirty="0">
                <a:latin typeface="Santander Text"/>
                <a:cs typeface="Segoe UI Light"/>
              </a:rPr>
              <a:t>SIF. No hemos podido </a:t>
            </a:r>
            <a:r>
              <a:rPr lang="es-ES" sz="1100" noProof="0" dirty="0" err="1">
                <a:latin typeface="Santander Text"/>
                <a:cs typeface="Segoe UI Light"/>
              </a:rPr>
              <a:t>ingestar</a:t>
            </a:r>
            <a:r>
              <a:rPr lang="es-ES" sz="1100" noProof="0" dirty="0">
                <a:latin typeface="Santander Text"/>
                <a:cs typeface="Segoe UI Light"/>
              </a:rPr>
              <a:t> los datos porque no está el meta-schema listo. Hacemos punto de control el viernes con Vicente.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latin typeface="Santander Text"/>
                <a:cs typeface="Segoe UI Light"/>
              </a:rPr>
              <a:t>Se ha abierto el ticket RITM019410330 para poder enviar logs desde nuestras funciones de Azure Functions a DEVO. Pendiente la solicitud de los roles RBAC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latin typeface="Santander Text"/>
                <a:cs typeface="Segoe UI Light"/>
              </a:rPr>
              <a:t>Para habilitar el acceso a CosmosDB, es necesario asociar el AKV al AFA y registrar las credenciales de acceso correspondientes. Para ello, se abre el ticket </a:t>
            </a:r>
            <a:r>
              <a:rPr lang="es-ES" sz="1100" noProof="0" dirty="0">
                <a:hlinkClick r:id="rId3" tooltip="https://santander.service-now.com/sc_req_item.do?sys_id=2c18e92c8707be5427ae0d480cbb3526&amp;sysparm_record_target=sc_req_item&amp;sysparm_catalog=719aafd0db031f448c6c7cde3b9619f8&amp;sysparm_catalog_view=catalog_technical_catalog"/>
              </a:rPr>
              <a:t>RITM019388027</a:t>
            </a:r>
            <a:r>
              <a:rPr lang="es-ES" sz="1100" noProof="0" dirty="0"/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ha avanzado en BAU-6 y BAU-7.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solidFill>
                <a:srgbClr val="000000"/>
              </a:solidFill>
              <a:latin typeface="Santander Text"/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4EA5FB-8474-2680-83DD-A0FEE0CA98C8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0AE672-7C89-89DA-AB79-29D2CFAA49C5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latin typeface="Santander Text"/>
                <a:cs typeface="Segoe UI Light"/>
              </a:rPr>
              <a:t>Gobierno de la línea de trabajo del cuadre DH-TM.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latin typeface="Santander Text"/>
                <a:cs typeface="Segoe UI Light"/>
              </a:rPr>
              <a:t>BAU-18 y BAU-19.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C9185A-A833-908A-0F0D-E89A55107E58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68002D-240F-471A-572B-3EB75E5A024A}"/>
              </a:ext>
            </a:extLst>
          </p:cNvPr>
          <p:cNvSpPr/>
          <p:nvPr/>
        </p:nvSpPr>
        <p:spPr>
          <a:xfrm>
            <a:off x="6246250" y="1066442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Monitorizar la función desde DEVO y Dynatrace.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Tener una reunión para entender cómo generar tickets de SNow a través de DEVO.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solidFill>
                  <a:srgbClr val="000000"/>
                </a:solidFill>
                <a:cs typeface="Segoe UI Light"/>
              </a:rPr>
              <a:t>Continuar con BAU-5, BAU-6 y BAU-7 (Testing en DEV).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B385BF-89DA-ACFB-7437-A3EF9E30842C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94D2FA-95BA-6860-540F-88399359C391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200" noProof="0" dirty="0">
                <a:cs typeface="Segoe UI Light"/>
              </a:rPr>
              <a:t>Gestión de tickets y solicitudes.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200" noProof="0" dirty="0">
              <a:cs typeface="Segoe UI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FF84EC-E603-2196-7029-6E8BD2CF0305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</p:spTree>
    <p:extLst>
      <p:ext uri="{BB962C8B-B14F-4D97-AF65-F5344CB8AC3E}">
        <p14:creationId xmlns:p14="http://schemas.microsoft.com/office/powerpoint/2010/main" val="42622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33AC8-F9ED-7A3A-8968-7F44FF67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3D935-FBF6-F49C-68A9-82ECBC07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20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3CAB2-4C1A-C749-A231-EA0861E8A4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19/02/2026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DEA1D-AE49-4CC7-84C4-86F5AF2DA222}"/>
              </a:ext>
            </a:extLst>
          </p:cNvPr>
          <p:cNvSpPr/>
          <p:nvPr/>
        </p:nvSpPr>
        <p:spPr>
          <a:xfrm>
            <a:off x="300500" y="1066441"/>
            <a:ext cx="5645250" cy="2879301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noProof="0" dirty="0">
                <a:solidFill>
                  <a:srgbClr val="000000"/>
                </a:solidFill>
                <a:latin typeface="Santander Text"/>
                <a:cs typeface="Segoe UI Light"/>
              </a:rPr>
              <a:t>Monitorización de la función desde DEVO: </a:t>
            </a:r>
            <a:r>
              <a:rPr lang="es-ES" sz="1100" noProof="0" dirty="0">
                <a:solidFill>
                  <a:srgbClr val="000000"/>
                </a:solidFill>
                <a:latin typeface="Santander Text"/>
                <a:cs typeface="Segoe UI Light"/>
              </a:rPr>
              <a:t>Se soluciona el ticket RITM019410330. Pendientes de resolución de la petición 68103 de GoPortal solicitando los permisos RBAC.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000000"/>
                </a:solidFill>
                <a:latin typeface="Santander Text"/>
                <a:cs typeface="Segoe UI Light"/>
              </a:rPr>
              <a:t>Monitorización de la función desde Dynatrace: </a:t>
            </a:r>
            <a:r>
              <a:rPr lang="es-ES" sz="1100" dirty="0">
                <a:solidFill>
                  <a:srgbClr val="000000"/>
                </a:solidFill>
                <a:latin typeface="Santander Text"/>
                <a:cs typeface="Segoe UI Light"/>
              </a:rPr>
              <a:t>Pendientes de la resolución del ticket RITM019439142.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000000"/>
                </a:solidFill>
                <a:cs typeface="Segoe UI Light"/>
              </a:rPr>
              <a:t>Apertura de tickets a través de la API de SNow: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Se abre el ticket RITM019492051, solicitando el rango de direcciones IP respectivo a nuestra AFA, para incluirlo en la whitelist de ServiceNow.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000000"/>
                </a:solidFill>
                <a:latin typeface="Santander Text"/>
                <a:cs typeface="Segoe UI Light"/>
              </a:rPr>
              <a:t>Conexión AFA – Snowflake: </a:t>
            </a:r>
            <a:r>
              <a:rPr lang="es-ES" sz="1100" dirty="0">
                <a:solidFill>
                  <a:srgbClr val="000000"/>
                </a:solidFill>
                <a:latin typeface="Santander Text"/>
                <a:cs typeface="Segoe UI Light"/>
              </a:rPr>
              <a:t>Se abre y se resuelve el ticket RITM019466588, donde se crea el usuario Oauth y se asignan los roles necesarios para permitir la autenticación del SPN en Snowflake.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noProof="0" dirty="0">
                <a:latin typeface="Santander Text"/>
                <a:cs typeface="Segoe UI Light"/>
              </a:rPr>
              <a:t>BAU-5, BAU-6, BAU-7: </a:t>
            </a:r>
            <a:r>
              <a:rPr lang="es-ES" sz="1100" noProof="0" dirty="0">
                <a:latin typeface="Santander Text"/>
                <a:cs typeface="Segoe UI Light"/>
              </a:rPr>
              <a:t>A falta de completar la </a:t>
            </a:r>
            <a:r>
              <a:rPr lang="es-ES" sz="1100" dirty="0">
                <a:latin typeface="Santander Text"/>
                <a:cs typeface="Segoe UI Light"/>
              </a:rPr>
              <a:t>Conexión con CosmosDB y DEVO.</a:t>
            </a:r>
            <a:endParaRPr lang="es-ES" sz="1100" noProof="0" dirty="0">
              <a:latin typeface="Santander Text"/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latin typeface="Santander Text"/>
                <a:cs typeface="Segoe UI Light"/>
              </a:rPr>
              <a:t>SIF: </a:t>
            </a:r>
            <a:r>
              <a:rPr lang="es-ES" sz="1100" dirty="0">
                <a:latin typeface="Santander Text"/>
                <a:cs typeface="Segoe UI Light"/>
              </a:rPr>
              <a:t>Se suben todos los ficheros .csv, pero no se han creado las tablas en Snowflake. Están revisando la configuración.</a:t>
            </a:r>
            <a:endParaRPr lang="es-ES" sz="1100" noProof="0" dirty="0">
              <a:latin typeface="Santander Text"/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8CF20D-2157-444A-4F41-F336870B4620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BD012D-1E5B-8760-452D-16ABC9C02E78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latin typeface="Santander Text"/>
                <a:cs typeface="Segoe UI Light"/>
              </a:rPr>
              <a:t>Terminar de definir la estrategia para abordar BAU-12. </a:t>
            </a:r>
            <a:endParaRPr lang="es-ES" sz="1100" noProof="0" dirty="0">
              <a:latin typeface="Santander Text"/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B61727-7DD8-0127-705B-1C128FC3ABB4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59C87D-FE55-3692-623B-AAEA52056718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F920D9-F14D-EE89-5788-85F08D6E0F9C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cs typeface="Segoe UI Light"/>
              </a:rPr>
              <a:t>Gestión de tickets y solicitudes.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ServiceNow TEST no está funcionando correctamente.</a:t>
            </a:r>
            <a:endParaRPr lang="es-ES" sz="1100" noProof="0" dirty="0">
              <a:cs typeface="Segoe UI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345093-DAB3-0500-E80C-C8080C5DD93A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3281B2CC-E931-87E4-FA0D-DE1902F47292}"/>
              </a:ext>
            </a:extLst>
          </p:cNvPr>
          <p:cNvSpPr/>
          <p:nvPr/>
        </p:nvSpPr>
        <p:spPr>
          <a:xfrm>
            <a:off x="6246250" y="1066442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cs typeface="Segoe UI Light"/>
              </a:rPr>
              <a:t>Monitorizar la función desde DEVO y Dynatrace.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cs typeface="Segoe UI Light"/>
              </a:rPr>
              <a:t>Verificar la cone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xión desde la AFA a CosmosDB y Snowflake.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Verificar la creación de tickets a partir de la Azure Function de la red de DEV. Incluir </a:t>
            </a:r>
            <a:r>
              <a:rPr lang="es-ES" sz="1100" noProof="0" dirty="0">
                <a:solidFill>
                  <a:srgbClr val="000000"/>
                </a:solidFill>
                <a:cs typeface="Segoe UI Light"/>
              </a:rPr>
              <a:t>en la whitelist de ServiceNow el rango de direcciones IP de la AFA.</a:t>
            </a:r>
          </a:p>
        </p:txBody>
      </p:sp>
    </p:spTree>
    <p:extLst>
      <p:ext uri="{BB962C8B-B14F-4D97-AF65-F5344CB8AC3E}">
        <p14:creationId xmlns:p14="http://schemas.microsoft.com/office/powerpoint/2010/main" val="209245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84FA-3EAE-92E3-233F-707F713A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47713-F6A9-9E52-CCA1-9F522967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21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3285AC-AFD2-1848-F7A9-A75A506287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2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/02/2026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671BE0-5A19-C573-DF76-096976D94451}"/>
              </a:ext>
            </a:extLst>
          </p:cNvPr>
          <p:cNvSpPr/>
          <p:nvPr/>
        </p:nvSpPr>
        <p:spPr>
          <a:xfrm>
            <a:off x="300500" y="1066441"/>
            <a:ext cx="5645250" cy="2879301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000000"/>
                </a:solidFill>
                <a:cs typeface="Segoe UI Light"/>
              </a:rPr>
              <a:t>Monitorización de la función desde Dynatrace: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Se resuelven los tickets RITM019439142 y RITM019586471, pero seguimos sin acceso a los logs.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000000"/>
                </a:solidFill>
                <a:cs typeface="Segoe UI Light"/>
              </a:rPr>
              <a:t>Apertura de tickets a través de la API de SNow: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Se soluciona el ticket RITM019492051. Se abre el ticket </a:t>
            </a:r>
            <a:r>
              <a:rPr lang="es-ES" sz="1100" dirty="0">
                <a:solidFill>
                  <a:srgbClr val="FF0000"/>
                </a:solidFill>
                <a:cs typeface="Segoe UI Light"/>
              </a:rPr>
              <a:t>RITM019518925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 solicitando que incluyan las IPs en la whitelist.</a:t>
            </a:r>
            <a:endParaRPr lang="es-ES" sz="1100" dirty="0"/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000000"/>
                </a:solidFill>
                <a:cs typeface="Segoe UI Light"/>
              </a:rPr>
              <a:t>Monitorización de las funciones: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Utilizamos una herramienta de monitorización disponible en la documentación del proyecto y estamos visualizando y monitorizando los resultados.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000000"/>
                </a:solidFill>
                <a:cs typeface="Segoe UI Light"/>
              </a:rPr>
              <a:t>Conexión AFA – Cosmos: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Completada y verificada.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000000"/>
                </a:solidFill>
                <a:cs typeface="Segoe UI Light"/>
              </a:rPr>
              <a:t>Conexión AFA – DEVO: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Se abre el ticket </a:t>
            </a:r>
            <a:r>
              <a:rPr lang="es-ES" sz="1100" dirty="0">
                <a:cs typeface="Segoe UI Light"/>
              </a:rPr>
              <a:t>RITM019596191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, solicitando la renovación del token de acceso a la API de DEVO. Pendientes de conseguir conectarnos.</a:t>
            </a:r>
            <a:endParaRPr lang="es-ES" sz="1100" b="1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BAU-5 y BAU-6 completados a falta de poder abrir tickets por SNow. BAU-7 a falta de recuperar datos de DEVO y a falta de poder abrir tickets por SNow.</a:t>
            </a:r>
            <a:endParaRPr lang="es-ES" sz="1100" dirty="0"/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/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FD084F-4F52-75FB-AC91-DBB4B1064AB0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75B2C9-B506-6B93-7048-16CE7D27BB3C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Terminar de definir la estrategia para abordar BAU-12. </a:t>
            </a:r>
            <a:endParaRPr lang="es-ES" sz="1100" dirty="0"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488A3D-CE7A-2564-D328-B3356D019672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4CEBEB-48E8-6F13-2879-26F9D2E63FA9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D6635-E57B-B83E-0512-D4EBAE9ECB5E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Pendientes de resolución del ticket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RITM019518925 y </a:t>
            </a:r>
            <a:r>
              <a:rPr lang="es-ES" sz="1100" dirty="0">
                <a:cs typeface="Segoe UI Light"/>
              </a:rPr>
              <a:t>RITM019596191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definir responsabilidades y tiempos estimados con el equipo de TM para BAU-12.</a:t>
            </a:r>
            <a:r>
              <a:rPr lang="es-ES" sz="1100" dirty="0">
                <a:cs typeface="Segoe UI Light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2DE919-9EA8-7DC7-7A31-5C21F451941F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5AD5C085-0B95-0D74-EA6D-53B77AE1BEFD}"/>
              </a:ext>
            </a:extLst>
          </p:cNvPr>
          <p:cNvSpPr/>
          <p:nvPr/>
        </p:nvSpPr>
        <p:spPr>
          <a:xfrm>
            <a:off x="6246250" y="1066442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Terminar BAU-7.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Verificar la creación de tickets en SNow a partir de la AFA de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Completar el despliegue de R1.</a:t>
            </a:r>
          </a:p>
        </p:txBody>
      </p:sp>
    </p:spTree>
    <p:extLst>
      <p:ext uri="{BB962C8B-B14F-4D97-AF65-F5344CB8AC3E}">
        <p14:creationId xmlns:p14="http://schemas.microsoft.com/office/powerpoint/2010/main" val="148342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5CE9-B81E-EC01-33AA-366628001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4407A-A2F8-ABB9-8ADD-A00A1861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22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FD650E-0A25-382B-CE31-7EB2EDFB5D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06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/03/2026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D3E56A-66F3-1EEA-7FD5-07D33907AE7E}"/>
              </a:ext>
            </a:extLst>
          </p:cNvPr>
          <p:cNvSpPr/>
          <p:nvPr/>
        </p:nvSpPr>
        <p:spPr>
          <a:xfrm>
            <a:off x="300500" y="1066441"/>
            <a:ext cx="5645250" cy="3703577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Estamos visualizando los logs de las Azure Functions a través de Dynatrace.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Release 1 completada a falta de la creación de ticket de SNow.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El equipo de CTO debe regularizar el DU para integrar la AFA con ServiceNow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Pendiente de la resolución del </a:t>
            </a:r>
            <a:r>
              <a:rPr lang="es-ES" sz="1100" b="1" dirty="0">
                <a:cs typeface="Segoe UI Light"/>
              </a:rPr>
              <a:t>ticket de reglas firewall / whitelisting </a:t>
            </a:r>
            <a:r>
              <a:rPr lang="es-ES" sz="1100" b="1" dirty="0"/>
              <a:t>RITM019518925</a:t>
            </a:r>
            <a:r>
              <a:rPr lang="es-ES" sz="1100" dirty="0"/>
              <a:t>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Para el Testing de R1 no tenemos los datos para completar todos los Casos de Prueba.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Avanzamos en el desarrollo de BAU-1, BAU-2, BAU-3 y BAU-4. (leen de Snowflake y CosmosDB, escriben en Snowflake y notifican por </a:t>
            </a:r>
            <a:r>
              <a:rPr lang="es-ES" sz="1100" strike="sngStrike" dirty="0">
                <a:cs typeface="Segoe UI Light"/>
              </a:rPr>
              <a:t>correo</a:t>
            </a:r>
            <a:r>
              <a:rPr lang="es-ES" sz="1100" dirty="0">
                <a:cs typeface="Segoe UI Light"/>
              </a:rPr>
              <a:t> ITSM)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Ticket de soporte a SRE para la </a:t>
            </a:r>
            <a:r>
              <a:rPr lang="es-ES" sz="1100" b="1" dirty="0">
                <a:cs typeface="Segoe UI Light"/>
              </a:rPr>
              <a:t>conexión con Snowflake: INC064605955</a:t>
            </a:r>
            <a:endParaRPr lang="es-ES" sz="1100" b="1" dirty="0">
              <a:cs typeface="Segoe UI Light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Se envían correos desde NodeJS local. =&gt; No hace falta envío correo de resumen diario. Toda notificación vendrá comunicada por SNow.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Coordinación con TM para abordar BAU-12 y BAU-20. Hemos definido la estrategia con ellos y van a comenzar con los desarrollos.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Coordinación con Capa de Integración para que modifiquen su HDU de cara a la ingesta en DH de los ficheros generados por TM.</a:t>
            </a:r>
            <a:endParaRPr lang="es-ES" sz="1100" dirty="0"/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803A7D-B47F-C9B3-BEDB-408BD0F9441A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B9EBD2-52D2-BA80-1CF7-363A402DDD5B}"/>
              </a:ext>
            </a:extLst>
          </p:cNvPr>
          <p:cNvSpPr/>
          <p:nvPr/>
        </p:nvSpPr>
        <p:spPr>
          <a:xfrm>
            <a:off x="300500" y="5191124"/>
            <a:ext cx="5645250" cy="928825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</a:pPr>
            <a:endParaRPr lang="es-ES" sz="1100" noProof="0" dirty="0">
              <a:latin typeface="Santander Text"/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48D170-2C54-CC13-C3E8-F897D0D38119}"/>
              </a:ext>
            </a:extLst>
          </p:cNvPr>
          <p:cNvSpPr/>
          <p:nvPr/>
        </p:nvSpPr>
        <p:spPr>
          <a:xfrm>
            <a:off x="300500" y="4854571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7941D-32CA-4BB8-AF42-957CAF3CD819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9E0E54-F973-4223-2ABF-CEA8D1ADDDCD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Pendientes de </a:t>
            </a:r>
            <a:r>
              <a:rPr lang="es-ES" sz="1100" b="1" dirty="0">
                <a:cs typeface="Segoe UI Light"/>
              </a:rPr>
              <a:t>resolución del ticket </a:t>
            </a:r>
            <a:r>
              <a:rPr lang="es-ES" sz="1100" b="1" u="sng" dirty="0">
                <a:solidFill>
                  <a:srgbClr val="000000"/>
                </a:solidFill>
                <a:cs typeface="Segoe UI Light"/>
              </a:rPr>
              <a:t>RITM019518925</a:t>
            </a:r>
            <a:r>
              <a:rPr lang="es-ES" sz="1100" b="1" dirty="0">
                <a:solidFill>
                  <a:srgbClr val="000000"/>
                </a:solidFill>
                <a:cs typeface="Segoe UI Light"/>
              </a:rPr>
              <a:t>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y de la modificación del DU de CTO.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Pendientes de </a:t>
            </a:r>
            <a:r>
              <a:rPr lang="es-ES" sz="1100" b="1" dirty="0">
                <a:cs typeface="Segoe UI Light"/>
              </a:rPr>
              <a:t>resolución del ticket </a:t>
            </a:r>
            <a:r>
              <a:rPr lang="es-ES" sz="1100" b="1" u="sng" dirty="0">
                <a:solidFill>
                  <a:srgbClr val="000000"/>
                </a:solidFill>
                <a:cs typeface="Segoe UI Light"/>
              </a:rPr>
              <a:t>INC064605955</a:t>
            </a:r>
            <a:r>
              <a:rPr lang="es-ES" sz="1100" b="1" dirty="0">
                <a:cs typeface="Segoe UI Light"/>
              </a:rPr>
              <a:t> </a:t>
            </a:r>
            <a:r>
              <a:rPr lang="es-ES" sz="1100" dirty="0">
                <a:cs typeface="Segoe UI Light"/>
              </a:rPr>
              <a:t>para conexión con Snowflake.</a:t>
            </a:r>
            <a:endParaRPr lang="es-ES" sz="1100" dirty="0">
              <a:cs typeface="Segoe UI Light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solucionar los problemas con SIF. Vicente comenta que se han creado los metadatos y se ha hecho la adhesión al SIF, pero que falta la creación de las tablas (lo ha solicitado).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7C2E09-4F9E-604E-7E37-7110692C5547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A1E3086D-6404-B907-558A-E613DB68C085}"/>
              </a:ext>
            </a:extLst>
          </p:cNvPr>
          <p:cNvSpPr/>
          <p:nvPr/>
        </p:nvSpPr>
        <p:spPr>
          <a:xfrm>
            <a:off x="6246250" y="1066441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cs typeface="Segoe UI Light"/>
              </a:rPr>
              <a:t>Compartir los Test Cases y obtener OK para ir a HYB/PRE.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cs typeface="Segoe UI Light"/>
              </a:rPr>
              <a:t>Ingestar los datos por SIF.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Revisar y confirmar que tenemos exactamente la misma forma de conexión AFA – Snowflake. </a:t>
            </a:r>
            <a:endParaRPr lang="es-ES" sz="1100" noProof="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noProof="0" dirty="0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97780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56EB-766F-5063-826D-8C9EE20C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30D271-7036-EA9E-C9E5-00A4D28D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23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80FB98-57E2-4807-32C6-1B006018BB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13/03/2026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7D6755-81A8-CE79-7634-0AD8E549C76A}"/>
              </a:ext>
            </a:extLst>
          </p:cNvPr>
          <p:cNvSpPr/>
          <p:nvPr/>
        </p:nvSpPr>
        <p:spPr>
          <a:xfrm>
            <a:off x="300500" y="1066442"/>
            <a:ext cx="5645250" cy="2879299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Se están creando tickets en SNow desde la AFA. Release 1 completada y desplegada en DEV.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Conexión AFA - Snowflake completada.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Test Cases completos: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  <a:hlinkClick r:id="rId3"/>
              </a:rPr>
              <a:t>Test_Release_1.xlsx</a:t>
            </a:r>
            <a:endParaRPr lang="es-ES" sz="1100" dirty="0">
              <a:cs typeface="Segoe UI Light"/>
            </a:endParaRP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  <a:hlinkClick r:id="rId4"/>
              </a:rPr>
              <a:t>RELEASE 1 – Evidencias.docx</a:t>
            </a:r>
            <a:endParaRPr lang="es-ES" sz="1100" dirty="0"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Avanzamos en el desarrollo de BAU-1, BAU-2, BAU-3 y BAU-4.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Se ha completado la carga de 3/4 tablas que deben cargarse por SIF.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Apertura de tickets necesarios para los entornos de PRE y PRO.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32B748-AB26-AD82-1CEA-8CBCB00D89DB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914A9B-B9A6-6652-E3B1-39A2F0B28B9C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latin typeface="Santander Text"/>
                <a:cs typeface="Segoe UI Light"/>
              </a:rPr>
              <a:t>Definir la estructura de todos los posibles tickets que pueden ser generados por las automatizaciones. Acordar las incidencias que contempla cada tipo de ticket.</a:t>
            </a:r>
            <a:endParaRPr lang="es-ES" sz="1100" dirty="0">
              <a:latin typeface="Santander Text"/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7CE54-FA29-5717-1ECA-3998AD0B7CA1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3FC841-FE5D-8F48-C1C7-F346760F2640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3C64F6-B14D-15B1-4619-26E726DB8EB3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solucionar los problemas con SIF.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los desarrollos de TM.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que TM envíe las rutas de MinIO correspondientes para coordinarnos con CI y que modifiquen su HDU.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Pendientes de que se modifique el DU de CTO. (No es bloqueante para la apertura de tickets en DEV)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225D57-9420-3675-E519-118D83D013B0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D7252F86-2A41-1A10-A48E-227E7B42DBC2}"/>
              </a:ext>
            </a:extLst>
          </p:cNvPr>
          <p:cNvSpPr/>
          <p:nvPr/>
        </p:nvSpPr>
        <p:spPr>
          <a:xfrm>
            <a:off x="6246250" y="1066441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noProof="0" dirty="0">
                <a:solidFill>
                  <a:srgbClr val="000000"/>
                </a:solidFill>
                <a:cs typeface="Segoe UI Light"/>
              </a:rPr>
              <a:t>Ingestar los datos de la tabla SIF restante.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R1 en HYB/PRE.</a:t>
            </a:r>
          </a:p>
        </p:txBody>
      </p:sp>
    </p:spTree>
    <p:extLst>
      <p:ext uri="{BB962C8B-B14F-4D97-AF65-F5344CB8AC3E}">
        <p14:creationId xmlns:p14="http://schemas.microsoft.com/office/powerpoint/2010/main" val="322887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4739-5F08-2631-0F1F-7498D0090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B0842-BA02-7187-4379-A68C5C21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24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DF3474-AF90-D961-C185-6DA4CEA51F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20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/03/2026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D77B25-4870-98F1-BCF5-8F231084D0DD}"/>
              </a:ext>
            </a:extLst>
          </p:cNvPr>
          <p:cNvSpPr/>
          <p:nvPr/>
        </p:nvSpPr>
        <p:spPr>
          <a:xfrm>
            <a:off x="300500" y="1066442"/>
            <a:ext cx="5645250" cy="2879299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han cargado los datos de todas las tablas vía SIF.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Continuamos con el avance de BAU-1, BAU-2, BAU-3 y BAU-4: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BAU-1 y BAU-2 están en fase de testing.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En BAU-3 y BAU-4 se continúa con los desarrollos y validación de los mapeos de datos.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ha implementado la política de reintentos en R1.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DCB74E-4E29-E40A-A8B2-D4DB8A9740BE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41DD9F-50E9-ACF5-8200-5C561C5D4A87}"/>
              </a:ext>
            </a:extLst>
          </p:cNvPr>
          <p:cNvSpPr/>
          <p:nvPr/>
        </p:nvSpPr>
        <p:spPr>
          <a:xfrm>
            <a:off x="30050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latin typeface="Santander Text"/>
                <a:cs typeface="Segoe UI Light"/>
              </a:rPr>
              <a:t>Despliegue de la información de Snowflake en los entornos de PRE y PRO.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600C81-8761-AABF-1ACE-ABF3081F0833}"/>
              </a:ext>
            </a:extLst>
          </p:cNvPr>
          <p:cNvSpPr/>
          <p:nvPr/>
        </p:nvSpPr>
        <p:spPr>
          <a:xfrm>
            <a:off x="30050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77B624-191D-A994-7A91-31255CD54C77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DB766-A4DB-9F97-C2D1-8B1F03771374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la definición técnica de R3: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Confirmación de las rutas de MinIO Thetaray.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Plan de desarrollo y despliegue de Capa de Integración.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Plan de desarrollo y despliegue de la ingesta de datos.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la resolución de tickets de configuración de entornos: PRE y PRO.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5D1D76-F1FC-8A03-823C-B6EE359B9B02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5E2D4522-7999-74FC-EE26-E54E6D306D17}"/>
              </a:ext>
            </a:extLst>
          </p:cNvPr>
          <p:cNvSpPr/>
          <p:nvPr/>
        </p:nvSpPr>
        <p:spPr>
          <a:xfrm>
            <a:off x="6246250" y="1066441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R1 en 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Realizar la carga del histórico de datos de la tabla de volumetrías DH en Snowflake DEV.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Revisión Cuadre DH – TM. Cálculo y obtención de datos estadísticos en Data Hub.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Revisar posibles dependencias con el volumen de transacciones a procesar. </a:t>
            </a:r>
          </a:p>
        </p:txBody>
      </p:sp>
    </p:spTree>
    <p:extLst>
      <p:ext uri="{BB962C8B-B14F-4D97-AF65-F5344CB8AC3E}">
        <p14:creationId xmlns:p14="http://schemas.microsoft.com/office/powerpoint/2010/main" val="417186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682B-747C-E57F-76EA-8659DE2F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E93FA0-D401-90B9-4617-76255364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25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C35C48-9A9C-931E-41E2-78F8AD6C1A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27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/03/2026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610535-213C-A84C-ED8F-5EFB438FC3F4}"/>
              </a:ext>
            </a:extLst>
          </p:cNvPr>
          <p:cNvSpPr/>
          <p:nvPr/>
        </p:nvSpPr>
        <p:spPr>
          <a:xfrm>
            <a:off x="300500" y="1066442"/>
            <a:ext cx="5645250" cy="3076933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  <a:sym typeface="Wingdings" panose="05000000000000000000" pitchFamily="2" charset="2"/>
              </a:rPr>
              <a:t>BAU-1 pendiente de probar con datos de Chile.</a:t>
            </a: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  <a:sym typeface="Wingdings" panose="05000000000000000000" pitchFamily="2" charset="2"/>
              </a:rPr>
              <a:t>BAU-2  desarrollado y probado tras la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carga del histórico de datos de la tabla de volumetrías DH en Snowflake DEV.</a:t>
            </a:r>
            <a:endParaRPr lang="es-ES" sz="1100" dirty="0">
              <a:solidFill>
                <a:srgbClr val="000000"/>
              </a:solidFill>
              <a:cs typeface="Segoe UI Light"/>
              <a:sym typeface="Wingdings" panose="05000000000000000000" pitchFamily="2" charset="2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Continuamos con el avance de BAU-3 y BAU-4.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BAU-3: Se han redefinido los mapeos y hemos confirmado todos los tipos de alertas ING a considerar. No hay definición funcional de cada tipo de alerta, son expresiones regulares y hay que adaptarlas.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BAU-4: Finalizando el desarrollo, pendientes del testing.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Comenzamos con la definición de BAU-18 y BAU-19.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Despliegue a PRE de R1: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Creación de la tabla BAU_SNOW_TICKETS necesaria para R1 en Snowflake PRE.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Abiertas las releases de PRE y PRO para la conexión a Snowflake y Cosmos desde las AFA: </a:t>
            </a:r>
            <a:r>
              <a:rPr lang="es-ES" sz="1100" b="0" i="0" u="none" strike="noStrike" dirty="0">
                <a:solidFill>
                  <a:srgbClr val="88B7C7"/>
                </a:solidFill>
                <a:effectLst/>
                <a:hlinkClick r:id="rId3"/>
              </a:rPr>
              <a:t>RLSE1330171</a:t>
            </a:r>
            <a:r>
              <a:rPr lang="es-ES" sz="1100" b="0" i="0" u="none" strike="noStrike" dirty="0">
                <a:solidFill>
                  <a:srgbClr val="88B7C7"/>
                </a:solidFill>
                <a:effectLst/>
              </a:rPr>
              <a:t> 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cs typeface="Segoe UI Light"/>
              </a:rPr>
              <a:t>y </a:t>
            </a:r>
            <a:r>
              <a:rPr lang="es-ES" sz="1100" b="0" i="0" u="none" strike="noStrike" dirty="0">
                <a:solidFill>
                  <a:srgbClr val="88B7C7"/>
                </a:solidFill>
                <a:effectLst/>
                <a:hlinkClick r:id="rId4"/>
              </a:rPr>
              <a:t>RLSE1331074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C94BCB-E920-D885-4446-36FEDF3F7D6F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7272A5-7EF0-AC97-BD1A-362C47D113E5}"/>
              </a:ext>
            </a:extLst>
          </p:cNvPr>
          <p:cNvSpPr/>
          <p:nvPr/>
        </p:nvSpPr>
        <p:spPr>
          <a:xfrm>
            <a:off x="300500" y="4541418"/>
            <a:ext cx="5645250" cy="1578532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latin typeface="Santander Text"/>
                <a:cs typeface="Segoe UI Light"/>
              </a:rPr>
              <a:t>En R3_BAU-12, el tratamiento de los datos de Chile y Uruguay es diferente al de Portugal.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latin typeface="Santander Text"/>
                <a:cs typeface="Segoe UI Light"/>
              </a:rPr>
              <a:t>Portugal utiliza reference_date y no necesita clúster de Databricks.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latin typeface="Santander Text"/>
                <a:cs typeface="Segoe UI Light"/>
              </a:rPr>
              <a:t>Chile y Uruguay utilizan transaction_date_time y necesitan clúster de Databricks.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321472-B0CE-5513-DBAD-9E81780B53C5}"/>
              </a:ext>
            </a:extLst>
          </p:cNvPr>
          <p:cNvSpPr/>
          <p:nvPr/>
        </p:nvSpPr>
        <p:spPr>
          <a:xfrm>
            <a:off x="300500" y="421639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B90822-36B9-09C3-4BBE-C1979D99DA1D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FEC383-1016-DB49-C52B-6DECD0DC60D7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En R3, pendientes de la definición técnica y plan del Cuadre de Volumetrías: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Plan de desarrollo y despliegue de Capa de Integración.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Plan de desarrollo y despliegue de la Ingesta de datos.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Es necesaria la aprobación del CISO para habilitar la comunicación entre AFA y Service Now en PRE y PRO.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2DAA67-D1EB-0DD5-C748-E692424F9EDA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2D47B111-2657-1D0F-7ED3-8065C6D5EEBE}"/>
              </a:ext>
            </a:extLst>
          </p:cNvPr>
          <p:cNvSpPr/>
          <p:nvPr/>
        </p:nvSpPr>
        <p:spPr>
          <a:xfrm>
            <a:off x="6246250" y="1066441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R1 en 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R2A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Cerrar la definición de BAU-18 y BAU-19.</a:t>
            </a:r>
          </a:p>
        </p:txBody>
      </p:sp>
    </p:spTree>
    <p:extLst>
      <p:ext uri="{BB962C8B-B14F-4D97-AF65-F5344CB8AC3E}">
        <p14:creationId xmlns:p14="http://schemas.microsoft.com/office/powerpoint/2010/main" val="314828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F48C-2F8E-99BB-B9BB-0B8886E2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FBAA06-3BEB-B93A-C777-310508B5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26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F13E87-0E82-72F7-9232-D7741F2D8E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09/04/2026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56AA85-EF9F-77F5-CA07-D0EF8D032880}"/>
              </a:ext>
            </a:extLst>
          </p:cNvPr>
          <p:cNvSpPr/>
          <p:nvPr/>
        </p:nvSpPr>
        <p:spPr>
          <a:xfrm>
            <a:off x="300500" y="1066442"/>
            <a:ext cx="5645250" cy="3076933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cierra el desarrollo de BAU-1, BAU-2 y BAU-4. Pendiente de probar caso de uso de Chile en BAU-1 y testear BAU-4 tras la adaptación de Brasil.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Continuamos con el avance de BAU-3.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Creación de dashboards en Snowflake para la visualización de los resultados de los procesos.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Despliegue de R1 en PRE: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Release de despliegue: </a:t>
            </a:r>
            <a:r>
              <a:rPr lang="es-ES" sz="1100" dirty="0">
                <a:hlinkClick r:id="rId3"/>
              </a:rPr>
              <a:t>RLSE1334886</a:t>
            </a:r>
            <a:endParaRPr lang="es-ES" sz="1100" dirty="0"/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Conexión AFA-Snowflake: </a:t>
            </a:r>
            <a:r>
              <a:rPr lang="es-ES" sz="1100" dirty="0">
                <a:hlinkClick r:id="rId4"/>
              </a:rPr>
              <a:t>RLSE1334633</a:t>
            </a:r>
            <a:r>
              <a:rPr lang="es-ES" sz="1100" dirty="0"/>
              <a:t> (Desplegada)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Conexión AFA-Cosmos: </a:t>
            </a:r>
            <a:r>
              <a:rPr lang="es-ES" sz="1100" dirty="0">
                <a:hlinkClick r:id="rId5"/>
              </a:rPr>
              <a:t>RLSE1330171</a:t>
            </a:r>
            <a:r>
              <a:rPr lang="es-ES" sz="1100" dirty="0"/>
              <a:t> (Desplegada)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Conexión AFA-Snow: Se obtiene el OK de CISO para modificar la whitelist de SNow. Hay que solicitar otro usuario de integración para PRO.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8DE408-B862-56AE-1F36-01A4CAEF165A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CE1CB9-20C8-7E20-A81A-C9B1C1A75B97}"/>
              </a:ext>
            </a:extLst>
          </p:cNvPr>
          <p:cNvSpPr/>
          <p:nvPr/>
        </p:nvSpPr>
        <p:spPr>
          <a:xfrm>
            <a:off x="310332" y="4541418"/>
            <a:ext cx="5645250" cy="1578532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Creación de tablas de Snowflake para los entornos de PRE y PRO.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0B1F64-951D-DA91-BE48-9C7DE8BBC796}"/>
              </a:ext>
            </a:extLst>
          </p:cNvPr>
          <p:cNvSpPr/>
          <p:nvPr/>
        </p:nvSpPr>
        <p:spPr>
          <a:xfrm>
            <a:off x="300500" y="421639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37FA5A-21C1-B0E8-2C46-8F16FAE8F245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5B7987-D56E-8B03-3408-FADE7F4F87E9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El SPN no dispone de permisos sobre la AFA para poder ejecutar el despliegue en PRE. Necesitamos que DevOps solucione el ticket </a:t>
            </a:r>
            <a:r>
              <a:rPr lang="es-ES" sz="1100" dirty="0">
                <a:hlinkClick r:id="rId6"/>
              </a:rPr>
              <a:t>RITM020038903</a:t>
            </a:r>
            <a:r>
              <a:rPr lang="es-ES" sz="1100" dirty="0"/>
              <a:t> para poder completar el despliegue de la release </a:t>
            </a:r>
            <a:r>
              <a:rPr lang="es-ES" sz="1100" dirty="0">
                <a:hlinkClick r:id="rId3"/>
              </a:rPr>
              <a:t>RLSE1334886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El SPN no dispone de permisos sobre la AFA para poder ejecutar el despliegue en PRO. Pendientes de la resolución del ticket </a:t>
            </a:r>
            <a:r>
              <a:rPr lang="es-ES" sz="1100" dirty="0">
                <a:hlinkClick r:id="rId7"/>
              </a:rPr>
              <a:t>RITM020137955</a:t>
            </a:r>
            <a:r>
              <a:rPr lang="es-ES" sz="1100" dirty="0"/>
              <a:t>.</a:t>
            </a: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En R3, pendientes del plan de desarrollo y despliegue de Capa de Integración.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9291EA-5171-66C7-EE53-FD25CF1763B6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99846BB6-9357-0283-29F2-8D54ED31B5B2}"/>
              </a:ext>
            </a:extLst>
          </p:cNvPr>
          <p:cNvSpPr/>
          <p:nvPr/>
        </p:nvSpPr>
        <p:spPr>
          <a:xfrm>
            <a:off x="6246250" y="1066441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Completar el despliegue R1 en 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R2A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Solicitar un nuevo usuario de integración para interactuar con ServiceNow PRO.</a:t>
            </a: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3546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03F6-5E5B-CAE7-1D28-45B3522A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82810-4C6B-128E-20EA-11B4C3F6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27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0850F8-5ECF-3293-8149-407CF562DC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/04/2026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8571E2-6DA5-03C6-85E1-8C1D546762FB}"/>
              </a:ext>
            </a:extLst>
          </p:cNvPr>
          <p:cNvSpPr/>
          <p:nvPr/>
        </p:nvSpPr>
        <p:spPr>
          <a:xfrm>
            <a:off x="300500" y="1066442"/>
            <a:ext cx="5645250" cy="3076933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despliega la versión v0.3.10 de la Release 1 en PRE.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Shakedown AFA – Cosmos DB: </a:t>
            </a:r>
            <a:r>
              <a:rPr lang="es-ES" sz="1100" b="1" dirty="0">
                <a:solidFill>
                  <a:schemeClr val="accent4"/>
                </a:solidFill>
                <a:cs typeface="Segoe UI Light"/>
              </a:rPr>
              <a:t>OK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Shakedown AFA – ServiceNow: </a:t>
            </a:r>
            <a:r>
              <a:rPr lang="es-ES" sz="1100" b="1" dirty="0">
                <a:solidFill>
                  <a:schemeClr val="accent4"/>
                </a:solidFill>
                <a:cs typeface="Segoe UI Light"/>
              </a:rPr>
              <a:t>OK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Shakedown AFA – Snowflake: </a:t>
            </a:r>
            <a:r>
              <a:rPr lang="es-ES" sz="1100" b="1" dirty="0">
                <a:solidFill>
                  <a:schemeClr val="accent1"/>
                </a:solidFill>
                <a:cs typeface="Segoe UI Light"/>
              </a:rPr>
              <a:t>KO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completa el desarrollo de R2A, a falta de terminar el testing de BAU-3 y confirmar la correcta implementación de ING_024, ING_025 y ING_026.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620A4E-47A5-F926-0F1D-2F5881E440ED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9504D7-AA80-E6D4-A348-0379784E1354}"/>
              </a:ext>
            </a:extLst>
          </p:cNvPr>
          <p:cNvSpPr/>
          <p:nvPr/>
        </p:nvSpPr>
        <p:spPr>
          <a:xfrm>
            <a:off x="310332" y="4541418"/>
            <a:ext cx="5645250" cy="1578532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Confirmar el usuario de integración a utilizar para la conexión AFA – ServiceNow (PRO).</a:t>
            </a: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Confirmar si va a ser necesario considerar ING_030 en BAU-3.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Creación de tablas de Snowflake para los entornos de PRO.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3ABA7D-4670-CA68-65C8-91D30AD89D18}"/>
              </a:ext>
            </a:extLst>
          </p:cNvPr>
          <p:cNvSpPr/>
          <p:nvPr/>
        </p:nvSpPr>
        <p:spPr>
          <a:xfrm>
            <a:off x="300500" y="421639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4B4F5D-8DE6-87B4-30EB-862E8E6432F4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3C447-5F00-1535-C3C8-516EC095371D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En R3, pendientes del plan de desarrollo y despliegue de Capa de Integración.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resolver la petición </a:t>
            </a:r>
            <a:r>
              <a:rPr lang="es-ES" sz="1100" dirty="0">
                <a:hlinkClick r:id="rId3" tooltip="https://appianmonetpro.unix.aacc.corp:15008/suite/sites/gop_peticiones/page/records/record/lyblmsdv6ozqgmjooddnw8ihudqqnvwaq0d2f7u6nkkfoogqgvflyrmbgtaliq8noq7kqrewxyxsveiakpii5m4fpvul86oixvbby2gpjhl74t3reqhaw/view/summary"/>
              </a:rPr>
              <a:t>70451</a:t>
            </a:r>
            <a:r>
              <a:rPr lang="es-ES" sz="1100" dirty="0"/>
              <a:t> de GoPortal para asociar el usuario de Snowflake al warehouse correspondiente.</a:t>
            </a: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631849-A7BC-4AA9-B802-02BE517CD70A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ABC076BA-CEC3-F9C4-A135-A8743EB74BA9}"/>
              </a:ext>
            </a:extLst>
          </p:cNvPr>
          <p:cNvSpPr/>
          <p:nvPr/>
        </p:nvSpPr>
        <p:spPr>
          <a:xfrm>
            <a:off x="6246250" y="1066441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R2A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Comenzar con el desarrollo de R2B.</a:t>
            </a:r>
          </a:p>
        </p:txBody>
      </p:sp>
    </p:spTree>
    <p:extLst>
      <p:ext uri="{BB962C8B-B14F-4D97-AF65-F5344CB8AC3E}">
        <p14:creationId xmlns:p14="http://schemas.microsoft.com/office/powerpoint/2010/main" val="381274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750E-DA12-C2D7-60AC-A935A98E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2615EC-06EA-7A4A-0284-C5E70A43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28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0782EA-730E-9BD1-08C6-ABF143628E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24/04/2026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7B8A9-05DA-B486-E3D3-210962FBFA57}"/>
              </a:ext>
            </a:extLst>
          </p:cNvPr>
          <p:cNvSpPr/>
          <p:nvPr/>
        </p:nvSpPr>
        <p:spPr>
          <a:xfrm>
            <a:off x="300500" y="1066442"/>
            <a:ext cx="5645250" cy="3076933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despliega la versión v0.3.11 de la Release 1 en 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completa el testing y despliegue de R2A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inicia el desarrollo de R2B.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completa </a:t>
            </a:r>
            <a:r>
              <a:rPr lang="es-ES" sz="1100" b="0" i="0" u="none" strike="noStrike" dirty="0">
                <a:solidFill>
                  <a:srgbClr val="88B7C7"/>
                </a:solidFill>
                <a:effectLst/>
                <a:hlinkClick r:id="rId3"/>
              </a:rPr>
              <a:t>RTSK6964670</a:t>
            </a:r>
            <a:r>
              <a:rPr lang="es-ES" sz="1100" b="0" i="0" u="none" strike="noStrike" dirty="0">
                <a:solidFill>
                  <a:srgbClr val="88B7C7"/>
                </a:solidFill>
                <a:effectLst/>
              </a:rPr>
              <a:t> 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(agregar variable de conexión a Cosmos en AFA) en PRO. Falta dar el shakedown PRO de </a:t>
            </a:r>
            <a:r>
              <a:rPr lang="es-ES" sz="1100" b="0" i="0" u="none" strike="noStrike" dirty="0">
                <a:solidFill>
                  <a:srgbClr val="88B7C7"/>
                </a:solidFill>
                <a:effectLst/>
                <a:hlinkClick r:id="rId4"/>
              </a:rPr>
              <a:t>RLSE1330171</a:t>
            </a:r>
            <a:r>
              <a:rPr lang="es-ES" sz="1100" dirty="0">
                <a:solidFill>
                  <a:srgbClr val="000000"/>
                </a:solidFill>
                <a:cs typeface="Segoe UI Light"/>
              </a:rPr>
              <a:t>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5BF8B-2B8C-1A6A-B78E-1AB971FEEFCC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25D2D2-D669-986C-C256-548E5B062BAB}"/>
              </a:ext>
            </a:extLst>
          </p:cNvPr>
          <p:cNvSpPr/>
          <p:nvPr/>
        </p:nvSpPr>
        <p:spPr>
          <a:xfrm>
            <a:off x="300500" y="4541418"/>
            <a:ext cx="5645250" cy="1578532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cs typeface="Segoe UI Light"/>
              </a:rPr>
              <a:t>Confirmar el usuario de integración a utilizar para la conexión AFA – ServiceNow (PRO).</a:t>
            </a: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CEBEDB-5D8A-D9DC-80DD-D42839869F2C}"/>
              </a:ext>
            </a:extLst>
          </p:cNvPr>
          <p:cNvSpPr/>
          <p:nvPr/>
        </p:nvSpPr>
        <p:spPr>
          <a:xfrm>
            <a:off x="300500" y="421639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63C95A-BAB2-83C7-078B-011D15A9B26F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482142-D333-B772-724A-B3ECB2DE162D}"/>
              </a:ext>
            </a:extLst>
          </p:cNvPr>
          <p:cNvSpPr/>
          <p:nvPr/>
        </p:nvSpPr>
        <p:spPr>
          <a:xfrm>
            <a:off x="6246250" y="4319950"/>
            <a:ext cx="5645250" cy="18000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En R3, pendientes del plan de desarrollo y despliegue de Capa de Integración. 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Pendientes de resolver la petición </a:t>
            </a:r>
            <a:r>
              <a:rPr lang="es-ES" sz="1100" b="0" i="0" u="none" strike="noStrike" dirty="0">
                <a:solidFill>
                  <a:srgbClr val="EB0000"/>
                </a:solidFill>
                <a:effectLst/>
                <a:latin typeface="Appian Open Sans"/>
                <a:hlinkClick r:id="rId5"/>
              </a:rPr>
              <a:t>70638</a:t>
            </a:r>
            <a:r>
              <a:rPr lang="es-ES" sz="1100" b="0" i="0" u="none" strike="noStrike" dirty="0">
                <a:solidFill>
                  <a:srgbClr val="EB0000"/>
                </a:solidFill>
                <a:effectLst/>
                <a:latin typeface="Appian Open Sans"/>
              </a:rPr>
              <a:t> </a:t>
            </a:r>
            <a:r>
              <a:rPr lang="es-ES" sz="1100" dirty="0"/>
              <a:t>de GoPortal para asociar el usuario de Snowflake al warehouse correspondiente.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FD8F47-8687-CD25-F2BB-79A81E8BC3D3}"/>
              </a:ext>
            </a:extLst>
          </p:cNvPr>
          <p:cNvSpPr/>
          <p:nvPr/>
        </p:nvSpPr>
        <p:spPr>
          <a:xfrm>
            <a:off x="6246250" y="400684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6A7A7D69-4D66-CDF7-F6FB-4903C977F774}"/>
              </a:ext>
            </a:extLst>
          </p:cNvPr>
          <p:cNvSpPr/>
          <p:nvPr/>
        </p:nvSpPr>
        <p:spPr>
          <a:xfrm>
            <a:off x="6246250" y="1066441"/>
            <a:ext cx="5645250" cy="287930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R2A en 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Completar el desarrollo y despliegue en DEV de R2B.</a:t>
            </a:r>
          </a:p>
        </p:txBody>
      </p:sp>
    </p:spTree>
    <p:extLst>
      <p:ext uri="{BB962C8B-B14F-4D97-AF65-F5344CB8AC3E}">
        <p14:creationId xmlns:p14="http://schemas.microsoft.com/office/powerpoint/2010/main" val="220631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8B53-97A1-AF47-3FEE-46BA2F3A5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9BA6F2-948B-F222-0D94-60D13D9B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29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EC0D61-690F-33C7-9413-9130F47D31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 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04/05/2026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50883E-F5C6-A008-48AD-99C3A47B7278}"/>
              </a:ext>
            </a:extLst>
          </p:cNvPr>
          <p:cNvSpPr/>
          <p:nvPr/>
        </p:nvSpPr>
        <p:spPr>
          <a:xfrm>
            <a:off x="300500" y="1066442"/>
            <a:ext cx="5645250" cy="3076933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Se avanza en el desarrollo y definición de R2B.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Creación de tablas y datos de Snowflake en PRE para R2A.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6603F-F9D3-241F-54C3-7211110E48BD}"/>
              </a:ext>
            </a:extLst>
          </p:cNvPr>
          <p:cNvSpPr/>
          <p:nvPr/>
        </p:nvSpPr>
        <p:spPr>
          <a:xfrm>
            <a:off x="30050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Status Update - Weekly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31FB57-95B6-40ED-C410-16F48AD0DF28}"/>
              </a:ext>
            </a:extLst>
          </p:cNvPr>
          <p:cNvSpPr/>
          <p:nvPr/>
        </p:nvSpPr>
        <p:spPr>
          <a:xfrm>
            <a:off x="310332" y="4541418"/>
            <a:ext cx="5645250" cy="1578532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0114F3-AD33-3DFE-DFE9-47E4E4FAC919}"/>
              </a:ext>
            </a:extLst>
          </p:cNvPr>
          <p:cNvSpPr/>
          <p:nvPr/>
        </p:nvSpPr>
        <p:spPr>
          <a:xfrm>
            <a:off x="300500" y="4216396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Decisions to be Taken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F5A409-E53C-C31F-B134-0DA13715AF3A}"/>
              </a:ext>
            </a:extLst>
          </p:cNvPr>
          <p:cNvSpPr/>
          <p:nvPr/>
        </p:nvSpPr>
        <p:spPr>
          <a:xfrm>
            <a:off x="6246250" y="753338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Next Step/ Opportunities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9F2A07-27CC-C89D-D8CC-4471623EA0FA}"/>
              </a:ext>
            </a:extLst>
          </p:cNvPr>
          <p:cNvSpPr/>
          <p:nvPr/>
        </p:nvSpPr>
        <p:spPr>
          <a:xfrm>
            <a:off x="6246250" y="4230300"/>
            <a:ext cx="5645250" cy="188965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En R3, pendientes del plan de desarrollo y despliegue de Capa de Integración.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Definición de R2B pendiente.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R2A: Pendiente de confirmar si el cambio en SIF nos afecta.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PRO: 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Conexión AFA – Snowflake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Conexión AFA – ServiceNow</a:t>
            </a:r>
          </a:p>
          <a:p>
            <a:pPr marL="628650" lvl="1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Estabilización de SIF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E0A87D-39A3-0ADE-CA7D-09E45B571AAB}"/>
              </a:ext>
            </a:extLst>
          </p:cNvPr>
          <p:cNvSpPr/>
          <p:nvPr/>
        </p:nvSpPr>
        <p:spPr>
          <a:xfrm>
            <a:off x="6246250" y="3888650"/>
            <a:ext cx="5645250" cy="252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35283" tIns="35283" rIns="35283" bIns="35283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s-ES" sz="1372" b="1" noProof="0" dirty="0">
                <a:solidFill>
                  <a:schemeClr val="bg1"/>
                </a:solidFill>
              </a:rPr>
              <a:t>Risk &amp; Dependencies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4CDA1347-970A-176E-B109-CDBF74A38508}"/>
              </a:ext>
            </a:extLst>
          </p:cNvPr>
          <p:cNvSpPr/>
          <p:nvPr/>
        </p:nvSpPr>
        <p:spPr>
          <a:xfrm>
            <a:off x="6246250" y="1066441"/>
            <a:ext cx="5645250" cy="2575280"/>
          </a:xfrm>
          <a:prstGeom prst="rect">
            <a:avLst/>
          </a:prstGeom>
          <a:solidFill>
            <a:schemeClr val="bg1"/>
          </a:solidFill>
          <a:ln w="12700" cap="rnd">
            <a:solidFill>
              <a:srgbClr val="C00000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8000" tIns="180000" rIns="108000" bIns="108000" anchor="t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Desplegar R2A en PRE.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Completar el desarrollo y despliegue en DEV de R2B.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Comenzar con el desarrollo de R3 en DEV.</a:t>
            </a:r>
          </a:p>
          <a:p>
            <a:pPr marL="171450" indent="-171450" defTabSz="960896">
              <a:lnSpc>
                <a:spcPts val="130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000000"/>
                </a:solidFill>
                <a:cs typeface="Segoe UI Light"/>
              </a:rPr>
              <a:t>Shakedown de R1 en PRE. (No hay alertas ING)</a:t>
            </a:r>
          </a:p>
        </p:txBody>
      </p:sp>
    </p:spTree>
    <p:extLst>
      <p:ext uri="{BB962C8B-B14F-4D97-AF65-F5344CB8AC3E}">
        <p14:creationId xmlns:p14="http://schemas.microsoft.com/office/powerpoint/2010/main" val="386433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28E6F-5080-BDE6-5365-E91958D3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99E2-80D9-19E8-9D04-0A85E2284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Modelo de la solución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4826F-24E7-5E0F-08E2-9364540BEB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noProof="0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0731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CE2A9-28A3-506D-94B0-54BC3C20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952A0E-9016-F8A0-2DC3-C534E95B9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31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9BF4EE-189C-0FE9-3951-2996677F8C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Modelo de la solución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Componentes involucrados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9A1B4-7A0D-009A-642D-92336AA42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46" y="944693"/>
            <a:ext cx="1124107" cy="3810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38015EF-B4FF-C7E5-0577-FAAAFBBE5B19}"/>
              </a:ext>
            </a:extLst>
          </p:cNvPr>
          <p:cNvSpPr/>
          <p:nvPr/>
        </p:nvSpPr>
        <p:spPr>
          <a:xfrm>
            <a:off x="1780895" y="909736"/>
            <a:ext cx="4320000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00" noProof="0" dirty="0"/>
              <a:t>Aplicación: </a:t>
            </a:r>
            <a:r>
              <a:rPr lang="es-ES" sz="1000" b="1" noProof="0" dirty="0"/>
              <a:t>Sdh - Onefcc</a:t>
            </a:r>
          </a:p>
          <a:p>
            <a:r>
              <a:rPr lang="es-ES" sz="1000" b="1" noProof="0" dirty="0">
                <a:solidFill>
                  <a:srgbClr val="00B050"/>
                </a:solidFill>
              </a:rPr>
              <a:t>NUEVO</a:t>
            </a:r>
            <a:r>
              <a:rPr lang="es-ES" sz="1000" noProof="0" dirty="0"/>
              <a:t> – Componente: BAU-automation-functions</a:t>
            </a:r>
          </a:p>
          <a:p>
            <a:r>
              <a:rPr lang="es-ES" sz="1000" b="1" noProof="0" dirty="0">
                <a:solidFill>
                  <a:srgbClr val="00B050"/>
                </a:solidFill>
              </a:rPr>
              <a:t>NUEVO</a:t>
            </a:r>
            <a:r>
              <a:rPr lang="es-ES" sz="1000" noProof="0" dirty="0"/>
              <a:t> – Repositorio: gsc-1fccte-bau-automation-repository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814414-83A4-11C6-4A5D-B4ADD8540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31" y="1373314"/>
            <a:ext cx="447737" cy="4096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844826E-A987-068E-F198-464EED4A9C1E}"/>
              </a:ext>
            </a:extLst>
          </p:cNvPr>
          <p:cNvSpPr/>
          <p:nvPr/>
        </p:nvSpPr>
        <p:spPr>
          <a:xfrm>
            <a:off x="7543604" y="820091"/>
            <a:ext cx="4320000" cy="122816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00" noProof="0" dirty="0"/>
              <a:t>OPCIÓN 1: </a:t>
            </a:r>
          </a:p>
          <a:p>
            <a:r>
              <a:rPr lang="es-ES" sz="1000" b="1" noProof="0" dirty="0">
                <a:solidFill>
                  <a:srgbClr val="00B050"/>
                </a:solidFill>
              </a:rPr>
              <a:t>NUEVO</a:t>
            </a:r>
            <a:r>
              <a:rPr lang="es-ES" sz="1000" noProof="0" dirty="0"/>
              <a:t> – 1 función que lea los eventos del tópico EventHub y ejecute decisiones a partir de ahí. </a:t>
            </a:r>
          </a:p>
          <a:p>
            <a:r>
              <a:rPr lang="es-ES" sz="1000" noProof="0" dirty="0"/>
              <a:t>OPCIÓN 2: </a:t>
            </a:r>
          </a:p>
          <a:p>
            <a:r>
              <a:rPr lang="es-ES" sz="1000" b="1" noProof="0" dirty="0">
                <a:solidFill>
                  <a:srgbClr val="00B050"/>
                </a:solidFill>
              </a:rPr>
              <a:t>NUEVO</a:t>
            </a:r>
            <a:r>
              <a:rPr lang="es-ES" sz="1000" noProof="0" dirty="0"/>
              <a:t> – 1 función maestra + n funciones esclavas. La Maestra lee los eventos del tópico EventHub y notifica al resto de funciones para que ejecuten la decisión.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D42609-AF11-7AC8-4C31-C446FB428657}"/>
              </a:ext>
            </a:extLst>
          </p:cNvPr>
          <p:cNvGrpSpPr/>
          <p:nvPr/>
        </p:nvGrpSpPr>
        <p:grpSpPr>
          <a:xfrm>
            <a:off x="6540003" y="1014981"/>
            <a:ext cx="785921" cy="888087"/>
            <a:chOff x="880117" y="2175300"/>
            <a:chExt cx="785921" cy="888087"/>
          </a:xfrm>
        </p:grpSpPr>
        <p:pic>
          <p:nvPicPr>
            <p:cNvPr id="1026" name="Picture 2" descr="Index - robert-brands.com">
              <a:extLst>
                <a:ext uri="{FF2B5EF4-FFF2-40B4-BE49-F238E27FC236}">
                  <a16:creationId xmlns:a16="http://schemas.microsoft.com/office/drawing/2014/main" id="{3950C143-0E4D-C060-191B-6504299FD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0117" y="2175300"/>
              <a:ext cx="785921" cy="527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F762B-A971-21F7-F29E-933AAC7EF4E1}"/>
                </a:ext>
              </a:extLst>
            </p:cNvPr>
            <p:cNvSpPr txBox="1"/>
            <p:nvPr/>
          </p:nvSpPr>
          <p:spPr>
            <a:xfrm>
              <a:off x="880117" y="2632500"/>
              <a:ext cx="785921" cy="43088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s-ES" sz="1100" noProof="0" dirty="0">
                  <a:solidFill>
                    <a:srgbClr val="0070C0"/>
                  </a:solidFill>
                </a:rPr>
                <a:t>Azure Functions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6E3A25B-E2E1-0C99-5087-F875F5B42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39" y="2275211"/>
            <a:ext cx="785921" cy="75226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2B5A186-4FB9-9988-7994-AE5F1D3CFE16}"/>
              </a:ext>
            </a:extLst>
          </p:cNvPr>
          <p:cNvSpPr/>
          <p:nvPr/>
        </p:nvSpPr>
        <p:spPr>
          <a:xfrm>
            <a:off x="1780895" y="2164402"/>
            <a:ext cx="4320000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00" noProof="0" dirty="0"/>
              <a:t>Lectura del CosmosDB ya existente: gscp1weucdboe2020crit110 (PRO)</a:t>
            </a:r>
          </a:p>
          <a:p>
            <a:r>
              <a:rPr lang="es-ES" sz="1000" b="1" noProof="0" dirty="0">
                <a:solidFill>
                  <a:srgbClr val="00B050"/>
                </a:solidFill>
              </a:rPr>
              <a:t>NUEVO</a:t>
            </a:r>
            <a:r>
              <a:rPr lang="es-ES" sz="1000" noProof="0" dirty="0"/>
              <a:t> – Creación de ± 10 nuevas tablas que almacenarán la información que sustituirá a lo que existe en Excel hoy en día.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98D597-F09A-FDEF-41F1-4833A11096BA}"/>
              </a:ext>
            </a:extLst>
          </p:cNvPr>
          <p:cNvGrpSpPr/>
          <p:nvPr/>
        </p:nvGrpSpPr>
        <p:grpSpPr>
          <a:xfrm>
            <a:off x="6394685" y="2450943"/>
            <a:ext cx="1076557" cy="365012"/>
            <a:chOff x="7804906" y="4688980"/>
            <a:chExt cx="1593395" cy="540249"/>
          </a:xfrm>
        </p:grpSpPr>
        <p:sp>
          <p:nvSpPr>
            <p:cNvPr id="18" name="Rectángulo: esquinas redondeadas 129">
              <a:extLst>
                <a:ext uri="{FF2B5EF4-FFF2-40B4-BE49-F238E27FC236}">
                  <a16:creationId xmlns:a16="http://schemas.microsoft.com/office/drawing/2014/main" id="{E4FC6E1B-1C68-6064-760C-16E697859F5F}"/>
                </a:ext>
              </a:extLst>
            </p:cNvPr>
            <p:cNvSpPr/>
            <p:nvPr/>
          </p:nvSpPr>
          <p:spPr>
            <a:xfrm>
              <a:off x="7804906" y="4688980"/>
              <a:ext cx="1593395" cy="5402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>
                <a:defRPr/>
              </a:pPr>
              <a:r>
                <a:rPr lang="es-ES" sz="1400" b="1" noProof="0" dirty="0">
                  <a:solidFill>
                    <a:prstClr val="black"/>
                  </a:solidFill>
                  <a:latin typeface="Santander Text" panose="020B0504020201020104"/>
                </a:rPr>
                <a:t>DEVO</a:t>
              </a:r>
              <a:endParaRPr lang="es-ES" sz="2000" b="1" noProof="0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pic>
          <p:nvPicPr>
            <p:cNvPr id="19" name="Picture 4" descr="https://avatars.githubusercontent.com/u/38523794?s=280&amp;v=4">
              <a:extLst>
                <a:ext uri="{FF2B5EF4-FFF2-40B4-BE49-F238E27FC236}">
                  <a16:creationId xmlns:a16="http://schemas.microsoft.com/office/drawing/2014/main" id="{ACCDAEA4-217C-B6B3-089D-91D9EC1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596" y="4733209"/>
              <a:ext cx="451788" cy="451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F5F3687B-267D-82CB-0A4C-E2FC4CE308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9371" y="3429417"/>
            <a:ext cx="887185" cy="396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B17155-2EF8-A9E6-8EE0-7065D9EE82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9371" y="3886617"/>
            <a:ext cx="887185" cy="43245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C2EEA2D-9FB0-3F05-C56E-2FA5034451F6}"/>
              </a:ext>
            </a:extLst>
          </p:cNvPr>
          <p:cNvSpPr/>
          <p:nvPr/>
        </p:nvSpPr>
        <p:spPr>
          <a:xfrm>
            <a:off x="7543604" y="3419068"/>
            <a:ext cx="4320000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00" noProof="0" dirty="0"/>
              <a:t>Tópico donde se escucharán los eventos que activarán la toma de decisiones.</a:t>
            </a:r>
          </a:p>
          <a:p>
            <a:r>
              <a:rPr lang="es-ES" sz="1000" noProof="0" dirty="0"/>
              <a:t>Se creará un nuevo suscriptor al mismo.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BBD099-D2F9-927B-7844-52A416EFA7F6}"/>
              </a:ext>
            </a:extLst>
          </p:cNvPr>
          <p:cNvSpPr/>
          <p:nvPr/>
        </p:nvSpPr>
        <p:spPr>
          <a:xfrm>
            <a:off x="7543604" y="2164402"/>
            <a:ext cx="4320000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00" b="1" noProof="0" dirty="0">
                <a:solidFill>
                  <a:schemeClr val="accent6">
                    <a:lumMod val="75000"/>
                  </a:schemeClr>
                </a:solidFill>
              </a:rPr>
              <a:t>PENDIENTE</a:t>
            </a:r>
            <a:r>
              <a:rPr lang="es-ES" sz="1000" noProof="0" dirty="0"/>
              <a:t> - ¿Será necesario leer de DEVO para obtener toda la información necesaria en los automatismos?</a:t>
            </a:r>
          </a:p>
          <a:p>
            <a:r>
              <a:rPr lang="es-ES" sz="1000" b="1" noProof="0" dirty="0">
                <a:solidFill>
                  <a:schemeClr val="accent6">
                    <a:lumMod val="75000"/>
                  </a:schemeClr>
                </a:solidFill>
              </a:rPr>
              <a:t>PENDIENTE</a:t>
            </a:r>
            <a:r>
              <a:rPr lang="es-ES" sz="1000" noProof="0" dirty="0"/>
              <a:t> - ¿Utilizaremos DEVO para la generación de incidencias en Service Now?</a:t>
            </a:r>
          </a:p>
        </p:txBody>
      </p:sp>
      <p:pic>
        <p:nvPicPr>
          <p:cNvPr id="1029" name="Picture 5" descr="Outlook Printable Calendar - King Printables">
            <a:extLst>
              <a:ext uri="{FF2B5EF4-FFF2-40B4-BE49-F238E27FC236}">
                <a16:creationId xmlns:a16="http://schemas.microsoft.com/office/drawing/2014/main" id="{8DC0E6C6-0F38-B795-DE50-AF09F0324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50" y="4824199"/>
            <a:ext cx="575499" cy="38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A7337F9-374B-7FA5-D3C8-B4E0605BD516}"/>
              </a:ext>
            </a:extLst>
          </p:cNvPr>
          <p:cNvSpPr/>
          <p:nvPr/>
        </p:nvSpPr>
        <p:spPr>
          <a:xfrm>
            <a:off x="1780895" y="4673735"/>
            <a:ext cx="4320000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00" b="1" noProof="0" dirty="0">
                <a:solidFill>
                  <a:schemeClr val="accent6">
                    <a:lumMod val="75000"/>
                  </a:schemeClr>
                </a:solidFill>
              </a:rPr>
              <a:t>PENDIENTE</a:t>
            </a:r>
            <a:r>
              <a:rPr lang="es-ES" sz="1000" noProof="0" dirty="0">
                <a:solidFill>
                  <a:schemeClr val="tx1"/>
                </a:solidFill>
              </a:rPr>
              <a:t> – Notificación por correo.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4410E-DBA6-ECC7-F1B1-8F8078E4EB8C}"/>
              </a:ext>
            </a:extLst>
          </p:cNvPr>
          <p:cNvSpPr/>
          <p:nvPr/>
        </p:nvSpPr>
        <p:spPr>
          <a:xfrm>
            <a:off x="1780895" y="3419068"/>
            <a:ext cx="4320000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00" b="1" noProof="0" dirty="0">
                <a:solidFill>
                  <a:srgbClr val="00B050"/>
                </a:solidFill>
              </a:rPr>
              <a:t>NUEVO</a:t>
            </a:r>
            <a:r>
              <a:rPr lang="es-ES" sz="1000" noProof="0" dirty="0"/>
              <a:t> – Para la realización de algunas automatizaciones será necesario conectarse a Databricks y ejecutar las validaciones.</a:t>
            </a:r>
          </a:p>
        </p:txBody>
      </p:sp>
      <p:pic>
        <p:nvPicPr>
          <p:cNvPr id="2050" name="Picture 2" descr="Databricks documentation | Databricks on Google Cloud">
            <a:extLst>
              <a:ext uri="{FF2B5EF4-FFF2-40B4-BE49-F238E27FC236}">
                <a16:creationId xmlns:a16="http://schemas.microsoft.com/office/drawing/2014/main" id="{1A1A65E3-4224-E0A9-77C7-04540774C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35" y="3519743"/>
            <a:ext cx="1051529" cy="55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60014F-BC23-BF9A-B38D-C448383554F9}"/>
              </a:ext>
            </a:extLst>
          </p:cNvPr>
          <p:cNvSpPr txBox="1"/>
          <p:nvPr/>
        </p:nvSpPr>
        <p:spPr>
          <a:xfrm>
            <a:off x="6520049" y="6138246"/>
            <a:ext cx="432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1" i="1" noProof="0" dirty="0">
                <a:solidFill>
                  <a:srgbClr val="00B050"/>
                </a:solidFill>
              </a:rPr>
              <a:t>NUEVO </a:t>
            </a:r>
            <a:r>
              <a:rPr lang="es-ES" sz="900" i="1" noProof="0" dirty="0">
                <a:solidFill>
                  <a:schemeClr val="dk1"/>
                </a:solidFill>
              </a:rPr>
              <a:t>– Nueva funcionalidad o componente a incluir en la solución actual</a:t>
            </a:r>
          </a:p>
          <a:p>
            <a:r>
              <a:rPr lang="es-ES" sz="900" b="1" i="1" noProof="0" dirty="0">
                <a:solidFill>
                  <a:schemeClr val="accent6">
                    <a:lumMod val="75000"/>
                  </a:schemeClr>
                </a:solidFill>
              </a:rPr>
              <a:t>PENDIENTE </a:t>
            </a:r>
            <a:r>
              <a:rPr lang="es-ES" sz="900" i="1" noProof="0" dirty="0">
                <a:solidFill>
                  <a:schemeClr val="dk1"/>
                </a:solidFill>
              </a:rPr>
              <a:t>– Pendiente de aclarar el papel del componente o cómo se acometerá la funcionalidad en la solución. 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FF12A296-DDF8-5647-35E1-D388D8F3465C}"/>
              </a:ext>
            </a:extLst>
          </p:cNvPr>
          <p:cNvSpPr/>
          <p:nvPr/>
        </p:nvSpPr>
        <p:spPr>
          <a:xfrm>
            <a:off x="7543603" y="4678484"/>
            <a:ext cx="4320000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s-ES" sz="1000" noProof="0" dirty="0"/>
              <a:t>Sistema de almacenamiento de objetos con compatibilidad S3. Lo utiliza TM para el almacenamiento de consumos y ficheros. Necesitamos el acceso para la validación de parametrías y conteo de transacciones por tipo.</a:t>
            </a:r>
            <a:endParaRPr lang="es-ES" noProof="0" dirty="0"/>
          </a:p>
        </p:txBody>
      </p:sp>
      <p:pic>
        <p:nvPicPr>
          <p:cNvPr id="22" name="Gráfico 21" descr="Understand the guidelines for using MinIO's marks - MinIO">
            <a:extLst>
              <a:ext uri="{FF2B5EF4-FFF2-40B4-BE49-F238E27FC236}">
                <a16:creationId xmlns:a16="http://schemas.microsoft.com/office/drawing/2014/main" id="{79218275-C1BE-4618-2180-C3183452A0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95102" y="5014551"/>
            <a:ext cx="888093" cy="31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2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126F1-6243-A66F-40F0-FE5FF779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DF6164E7-0A7C-6A1B-B9A9-A18DF7A9E92B}"/>
              </a:ext>
            </a:extLst>
          </p:cNvPr>
          <p:cNvSpPr/>
          <p:nvPr/>
        </p:nvSpPr>
        <p:spPr>
          <a:xfrm>
            <a:off x="4779609" y="3897883"/>
            <a:ext cx="2593910" cy="16048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75D7C-0CC4-86AC-96D3-88A3808E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32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D374CF-C178-EB00-2E6D-5984994C00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Modelo de la solución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Mapa de procesos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4B7CD4-0521-0015-D907-10708557B4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79" r="-2381" b="-2667"/>
          <a:stretch>
            <a:fillRect/>
          </a:stretch>
        </p:blipFill>
        <p:spPr>
          <a:xfrm>
            <a:off x="4956173" y="2254688"/>
            <a:ext cx="1914211" cy="8534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D63460-984F-AFF2-0DDE-B53E6AF2987B}"/>
              </a:ext>
            </a:extLst>
          </p:cNvPr>
          <p:cNvSpPr/>
          <p:nvPr/>
        </p:nvSpPr>
        <p:spPr>
          <a:xfrm>
            <a:off x="1853591" y="1092170"/>
            <a:ext cx="1388364" cy="647021"/>
          </a:xfrm>
          <a:prstGeom prst="rect">
            <a:avLst/>
          </a:prstGeom>
          <a:solidFill>
            <a:schemeClr val="bg1"/>
          </a:solidFill>
          <a:ln>
            <a:solidFill>
              <a:srgbClr val="070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noProof="0" dirty="0">
                <a:solidFill>
                  <a:schemeClr val="tx1"/>
                </a:solidFill>
              </a:rPr>
              <a:t>DataHub Loading process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7C328CD-85B6-9AD7-9CFA-ACA981A16491}"/>
              </a:ext>
            </a:extLst>
          </p:cNvPr>
          <p:cNvCxnSpPr>
            <a:cxnSpLocks/>
          </p:cNvCxnSpPr>
          <p:nvPr/>
        </p:nvCxnSpPr>
        <p:spPr>
          <a:xfrm>
            <a:off x="2547773" y="1739191"/>
            <a:ext cx="0" cy="618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Diagrama de flujo: almacenamiento de acceso directo 10">
            <a:extLst>
              <a:ext uri="{FF2B5EF4-FFF2-40B4-BE49-F238E27FC236}">
                <a16:creationId xmlns:a16="http://schemas.microsoft.com/office/drawing/2014/main" id="{A2E442BA-D301-6B91-BB1C-8A1D6F4261AC}"/>
              </a:ext>
            </a:extLst>
          </p:cNvPr>
          <p:cNvSpPr/>
          <p:nvPr/>
        </p:nvSpPr>
        <p:spPr>
          <a:xfrm>
            <a:off x="1553114" y="2357887"/>
            <a:ext cx="2127379" cy="647020"/>
          </a:xfrm>
          <a:prstGeom prst="flowChartMagneticDru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noProof="0" dirty="0">
                <a:solidFill>
                  <a:schemeClr val="tx1"/>
                </a:solidFill>
              </a:rPr>
              <a:t>Eventhub (Topic)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1AB0B58-A7E6-8B99-5594-2B470E0C48AF}"/>
              </a:ext>
            </a:extLst>
          </p:cNvPr>
          <p:cNvCxnSpPr>
            <a:cxnSpLocks/>
          </p:cNvCxnSpPr>
          <p:nvPr/>
        </p:nvCxnSpPr>
        <p:spPr>
          <a:xfrm flipH="1">
            <a:off x="3767172" y="2681397"/>
            <a:ext cx="1106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CF042D4-33C8-0FD8-B10A-0765251D4C17}"/>
              </a:ext>
            </a:extLst>
          </p:cNvPr>
          <p:cNvSpPr txBox="1"/>
          <p:nvPr/>
        </p:nvSpPr>
        <p:spPr>
          <a:xfrm>
            <a:off x="3767172" y="2740863"/>
            <a:ext cx="110662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noProof="0" dirty="0"/>
              <a:t>Subscription</a:t>
            </a:r>
          </a:p>
        </p:txBody>
      </p:sp>
      <p:pic>
        <p:nvPicPr>
          <p:cNvPr id="18" name="Picture 25" descr="Devo APIs | API Tracker">
            <a:extLst>
              <a:ext uri="{FF2B5EF4-FFF2-40B4-BE49-F238E27FC236}">
                <a16:creationId xmlns:a16="http://schemas.microsoft.com/office/drawing/2014/main" id="{2DCCF941-16D1-5803-61FA-59D97546C2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864"/>
          <a:stretch>
            <a:fillRect/>
          </a:stretch>
        </p:blipFill>
        <p:spPr>
          <a:xfrm>
            <a:off x="2335237" y="4594575"/>
            <a:ext cx="989516" cy="853417"/>
          </a:xfrm>
          <a:prstGeom prst="rect">
            <a:avLst/>
          </a:prstGeom>
        </p:spPr>
      </p:pic>
      <p:pic>
        <p:nvPicPr>
          <p:cNvPr id="19" name="Picture 28" descr="Azure Cosmos DB Driver Comparison">
            <a:extLst>
              <a:ext uri="{FF2B5EF4-FFF2-40B4-BE49-F238E27FC236}">
                <a16:creationId xmlns:a16="http://schemas.microsoft.com/office/drawing/2014/main" id="{4284701A-0959-9FEB-0239-02AC937C60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55" t="-833" r="6726" b="3333"/>
          <a:stretch>
            <a:fillRect/>
          </a:stretch>
        </p:blipFill>
        <p:spPr>
          <a:xfrm>
            <a:off x="2460168" y="3957802"/>
            <a:ext cx="875168" cy="846975"/>
          </a:xfrm>
          <a:prstGeom prst="rect">
            <a:avLst/>
          </a:prstGeom>
        </p:spPr>
      </p:pic>
      <p:cxnSp>
        <p:nvCxnSpPr>
          <p:cNvPr id="21" name="Straight Arrow Connector 29">
            <a:extLst>
              <a:ext uri="{FF2B5EF4-FFF2-40B4-BE49-F238E27FC236}">
                <a16:creationId xmlns:a16="http://schemas.microsoft.com/office/drawing/2014/main" id="{D3240283-AB78-2C58-AAE4-712A0FAF2750}"/>
              </a:ext>
            </a:extLst>
          </p:cNvPr>
          <p:cNvCxnSpPr>
            <a:cxnSpLocks/>
          </p:cNvCxnSpPr>
          <p:nvPr/>
        </p:nvCxnSpPr>
        <p:spPr>
          <a:xfrm>
            <a:off x="5437028" y="3058037"/>
            <a:ext cx="0" cy="826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E37C2F4-7933-AD95-322B-7BF239D84C88}"/>
              </a:ext>
            </a:extLst>
          </p:cNvPr>
          <p:cNvSpPr txBox="1"/>
          <p:nvPr/>
        </p:nvSpPr>
        <p:spPr>
          <a:xfrm>
            <a:off x="4837695" y="3333835"/>
            <a:ext cx="110662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noProof="0" dirty="0"/>
              <a:t>Event</a:t>
            </a:r>
          </a:p>
        </p:txBody>
      </p:sp>
      <p:pic>
        <p:nvPicPr>
          <p:cNvPr id="1026" name="Picture 2" descr="Functions | Microsoft Azure Color">
            <a:extLst>
              <a:ext uri="{FF2B5EF4-FFF2-40B4-BE49-F238E27FC236}">
                <a16:creationId xmlns:a16="http://schemas.microsoft.com/office/drawing/2014/main" id="{EF6422A1-B9E3-5947-A053-F2CF79FA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487" y="4000762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unctions | Microsoft Azure Color">
            <a:extLst>
              <a:ext uri="{FF2B5EF4-FFF2-40B4-BE49-F238E27FC236}">
                <a16:creationId xmlns:a16="http://schemas.microsoft.com/office/drawing/2014/main" id="{09697C4B-5992-D5DE-5C27-77DBA22D2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487" y="4725627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unctions | Microsoft Azure Color">
            <a:extLst>
              <a:ext uri="{FF2B5EF4-FFF2-40B4-BE49-F238E27FC236}">
                <a16:creationId xmlns:a16="http://schemas.microsoft.com/office/drawing/2014/main" id="{A0191237-138C-4B97-8803-47BF48CE1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873" y="4000762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unctions | Microsoft Azure Color">
            <a:extLst>
              <a:ext uri="{FF2B5EF4-FFF2-40B4-BE49-F238E27FC236}">
                <a16:creationId xmlns:a16="http://schemas.microsoft.com/office/drawing/2014/main" id="{75C015B7-12ED-9EB5-BC7C-4CF36587F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873" y="4725627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áfico 12" descr="Insignia 4 con relleno sólido">
            <a:extLst>
              <a:ext uri="{FF2B5EF4-FFF2-40B4-BE49-F238E27FC236}">
                <a16:creationId xmlns:a16="http://schemas.microsoft.com/office/drawing/2014/main" id="{1D5F3C82-40CC-0360-87F7-4E1E9BA887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55307" y="5097518"/>
            <a:ext cx="304800" cy="304800"/>
          </a:xfrm>
          <a:prstGeom prst="rect">
            <a:avLst/>
          </a:prstGeom>
        </p:spPr>
      </p:pic>
      <p:pic>
        <p:nvPicPr>
          <p:cNvPr id="16" name="Gráfico 15" descr="Insignia 3 con relleno sólido">
            <a:extLst>
              <a:ext uri="{FF2B5EF4-FFF2-40B4-BE49-F238E27FC236}">
                <a16:creationId xmlns:a16="http://schemas.microsoft.com/office/drawing/2014/main" id="{44A6AF46-248D-06A4-BB88-6318DCD51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8321" y="4386768"/>
            <a:ext cx="304800" cy="304800"/>
          </a:xfrm>
          <a:prstGeom prst="rect">
            <a:avLst/>
          </a:prstGeom>
        </p:spPr>
      </p:pic>
      <p:pic>
        <p:nvPicPr>
          <p:cNvPr id="22" name="Gráfico 21" descr="Insignia con relleno sólido">
            <a:extLst>
              <a:ext uri="{FF2B5EF4-FFF2-40B4-BE49-F238E27FC236}">
                <a16:creationId xmlns:a16="http://schemas.microsoft.com/office/drawing/2014/main" id="{D1209EE2-A840-2E1E-78ED-4E91B764E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05631" y="5098607"/>
            <a:ext cx="305474" cy="305474"/>
          </a:xfrm>
          <a:prstGeom prst="rect">
            <a:avLst/>
          </a:prstGeom>
        </p:spPr>
      </p:pic>
      <p:pic>
        <p:nvPicPr>
          <p:cNvPr id="24" name="Gráfico 23" descr="Insignia 1 con relleno sólido">
            <a:extLst>
              <a:ext uri="{FF2B5EF4-FFF2-40B4-BE49-F238E27FC236}">
                <a16:creationId xmlns:a16="http://schemas.microsoft.com/office/drawing/2014/main" id="{21CAB9F7-C0DD-E069-2765-043E0201F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7188" y="4386768"/>
            <a:ext cx="304800" cy="304800"/>
          </a:xfrm>
          <a:prstGeom prst="rect">
            <a:avLst/>
          </a:prstGeom>
        </p:spPr>
      </p:pic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6202E93-9507-9551-D04C-2926135A4325}"/>
              </a:ext>
            </a:extLst>
          </p:cNvPr>
          <p:cNvCxnSpPr>
            <a:cxnSpLocks/>
          </p:cNvCxnSpPr>
          <p:nvPr/>
        </p:nvCxnSpPr>
        <p:spPr>
          <a:xfrm flipH="1">
            <a:off x="3574612" y="4292457"/>
            <a:ext cx="1106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3B27C6F3-2970-3FBD-DFEE-C0B5075146EC}"/>
              </a:ext>
            </a:extLst>
          </p:cNvPr>
          <p:cNvCxnSpPr>
            <a:cxnSpLocks/>
          </p:cNvCxnSpPr>
          <p:nvPr/>
        </p:nvCxnSpPr>
        <p:spPr>
          <a:xfrm>
            <a:off x="3641274" y="5097518"/>
            <a:ext cx="10399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2" descr="Kafka - Free vector icons on creazilla.com">
            <a:extLst>
              <a:ext uri="{FF2B5EF4-FFF2-40B4-BE49-F238E27FC236}">
                <a16:creationId xmlns:a16="http://schemas.microsoft.com/office/drawing/2014/main" id="{35D2CFC7-118D-EEFF-088B-0F985D1A3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09" y="2181218"/>
            <a:ext cx="989517" cy="45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6ED960C1-8E37-B9DA-6881-C2BA37509641}"/>
              </a:ext>
            </a:extLst>
          </p:cNvPr>
          <p:cNvSpPr txBox="1"/>
          <p:nvPr/>
        </p:nvSpPr>
        <p:spPr>
          <a:xfrm>
            <a:off x="3741619" y="4546421"/>
            <a:ext cx="110662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noProof="0" dirty="0"/>
              <a:t>Actions</a:t>
            </a:r>
          </a:p>
        </p:txBody>
      </p:sp>
      <p:cxnSp>
        <p:nvCxnSpPr>
          <p:cNvPr id="39" name="Conector recto de flecha 16">
            <a:extLst>
              <a:ext uri="{FF2B5EF4-FFF2-40B4-BE49-F238E27FC236}">
                <a16:creationId xmlns:a16="http://schemas.microsoft.com/office/drawing/2014/main" id="{039A1EC0-1321-9DA8-23CF-16B5856A7B00}"/>
              </a:ext>
            </a:extLst>
          </p:cNvPr>
          <p:cNvCxnSpPr>
            <a:cxnSpLocks/>
            <a:stCxn id="28" idx="3"/>
            <a:endCxn id="43" idx="1"/>
          </p:cNvCxnSpPr>
          <p:nvPr/>
        </p:nvCxnSpPr>
        <p:spPr>
          <a:xfrm>
            <a:off x="7373519" y="4700310"/>
            <a:ext cx="708184" cy="19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EA83C67-3978-072E-2D94-21D411A38EE0}"/>
              </a:ext>
            </a:extLst>
          </p:cNvPr>
          <p:cNvSpPr txBox="1"/>
          <p:nvPr/>
        </p:nvSpPr>
        <p:spPr>
          <a:xfrm>
            <a:off x="8081703" y="4739797"/>
            <a:ext cx="110662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>
                <a:solidFill>
                  <a:srgbClr val="00B050"/>
                </a:solidFill>
              </a:rPr>
              <a:t>Continue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A9BEAA6F-3E92-E495-BB37-0DDDEAEFD6DF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373519" y="4700310"/>
            <a:ext cx="745196" cy="757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5" descr="Outlook Printable Calendar - King Printables">
            <a:extLst>
              <a:ext uri="{FF2B5EF4-FFF2-40B4-BE49-F238E27FC236}">
                <a16:creationId xmlns:a16="http://schemas.microsoft.com/office/drawing/2014/main" id="{B57D288C-752A-2C74-E8CD-768A7E6E1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2" t="-820" r="4620" b="-9531"/>
          <a:stretch>
            <a:fillRect/>
          </a:stretch>
        </p:blipFill>
        <p:spPr bwMode="auto">
          <a:xfrm>
            <a:off x="9739304" y="5126180"/>
            <a:ext cx="596890" cy="454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Servicenow - CCMA">
            <a:extLst>
              <a:ext uri="{FF2B5EF4-FFF2-40B4-BE49-F238E27FC236}">
                <a16:creationId xmlns:a16="http://schemas.microsoft.com/office/drawing/2014/main" id="{8A55158D-2B2B-7354-B724-4FB633D36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t="-1842" r="5731" b="13158"/>
          <a:stretch>
            <a:fillRect/>
          </a:stretch>
        </p:blipFill>
        <p:spPr bwMode="auto">
          <a:xfrm>
            <a:off x="9693387" y="5736631"/>
            <a:ext cx="1279226" cy="34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89E52233-F728-8737-E2E4-DF3A0EAEC9E8}"/>
              </a:ext>
            </a:extLst>
          </p:cNvPr>
          <p:cNvSpPr txBox="1"/>
          <p:nvPr/>
        </p:nvSpPr>
        <p:spPr>
          <a:xfrm>
            <a:off x="10269419" y="5172353"/>
            <a:ext cx="1106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noProof="0" dirty="0"/>
              <a:t>(mail)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D967C71-4379-90EF-8756-205CFFF52930}"/>
              </a:ext>
            </a:extLst>
          </p:cNvPr>
          <p:cNvSpPr txBox="1"/>
          <p:nvPr/>
        </p:nvSpPr>
        <p:spPr>
          <a:xfrm>
            <a:off x="10970345" y="5804028"/>
            <a:ext cx="1106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noProof="0" dirty="0"/>
              <a:t>(ticket)</a:t>
            </a:r>
          </a:p>
        </p:txBody>
      </p:sp>
      <p:pic>
        <p:nvPicPr>
          <p:cNvPr id="1028" name="Picture 4" descr="Notification symbol Vectors - Download Free High-Quality Vectors from  Freepik | Freepik">
            <a:extLst>
              <a:ext uri="{FF2B5EF4-FFF2-40B4-BE49-F238E27FC236}">
                <a16:creationId xmlns:a16="http://schemas.microsoft.com/office/drawing/2014/main" id="{A2AEE681-1F43-93FC-7973-F09FA4508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0" t="11721" r="5132" b="12121"/>
          <a:stretch>
            <a:fillRect/>
          </a:stretch>
        </p:blipFill>
        <p:spPr bwMode="auto">
          <a:xfrm>
            <a:off x="8186942" y="5222499"/>
            <a:ext cx="694560" cy="60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Conector recto de flecha 16">
            <a:extLst>
              <a:ext uri="{FF2B5EF4-FFF2-40B4-BE49-F238E27FC236}">
                <a16:creationId xmlns:a16="http://schemas.microsoft.com/office/drawing/2014/main" id="{53964289-E097-E6FB-A1A3-C5B6A9EF098F}"/>
              </a:ext>
            </a:extLst>
          </p:cNvPr>
          <p:cNvCxnSpPr>
            <a:cxnSpLocks/>
          </p:cNvCxnSpPr>
          <p:nvPr/>
        </p:nvCxnSpPr>
        <p:spPr>
          <a:xfrm flipV="1">
            <a:off x="8881502" y="5383260"/>
            <a:ext cx="845809" cy="141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ector recto de flecha 16">
            <a:extLst>
              <a:ext uri="{FF2B5EF4-FFF2-40B4-BE49-F238E27FC236}">
                <a16:creationId xmlns:a16="http://schemas.microsoft.com/office/drawing/2014/main" id="{44B596C5-9D15-9452-2B3C-B5C9D50A6636}"/>
              </a:ext>
            </a:extLst>
          </p:cNvPr>
          <p:cNvCxnSpPr>
            <a:cxnSpLocks/>
          </p:cNvCxnSpPr>
          <p:nvPr/>
        </p:nvCxnSpPr>
        <p:spPr>
          <a:xfrm>
            <a:off x="8881502" y="5524427"/>
            <a:ext cx="811885" cy="38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2" descr="Brain - Free medical icons">
            <a:extLst>
              <a:ext uri="{FF2B5EF4-FFF2-40B4-BE49-F238E27FC236}">
                <a16:creationId xmlns:a16="http://schemas.microsoft.com/office/drawing/2014/main" id="{373DB09D-15D2-71AD-1942-D24BE7E5D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852" y="1848782"/>
            <a:ext cx="561007" cy="56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A8CF79-F244-908B-60F1-8471DF5312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2513" y="2821803"/>
            <a:ext cx="1113725" cy="447936"/>
          </a:xfrm>
          <a:prstGeom prst="rect">
            <a:avLst/>
          </a:prstGeom>
        </p:spPr>
      </p:pic>
      <p:pic>
        <p:nvPicPr>
          <p:cNvPr id="12" name="Imagen 11" descr="File:Databricks Logo.png - Wikimedia Commons">
            <a:extLst>
              <a:ext uri="{FF2B5EF4-FFF2-40B4-BE49-F238E27FC236}">
                <a16:creationId xmlns:a16="http://schemas.microsoft.com/office/drawing/2014/main" id="{C94201C3-F92B-DAB9-3FA4-D7C57CA5F2A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10501" y="3667125"/>
            <a:ext cx="1714500" cy="884465"/>
          </a:xfrm>
          <a:prstGeom prst="rect">
            <a:avLst/>
          </a:prstGeom>
        </p:spPr>
      </p:pic>
      <p:cxnSp>
        <p:nvCxnSpPr>
          <p:cNvPr id="20" name="Conector recto de flecha 16">
            <a:extLst>
              <a:ext uri="{FF2B5EF4-FFF2-40B4-BE49-F238E27FC236}">
                <a16:creationId xmlns:a16="http://schemas.microsoft.com/office/drawing/2014/main" id="{83ADBEFB-2EF8-FCED-128B-4564E502B898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7373519" y="4402106"/>
            <a:ext cx="581909" cy="298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C162BB6-D2ED-3075-1EC4-23988CD775BA}"/>
              </a:ext>
            </a:extLst>
          </p:cNvPr>
          <p:cNvCxnSpPr>
            <a:cxnSpLocks/>
          </p:cNvCxnSpPr>
          <p:nvPr/>
        </p:nvCxnSpPr>
        <p:spPr>
          <a:xfrm flipH="1" flipV="1">
            <a:off x="8595647" y="3095028"/>
            <a:ext cx="4449" cy="55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1A19013-9592-7F87-6758-89B812F95729}"/>
              </a:ext>
            </a:extLst>
          </p:cNvPr>
          <p:cNvCxnSpPr>
            <a:cxnSpLocks/>
          </p:cNvCxnSpPr>
          <p:nvPr/>
        </p:nvCxnSpPr>
        <p:spPr>
          <a:xfrm>
            <a:off x="8798381" y="3056448"/>
            <a:ext cx="5823" cy="598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Picture 25" descr="Devo APIs | API Tracker">
            <a:extLst>
              <a:ext uri="{FF2B5EF4-FFF2-40B4-BE49-F238E27FC236}">
                <a16:creationId xmlns:a16="http://schemas.microsoft.com/office/drawing/2014/main" id="{FB7C4E35-6900-C6A1-7D26-A6277DB58C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152" b="30436"/>
          <a:stretch>
            <a:fillRect/>
          </a:stretch>
        </p:blipFill>
        <p:spPr>
          <a:xfrm>
            <a:off x="8635016" y="2712432"/>
            <a:ext cx="880660" cy="395673"/>
          </a:xfrm>
          <a:prstGeom prst="rect">
            <a:avLst/>
          </a:prstGeom>
        </p:spPr>
      </p:pic>
      <p:pic>
        <p:nvPicPr>
          <p:cNvPr id="32" name="Picture 5" descr="Outlook Printable Calendar - King Printables">
            <a:extLst>
              <a:ext uri="{FF2B5EF4-FFF2-40B4-BE49-F238E27FC236}">
                <a16:creationId xmlns:a16="http://schemas.microsoft.com/office/drawing/2014/main" id="{5A1444C2-8CE1-3927-014A-DD01E4017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2" t="-820" r="4620" b="-9531"/>
          <a:stretch>
            <a:fillRect/>
          </a:stretch>
        </p:blipFill>
        <p:spPr bwMode="auto">
          <a:xfrm>
            <a:off x="10242768" y="3996787"/>
            <a:ext cx="596890" cy="454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Servicenow - CCMA">
            <a:extLst>
              <a:ext uri="{FF2B5EF4-FFF2-40B4-BE49-F238E27FC236}">
                <a16:creationId xmlns:a16="http://schemas.microsoft.com/office/drawing/2014/main" id="{141D92A6-637C-9D40-3738-38683830D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t="-1842" r="5731" b="13158"/>
          <a:stretch>
            <a:fillRect/>
          </a:stretch>
        </p:blipFill>
        <p:spPr bwMode="auto">
          <a:xfrm>
            <a:off x="10196851" y="4607238"/>
            <a:ext cx="1279226" cy="34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9DA3A73F-24E1-1114-A000-7373F896252F}"/>
              </a:ext>
            </a:extLst>
          </p:cNvPr>
          <p:cNvSpPr txBox="1"/>
          <p:nvPr/>
        </p:nvSpPr>
        <p:spPr>
          <a:xfrm>
            <a:off x="10772883" y="4042960"/>
            <a:ext cx="1106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noProof="0" dirty="0"/>
              <a:t>(mail)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2CC2607-1C6F-F50E-7D26-ECF544879601}"/>
              </a:ext>
            </a:extLst>
          </p:cNvPr>
          <p:cNvSpPr txBox="1"/>
          <p:nvPr/>
        </p:nvSpPr>
        <p:spPr>
          <a:xfrm>
            <a:off x="11473809" y="4674635"/>
            <a:ext cx="1106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noProof="0" dirty="0"/>
              <a:t>(ticket)</a:t>
            </a:r>
          </a:p>
        </p:txBody>
      </p:sp>
      <p:cxnSp>
        <p:nvCxnSpPr>
          <p:cNvPr id="40" name="Conector recto de flecha 16">
            <a:extLst>
              <a:ext uri="{FF2B5EF4-FFF2-40B4-BE49-F238E27FC236}">
                <a16:creationId xmlns:a16="http://schemas.microsoft.com/office/drawing/2014/main" id="{E5D73729-849F-1EEE-BA4B-5826AE4CDFE8}"/>
              </a:ext>
            </a:extLst>
          </p:cNvPr>
          <p:cNvCxnSpPr>
            <a:cxnSpLocks/>
          </p:cNvCxnSpPr>
          <p:nvPr/>
        </p:nvCxnSpPr>
        <p:spPr>
          <a:xfrm flipV="1">
            <a:off x="9384966" y="4253867"/>
            <a:ext cx="845809" cy="141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ctor recto de flecha 16">
            <a:extLst>
              <a:ext uri="{FF2B5EF4-FFF2-40B4-BE49-F238E27FC236}">
                <a16:creationId xmlns:a16="http://schemas.microsoft.com/office/drawing/2014/main" id="{9CA84469-422E-87F2-2CB2-C462D0606C3D}"/>
              </a:ext>
            </a:extLst>
          </p:cNvPr>
          <p:cNvCxnSpPr>
            <a:cxnSpLocks/>
          </p:cNvCxnSpPr>
          <p:nvPr/>
        </p:nvCxnSpPr>
        <p:spPr>
          <a:xfrm>
            <a:off x="9384966" y="4395034"/>
            <a:ext cx="811885" cy="38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2B7A86D-5880-F30E-3E55-D3B5FB5FE74D}"/>
              </a:ext>
            </a:extLst>
          </p:cNvPr>
          <p:cNvSpPr txBox="1"/>
          <p:nvPr/>
        </p:nvSpPr>
        <p:spPr>
          <a:xfrm>
            <a:off x="6850901" y="353045"/>
            <a:ext cx="4824000" cy="1872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ES" sz="1200" b="1" noProof="0" dirty="0"/>
              <a:t>Suscripción de función maestra </a:t>
            </a:r>
            <a:r>
              <a:rPr lang="es-ES" sz="1200" noProof="0" dirty="0"/>
              <a:t>de Azure Functions a un tópico del Eventhub.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ES" sz="1200" noProof="0" dirty="0"/>
              <a:t>La función maestra </a:t>
            </a:r>
            <a:r>
              <a:rPr lang="es-ES" sz="1200" b="1" noProof="0" dirty="0"/>
              <a:t>invoca una función </a:t>
            </a:r>
            <a:r>
              <a:rPr lang="es-ES" sz="1200" noProof="0" dirty="0"/>
              <a:t>esclava de Azure Functions </a:t>
            </a:r>
            <a:r>
              <a:rPr lang="es-ES" sz="1200" b="1" noProof="0" dirty="0"/>
              <a:t>en base al evento identificado</a:t>
            </a:r>
            <a:r>
              <a:rPr lang="es-ES" sz="1200" noProof="0" dirty="0"/>
              <a:t>. 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ES" sz="1200" noProof="0" dirty="0"/>
              <a:t>Las funciones esclavas interactúan con Cosmos/DEVO o levantan un clúster de Databricks.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ES" sz="1200" noProof="0" dirty="0"/>
              <a:t>Las funciones esclavas pueden realizar acciones sobre BBDD, activar Databricks o enviar correos / abrir tickets.</a:t>
            </a:r>
          </a:p>
        </p:txBody>
      </p:sp>
      <p:cxnSp>
        <p:nvCxnSpPr>
          <p:cNvPr id="45" name="Straight Arrow Connector 29">
            <a:extLst>
              <a:ext uri="{FF2B5EF4-FFF2-40B4-BE49-F238E27FC236}">
                <a16:creationId xmlns:a16="http://schemas.microsoft.com/office/drawing/2014/main" id="{128E7CD0-E22F-1A4C-B8C5-C979C2327BD7}"/>
              </a:ext>
            </a:extLst>
          </p:cNvPr>
          <p:cNvCxnSpPr>
            <a:cxnSpLocks/>
          </p:cNvCxnSpPr>
          <p:nvPr/>
        </p:nvCxnSpPr>
        <p:spPr>
          <a:xfrm>
            <a:off x="6171813" y="3058036"/>
            <a:ext cx="0" cy="826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6" name="Imagen 45" descr="Descarga iconos gratuitos de Periodo tiempo en PNG y SVG">
            <a:extLst>
              <a:ext uri="{FF2B5EF4-FFF2-40B4-BE49-F238E27FC236}">
                <a16:creationId xmlns:a16="http://schemas.microsoft.com/office/drawing/2014/main" id="{EF427BFF-2DAC-B1CE-4E60-D25CBD66FBB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9967" y="3266395"/>
            <a:ext cx="542925" cy="542925"/>
          </a:xfrm>
          <a:prstGeom prst="rect">
            <a:avLst/>
          </a:prstGeom>
        </p:spPr>
      </p:pic>
      <p:pic>
        <p:nvPicPr>
          <p:cNvPr id="25" name="Gráfico 24" descr="Understand the guidelines for using MinIO's marks - MinIO">
            <a:extLst>
              <a:ext uri="{FF2B5EF4-FFF2-40B4-BE49-F238E27FC236}">
                <a16:creationId xmlns:a16="http://schemas.microsoft.com/office/drawing/2014/main" id="{8F615EE4-7B5E-1129-73A0-C9628E0B9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73519" y="2559218"/>
            <a:ext cx="1300842" cy="28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7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02FC0E1-95FD-557A-55D6-BA59F97DC949}"/>
              </a:ext>
            </a:extLst>
          </p:cNvPr>
          <p:cNvSpPr/>
          <p:nvPr/>
        </p:nvSpPr>
        <p:spPr>
          <a:xfrm>
            <a:off x="3895419" y="4979177"/>
            <a:ext cx="2322272" cy="7611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0A21DB-6D38-E70D-FA4D-EAB63C09EF60}"/>
              </a:ext>
            </a:extLst>
          </p:cNvPr>
          <p:cNvSpPr/>
          <p:nvPr/>
        </p:nvSpPr>
        <p:spPr>
          <a:xfrm>
            <a:off x="3895964" y="3032296"/>
            <a:ext cx="2322272" cy="18611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B089C20-2F72-223D-6E86-CE5DBE011A8C}"/>
              </a:ext>
            </a:extLst>
          </p:cNvPr>
          <p:cNvSpPr/>
          <p:nvPr/>
        </p:nvSpPr>
        <p:spPr>
          <a:xfrm>
            <a:off x="3895964" y="1531171"/>
            <a:ext cx="2322272" cy="13676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FE1A3E-7741-2BE0-B46D-42B6DD04D0BF}"/>
              </a:ext>
            </a:extLst>
          </p:cNvPr>
          <p:cNvSpPr txBox="1">
            <a:spLocks/>
          </p:cNvSpPr>
          <p:nvPr/>
        </p:nvSpPr>
        <p:spPr>
          <a:xfrm>
            <a:off x="711024" y="337100"/>
            <a:ext cx="10758734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/>
              <a:t>Modelo de la solución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Estructura de Azure Functions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A8CFC7F-3F58-DB76-8B14-DFFE72ACC5B0}"/>
              </a:ext>
            </a:extLst>
          </p:cNvPr>
          <p:cNvSpPr/>
          <p:nvPr/>
        </p:nvSpPr>
        <p:spPr>
          <a:xfrm>
            <a:off x="8252732" y="641900"/>
            <a:ext cx="1388364" cy="647021"/>
          </a:xfrm>
          <a:prstGeom prst="rect">
            <a:avLst/>
          </a:prstGeom>
          <a:solidFill>
            <a:schemeClr val="bg1"/>
          </a:solidFill>
          <a:ln>
            <a:solidFill>
              <a:srgbClr val="070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noProof="0" dirty="0">
                <a:solidFill>
                  <a:schemeClr val="tx1"/>
                </a:solidFill>
              </a:rPr>
              <a:t>DataHub Loading process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B6392ED-9D9C-1F11-9C13-3BE761811815}"/>
              </a:ext>
            </a:extLst>
          </p:cNvPr>
          <p:cNvCxnSpPr>
            <a:cxnSpLocks/>
          </p:cNvCxnSpPr>
          <p:nvPr/>
        </p:nvCxnSpPr>
        <p:spPr>
          <a:xfrm>
            <a:off x="8946914" y="1288921"/>
            <a:ext cx="0" cy="618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Diagrama de flujo: almacenamiento de acceso directo 8">
            <a:extLst>
              <a:ext uri="{FF2B5EF4-FFF2-40B4-BE49-F238E27FC236}">
                <a16:creationId xmlns:a16="http://schemas.microsoft.com/office/drawing/2014/main" id="{564464C1-7AB0-6F48-8329-24661A7A8430}"/>
              </a:ext>
            </a:extLst>
          </p:cNvPr>
          <p:cNvSpPr/>
          <p:nvPr/>
        </p:nvSpPr>
        <p:spPr>
          <a:xfrm>
            <a:off x="7952255" y="1907617"/>
            <a:ext cx="2127379" cy="647020"/>
          </a:xfrm>
          <a:prstGeom prst="flowChartMagneticDru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noProof="0" dirty="0">
                <a:solidFill>
                  <a:schemeClr val="tx1"/>
                </a:solidFill>
              </a:rPr>
              <a:t>Eventhub (Topic)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E41D208-A5C2-0099-F744-25770EED5B27}"/>
              </a:ext>
            </a:extLst>
          </p:cNvPr>
          <p:cNvCxnSpPr>
            <a:cxnSpLocks/>
          </p:cNvCxnSpPr>
          <p:nvPr/>
        </p:nvCxnSpPr>
        <p:spPr>
          <a:xfrm flipV="1">
            <a:off x="8946914" y="2554637"/>
            <a:ext cx="0" cy="874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0203A1-C224-F853-3178-AFD22711280F}"/>
              </a:ext>
            </a:extLst>
          </p:cNvPr>
          <p:cNvSpPr txBox="1"/>
          <p:nvPr/>
        </p:nvSpPr>
        <p:spPr>
          <a:xfrm>
            <a:off x="8946914" y="2888332"/>
            <a:ext cx="110662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noProof="0" dirty="0"/>
              <a:t>Subscription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1152399F-BC63-7AA5-7DDA-18656C2BB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03" y="2006163"/>
            <a:ext cx="1113725" cy="447936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0EB1765F-CB37-5ABA-C759-A9EA446D97A1}"/>
              </a:ext>
            </a:extLst>
          </p:cNvPr>
          <p:cNvSpPr/>
          <p:nvPr/>
        </p:nvSpPr>
        <p:spPr>
          <a:xfrm>
            <a:off x="7392434" y="3445068"/>
            <a:ext cx="3108959" cy="647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13622A-EF18-AB9F-DD86-05D4F6A9FCCF}"/>
              </a:ext>
            </a:extLst>
          </p:cNvPr>
          <p:cNvSpPr txBox="1"/>
          <p:nvPr/>
        </p:nvSpPr>
        <p:spPr>
          <a:xfrm>
            <a:off x="7582071" y="3612119"/>
            <a:ext cx="328796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noProof="0" dirty="0"/>
              <a:t>Componente Azure Functions Blob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05E6804-BB72-9146-C945-F6EBC544595F}"/>
              </a:ext>
            </a:extLst>
          </p:cNvPr>
          <p:cNvCxnSpPr>
            <a:cxnSpLocks/>
          </p:cNvCxnSpPr>
          <p:nvPr/>
        </p:nvCxnSpPr>
        <p:spPr>
          <a:xfrm>
            <a:off x="10501393" y="3809882"/>
            <a:ext cx="1231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362545E-2935-758E-C43C-E917E7C3243E}"/>
              </a:ext>
            </a:extLst>
          </p:cNvPr>
          <p:cNvSpPr txBox="1"/>
          <p:nvPr/>
        </p:nvSpPr>
        <p:spPr>
          <a:xfrm>
            <a:off x="10758068" y="3297134"/>
            <a:ext cx="110662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noProof="0" dirty="0"/>
              <a:t>Repositorio Blob</a:t>
            </a:r>
          </a:p>
        </p:txBody>
      </p:sp>
      <p:pic>
        <p:nvPicPr>
          <p:cNvPr id="17" name="Picture 2" descr="Functions | Microsoft Azure Color">
            <a:extLst>
              <a:ext uri="{FF2B5EF4-FFF2-40B4-BE49-F238E27FC236}">
                <a16:creationId xmlns:a16="http://schemas.microsoft.com/office/drawing/2014/main" id="{F95E08B6-E8AB-9BC6-B6B6-8DB0BDD94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353" y="5039916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Functions | Microsoft Azure Color">
            <a:extLst>
              <a:ext uri="{FF2B5EF4-FFF2-40B4-BE49-F238E27FC236}">
                <a16:creationId xmlns:a16="http://schemas.microsoft.com/office/drawing/2014/main" id="{86BF5C6C-9338-3A80-17D9-B9FACA9A5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3863" y="5039916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C2737CC-C203-CF90-0D48-0E949AF28500}"/>
              </a:ext>
            </a:extLst>
          </p:cNvPr>
          <p:cNvCxnSpPr>
            <a:cxnSpLocks/>
          </p:cNvCxnSpPr>
          <p:nvPr/>
        </p:nvCxnSpPr>
        <p:spPr>
          <a:xfrm>
            <a:off x="8116334" y="4092088"/>
            <a:ext cx="9705" cy="887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878FCF2-5F2E-E52B-F89A-388243AEE74D}"/>
              </a:ext>
            </a:extLst>
          </p:cNvPr>
          <p:cNvSpPr txBox="1"/>
          <p:nvPr/>
        </p:nvSpPr>
        <p:spPr>
          <a:xfrm>
            <a:off x="6878491" y="4304392"/>
            <a:ext cx="149869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Evento</a:t>
            </a:r>
            <a:r>
              <a:rPr lang="es-ES" sz="1400" noProof="0" dirty="0"/>
              <a:t>: Llegan ficheros a DH</a:t>
            </a:r>
            <a:endParaRPr lang="es-ES" sz="1400" b="1" noProof="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C00CF25-5247-1942-E9E0-5DE6203E03D6}"/>
              </a:ext>
            </a:extLst>
          </p:cNvPr>
          <p:cNvSpPr txBox="1"/>
          <p:nvPr/>
        </p:nvSpPr>
        <p:spPr>
          <a:xfrm>
            <a:off x="9883173" y="4304392"/>
            <a:ext cx="149869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Evento</a:t>
            </a:r>
            <a:r>
              <a:rPr lang="es-ES" sz="1400" noProof="0" dirty="0"/>
              <a:t>: Llegan ficheros a TM</a:t>
            </a:r>
            <a:endParaRPr lang="es-ES" sz="1400" b="1" noProof="0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212FF7A-7F81-286E-EC76-390AF8F6BFEC}"/>
              </a:ext>
            </a:extLst>
          </p:cNvPr>
          <p:cNvCxnSpPr>
            <a:cxnSpLocks/>
          </p:cNvCxnSpPr>
          <p:nvPr/>
        </p:nvCxnSpPr>
        <p:spPr>
          <a:xfrm>
            <a:off x="9865780" y="4086540"/>
            <a:ext cx="9705" cy="887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72DA4B7-2476-4EFA-34BF-C31487AB02E6}"/>
              </a:ext>
            </a:extLst>
          </p:cNvPr>
          <p:cNvSpPr/>
          <p:nvPr/>
        </p:nvSpPr>
        <p:spPr>
          <a:xfrm>
            <a:off x="1674743" y="755373"/>
            <a:ext cx="3108959" cy="647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pic>
        <p:nvPicPr>
          <p:cNvPr id="24" name="Picture 8">
            <a:extLst>
              <a:ext uri="{FF2B5EF4-FFF2-40B4-BE49-F238E27FC236}">
                <a16:creationId xmlns:a16="http://schemas.microsoft.com/office/drawing/2014/main" id="{4C24CEFA-AD09-259B-3F6B-41311EA00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427" y="915371"/>
            <a:ext cx="447737" cy="409632"/>
          </a:xfrm>
          <a:prstGeom prst="rect">
            <a:avLst/>
          </a:prstGeom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DEE4CFE-1C8B-5B3B-6C28-0865D9709D8A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4783702" y="1120187"/>
            <a:ext cx="1231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EA3A645-18C6-E082-DB9B-BCE2689B59B8}"/>
              </a:ext>
            </a:extLst>
          </p:cNvPr>
          <p:cNvSpPr txBox="1"/>
          <p:nvPr/>
        </p:nvSpPr>
        <p:spPr>
          <a:xfrm>
            <a:off x="5040377" y="607439"/>
            <a:ext cx="110662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noProof="0" dirty="0"/>
              <a:t>Repositorio Durable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905A04C-9899-11F1-583D-7CA550095DD5}"/>
              </a:ext>
            </a:extLst>
          </p:cNvPr>
          <p:cNvSpPr txBox="1"/>
          <p:nvPr/>
        </p:nvSpPr>
        <p:spPr>
          <a:xfrm>
            <a:off x="1769094" y="913072"/>
            <a:ext cx="328796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noProof="0" dirty="0"/>
              <a:t>Componente Azure Functions Durable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E35E0D3-DE4B-017C-80A1-5CC13948C46B}"/>
              </a:ext>
            </a:extLst>
          </p:cNvPr>
          <p:cNvSpPr txBox="1"/>
          <p:nvPr/>
        </p:nvSpPr>
        <p:spPr>
          <a:xfrm>
            <a:off x="9166256" y="5586703"/>
            <a:ext cx="15918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BAU-8</a:t>
            </a:r>
            <a:endParaRPr lang="es-ES" sz="1400" b="1" noProof="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1F172F4-57CF-D575-CC0C-21AB51FE6CC5}"/>
              </a:ext>
            </a:extLst>
          </p:cNvPr>
          <p:cNvSpPr txBox="1"/>
          <p:nvPr/>
        </p:nvSpPr>
        <p:spPr>
          <a:xfrm>
            <a:off x="7255096" y="5586702"/>
            <a:ext cx="1494324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BAU-1 -&gt; BAU-2, BAU-3, BAU-4</a:t>
            </a:r>
            <a:endParaRPr lang="es-ES" sz="1400" b="1" noProof="0" dirty="0"/>
          </a:p>
        </p:txBody>
      </p:sp>
      <p:pic>
        <p:nvPicPr>
          <p:cNvPr id="30" name="Imagen 29" descr="Descarga iconos gratuitos de Periodo tiempo en PNG y SVG">
            <a:extLst>
              <a:ext uri="{FF2B5EF4-FFF2-40B4-BE49-F238E27FC236}">
                <a16:creationId xmlns:a16="http://schemas.microsoft.com/office/drawing/2014/main" id="{B0A58E35-A5B9-F0CC-8E9B-37F762B77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78" y="1989094"/>
            <a:ext cx="542925" cy="542925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8E636BA6-157E-8FFA-F0BC-491BA8D96025}"/>
              </a:ext>
            </a:extLst>
          </p:cNvPr>
          <p:cNvSpPr txBox="1"/>
          <p:nvPr/>
        </p:nvSpPr>
        <p:spPr>
          <a:xfrm>
            <a:off x="1215803" y="1948767"/>
            <a:ext cx="162800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Evento</a:t>
            </a:r>
            <a:r>
              <a:rPr lang="es-ES" sz="1400" noProof="0" dirty="0"/>
              <a:t>: Lunes a Sábado (01:00 AM)</a:t>
            </a:r>
            <a:endParaRPr lang="es-ES" sz="1400" b="1" noProof="0" dirty="0"/>
          </a:p>
        </p:txBody>
      </p:sp>
      <p:pic>
        <p:nvPicPr>
          <p:cNvPr id="32" name="Picture 2" descr="Functions | Microsoft Azure Color">
            <a:extLst>
              <a:ext uri="{FF2B5EF4-FFF2-40B4-BE49-F238E27FC236}">
                <a16:creationId xmlns:a16="http://schemas.microsoft.com/office/drawing/2014/main" id="{905DFD7F-D207-5C5C-B0FA-7D8D83241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591" y="1645444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Functions | Microsoft Azure Color">
            <a:extLst>
              <a:ext uri="{FF2B5EF4-FFF2-40B4-BE49-F238E27FC236}">
                <a16:creationId xmlns:a16="http://schemas.microsoft.com/office/drawing/2014/main" id="{C507ABBC-1888-8BF2-6E3E-25ED8BB9E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610" y="2264914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F818DF40-2FC1-F7C5-03F2-0450F8250272}"/>
              </a:ext>
            </a:extLst>
          </p:cNvPr>
          <p:cNvCxnSpPr>
            <a:cxnSpLocks/>
          </p:cNvCxnSpPr>
          <p:nvPr/>
        </p:nvCxnSpPr>
        <p:spPr>
          <a:xfrm>
            <a:off x="2857661" y="2230981"/>
            <a:ext cx="912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Imagen 34" descr="Descarga iconos gratuitos de Periodo tiempo en PNG y SVG">
            <a:extLst>
              <a:ext uri="{FF2B5EF4-FFF2-40B4-BE49-F238E27FC236}">
                <a16:creationId xmlns:a16="http://schemas.microsoft.com/office/drawing/2014/main" id="{4C916B96-B62F-2EA3-933C-C3550AFC1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78" y="3584342"/>
            <a:ext cx="542925" cy="542925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390B1618-DB39-38DB-97AB-473DE14539D4}"/>
              </a:ext>
            </a:extLst>
          </p:cNvPr>
          <p:cNvSpPr txBox="1"/>
          <p:nvPr/>
        </p:nvSpPr>
        <p:spPr>
          <a:xfrm>
            <a:off x="1215803" y="3544015"/>
            <a:ext cx="162800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Evento</a:t>
            </a:r>
            <a:r>
              <a:rPr lang="es-ES" sz="1400" noProof="0" dirty="0"/>
              <a:t>: @Daily (23:00 PM)</a:t>
            </a:r>
            <a:endParaRPr lang="es-ES" sz="1400" b="1" noProof="0" dirty="0"/>
          </a:p>
        </p:txBody>
      </p:sp>
      <p:pic>
        <p:nvPicPr>
          <p:cNvPr id="37" name="Picture 2" descr="Functions | Microsoft Azure Color">
            <a:extLst>
              <a:ext uri="{FF2B5EF4-FFF2-40B4-BE49-F238E27FC236}">
                <a16:creationId xmlns:a16="http://schemas.microsoft.com/office/drawing/2014/main" id="{8D206F03-1912-1D31-29A3-09D18609B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336" y="3110244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Functions | Microsoft Azure Color">
            <a:extLst>
              <a:ext uri="{FF2B5EF4-FFF2-40B4-BE49-F238E27FC236}">
                <a16:creationId xmlns:a16="http://schemas.microsoft.com/office/drawing/2014/main" id="{A9B8F3EC-FB95-29D5-6C38-E3736BBF7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918" y="3699875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617E0DF3-B8F9-1ECE-F543-11EA7F941430}"/>
              </a:ext>
            </a:extLst>
          </p:cNvPr>
          <p:cNvCxnSpPr>
            <a:cxnSpLocks/>
          </p:cNvCxnSpPr>
          <p:nvPr/>
        </p:nvCxnSpPr>
        <p:spPr>
          <a:xfrm>
            <a:off x="2833819" y="3809882"/>
            <a:ext cx="912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Imagen 39" descr="Descarga iconos gratuitos de Periodo tiempo en PNG y SVG">
            <a:extLst>
              <a:ext uri="{FF2B5EF4-FFF2-40B4-BE49-F238E27FC236}">
                <a16:creationId xmlns:a16="http://schemas.microsoft.com/office/drawing/2014/main" id="{F99EDC10-A73A-83F0-15F1-547873CA3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78" y="5027625"/>
            <a:ext cx="542925" cy="5429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14F584B-6C00-127E-D665-556D8E061C73}"/>
              </a:ext>
            </a:extLst>
          </p:cNvPr>
          <p:cNvSpPr txBox="1"/>
          <p:nvPr/>
        </p:nvSpPr>
        <p:spPr>
          <a:xfrm>
            <a:off x="1215803" y="4987298"/>
            <a:ext cx="162800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Evento</a:t>
            </a:r>
            <a:r>
              <a:rPr lang="es-ES" sz="1400" noProof="0" dirty="0"/>
              <a:t>: Jueves (23:00 PM)</a:t>
            </a:r>
            <a:endParaRPr lang="es-ES" sz="1400" b="1" noProof="0" dirty="0"/>
          </a:p>
        </p:txBody>
      </p:sp>
      <p:pic>
        <p:nvPicPr>
          <p:cNvPr id="42" name="Picture 2" descr="Functions | Microsoft Azure Color">
            <a:extLst>
              <a:ext uri="{FF2B5EF4-FFF2-40B4-BE49-F238E27FC236}">
                <a16:creationId xmlns:a16="http://schemas.microsoft.com/office/drawing/2014/main" id="{017C4D6B-C842-FF8F-7688-B3AF01F36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733" y="5106932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A4FAB0D2-F57C-E89A-B4FD-D84CD3D1C243}"/>
              </a:ext>
            </a:extLst>
          </p:cNvPr>
          <p:cNvCxnSpPr>
            <a:cxnSpLocks/>
          </p:cNvCxnSpPr>
          <p:nvPr/>
        </p:nvCxnSpPr>
        <p:spPr>
          <a:xfrm>
            <a:off x="2758439" y="5268687"/>
            <a:ext cx="912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ED573F3-E604-07DA-96E4-B5F88EF0E112}"/>
              </a:ext>
            </a:extLst>
          </p:cNvPr>
          <p:cNvSpPr txBox="1"/>
          <p:nvPr/>
        </p:nvSpPr>
        <p:spPr>
          <a:xfrm>
            <a:off x="4613492" y="1755858"/>
            <a:ext cx="15918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BAU-18</a:t>
            </a:r>
            <a:endParaRPr lang="es-ES" sz="1400" b="1" noProof="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884AF8B0-4926-B286-6579-B4B0260AC097}"/>
              </a:ext>
            </a:extLst>
          </p:cNvPr>
          <p:cNvSpPr txBox="1"/>
          <p:nvPr/>
        </p:nvSpPr>
        <p:spPr>
          <a:xfrm>
            <a:off x="4626425" y="2397585"/>
            <a:ext cx="15918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BAU-19</a:t>
            </a:r>
            <a:endParaRPr lang="es-ES" sz="1400" b="1" noProof="0" dirty="0"/>
          </a:p>
        </p:txBody>
      </p:sp>
      <p:pic>
        <p:nvPicPr>
          <p:cNvPr id="46" name="Picture 2" descr="Functions | Microsoft Azure Color">
            <a:extLst>
              <a:ext uri="{FF2B5EF4-FFF2-40B4-BE49-F238E27FC236}">
                <a16:creationId xmlns:a16="http://schemas.microsoft.com/office/drawing/2014/main" id="{39315269-D465-CD4F-03C5-07C9CE6D6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627" y="4292678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3BA3E80B-0F69-1F31-9BFF-AFAC9488795D}"/>
              </a:ext>
            </a:extLst>
          </p:cNvPr>
          <p:cNvSpPr txBox="1"/>
          <p:nvPr/>
        </p:nvSpPr>
        <p:spPr>
          <a:xfrm>
            <a:off x="4695588" y="3275111"/>
            <a:ext cx="15918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BAU-5</a:t>
            </a:r>
            <a:endParaRPr lang="es-ES" sz="1400" b="1" noProof="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6BF0D38-42A1-E0D4-8E76-618AAB0D2D33}"/>
              </a:ext>
            </a:extLst>
          </p:cNvPr>
          <p:cNvSpPr txBox="1"/>
          <p:nvPr/>
        </p:nvSpPr>
        <p:spPr>
          <a:xfrm>
            <a:off x="4680098" y="3856506"/>
            <a:ext cx="15918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BAU-6</a:t>
            </a:r>
            <a:endParaRPr lang="es-ES" sz="1400" b="1" noProof="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5704396-9935-9380-AE0C-076739911DB7}"/>
              </a:ext>
            </a:extLst>
          </p:cNvPr>
          <p:cNvSpPr txBox="1"/>
          <p:nvPr/>
        </p:nvSpPr>
        <p:spPr>
          <a:xfrm>
            <a:off x="4680098" y="4434447"/>
            <a:ext cx="15918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BAU-7</a:t>
            </a:r>
            <a:endParaRPr lang="es-ES" sz="1400" b="1" noProof="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8C821F6-FBCC-7FA6-2B35-78C0DE27C074}"/>
              </a:ext>
            </a:extLst>
          </p:cNvPr>
          <p:cNvSpPr txBox="1"/>
          <p:nvPr/>
        </p:nvSpPr>
        <p:spPr>
          <a:xfrm>
            <a:off x="4625881" y="5222715"/>
            <a:ext cx="15918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BAU-20</a:t>
            </a:r>
            <a:endParaRPr lang="es-ES" sz="1400" b="1" noProof="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C45DB41-2E98-C3C2-C85B-36639DA7E4E4}"/>
              </a:ext>
            </a:extLst>
          </p:cNvPr>
          <p:cNvSpPr txBox="1"/>
          <p:nvPr/>
        </p:nvSpPr>
        <p:spPr>
          <a:xfrm>
            <a:off x="3214914" y="5907841"/>
            <a:ext cx="13712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Evento</a:t>
            </a:r>
            <a:r>
              <a:rPr lang="es-ES" sz="1400" noProof="0" dirty="0"/>
              <a:t>: Cuadre DH-TM</a:t>
            </a:r>
            <a:endParaRPr lang="es-ES" sz="1400" b="1" noProof="0" dirty="0"/>
          </a:p>
        </p:txBody>
      </p:sp>
      <p:pic>
        <p:nvPicPr>
          <p:cNvPr id="52" name="Picture 2" descr="Functions | Microsoft Azure Color">
            <a:extLst>
              <a:ext uri="{FF2B5EF4-FFF2-40B4-BE49-F238E27FC236}">
                <a16:creationId xmlns:a16="http://schemas.microsoft.com/office/drawing/2014/main" id="{9A360DA0-5FFF-162A-A149-23A482401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450" y="5897930"/>
            <a:ext cx="663834" cy="59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E3B07E64-BD8C-18E4-CB69-C290FAAC1597}"/>
              </a:ext>
            </a:extLst>
          </p:cNvPr>
          <p:cNvCxnSpPr>
            <a:cxnSpLocks/>
          </p:cNvCxnSpPr>
          <p:nvPr/>
        </p:nvCxnSpPr>
        <p:spPr>
          <a:xfrm>
            <a:off x="4487901" y="6169451"/>
            <a:ext cx="4639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33E84CC-355E-B69C-C1E7-A501A5FC3024}"/>
              </a:ext>
            </a:extLst>
          </p:cNvPr>
          <p:cNvSpPr txBox="1"/>
          <p:nvPr/>
        </p:nvSpPr>
        <p:spPr>
          <a:xfrm>
            <a:off x="5652860" y="5944712"/>
            <a:ext cx="937296" cy="5401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noProof="0" dirty="0"/>
              <a:t>Función</a:t>
            </a:r>
            <a:r>
              <a:rPr lang="es-ES" sz="1400" noProof="0" dirty="0"/>
              <a:t>: BAU-12</a:t>
            </a:r>
            <a:endParaRPr lang="es-ES" sz="1400" b="1" noProof="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7181FC3-6715-EFE6-9B66-7D88B69B6A94}"/>
              </a:ext>
            </a:extLst>
          </p:cNvPr>
          <p:cNvSpPr txBox="1"/>
          <p:nvPr/>
        </p:nvSpPr>
        <p:spPr>
          <a:xfrm>
            <a:off x="9949638" y="638760"/>
            <a:ext cx="14673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noProof="0" dirty="0">
                <a:highlight>
                  <a:srgbClr val="FFFF00"/>
                </a:highlight>
              </a:rPr>
              <a:t>AFA BLOB</a:t>
            </a:r>
          </a:p>
        </p:txBody>
      </p: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277E45C0-4A12-DA69-70A6-13D5FC32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33</a:t>
            </a:fld>
            <a:endParaRPr lang="es-ES" noProof="0" dirty="0">
              <a:solidFill>
                <a:srgbClr val="E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21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3DA08-58A8-AE0C-9755-CAECD1E62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A0A0DC4-C461-DFB6-6157-3DCA9D096654}"/>
              </a:ext>
            </a:extLst>
          </p:cNvPr>
          <p:cNvSpPr/>
          <p:nvPr/>
        </p:nvSpPr>
        <p:spPr>
          <a:xfrm>
            <a:off x="8833299" y="1859225"/>
            <a:ext cx="972399" cy="9110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TM</a:t>
            </a:r>
          </a:p>
        </p:txBody>
      </p:sp>
      <p:sp>
        <p:nvSpPr>
          <p:cNvPr id="3" name="Cilindro 2">
            <a:extLst>
              <a:ext uri="{FF2B5EF4-FFF2-40B4-BE49-F238E27FC236}">
                <a16:creationId xmlns:a16="http://schemas.microsoft.com/office/drawing/2014/main" id="{BFAB532F-3FBB-3232-D42D-DD2987037E07}"/>
              </a:ext>
            </a:extLst>
          </p:cNvPr>
          <p:cNvSpPr/>
          <p:nvPr/>
        </p:nvSpPr>
        <p:spPr>
          <a:xfrm>
            <a:off x="2957386" y="4243610"/>
            <a:ext cx="1246628" cy="1137895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368EC6-9D45-50BF-AE66-A8D132532414}"/>
              </a:ext>
            </a:extLst>
          </p:cNvPr>
          <p:cNvSpPr/>
          <p:nvPr/>
        </p:nvSpPr>
        <p:spPr>
          <a:xfrm>
            <a:off x="4168849" y="1932630"/>
            <a:ext cx="1672372" cy="16504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F420ED-41F2-FC13-9D85-3DD3C391F89F}"/>
              </a:ext>
            </a:extLst>
          </p:cNvPr>
          <p:cNvSpPr/>
          <p:nvPr/>
        </p:nvSpPr>
        <p:spPr>
          <a:xfrm>
            <a:off x="1979754" y="1932630"/>
            <a:ext cx="1785321" cy="2038224"/>
          </a:xfrm>
          <a:prstGeom prst="rect">
            <a:avLst/>
          </a:prstGeom>
          <a:solidFill>
            <a:schemeClr val="bg1"/>
          </a:solidFill>
          <a:ln>
            <a:solidFill>
              <a:srgbClr val="070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1400" noProof="0" dirty="0">
              <a:solidFill>
                <a:schemeClr val="tx1"/>
              </a:solidFill>
            </a:endParaRPr>
          </a:p>
        </p:txBody>
      </p:sp>
      <p:pic>
        <p:nvPicPr>
          <p:cNvPr id="6" name="Picture 25" descr="Devo APIs | API Tracker">
            <a:extLst>
              <a:ext uri="{FF2B5EF4-FFF2-40B4-BE49-F238E27FC236}">
                <a16:creationId xmlns:a16="http://schemas.microsoft.com/office/drawing/2014/main" id="{6969E544-74D4-13B3-2612-842F7FAD4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64"/>
          <a:stretch>
            <a:fillRect/>
          </a:stretch>
        </p:blipFill>
        <p:spPr>
          <a:xfrm>
            <a:off x="6741312" y="3706027"/>
            <a:ext cx="1246628" cy="1075166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A6370BC-C75A-3FE0-5D18-0A27AB72A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173" y="1433433"/>
            <a:ext cx="1124107" cy="381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2A9D7B-AB17-99F8-DDFB-50FF8994B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325" y="1975168"/>
            <a:ext cx="447737" cy="409632"/>
          </a:xfrm>
          <a:prstGeom prst="rect">
            <a:avLst/>
          </a:prstGeom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996349AC-8B6D-20D3-0F88-19BBA01C4904}"/>
              </a:ext>
            </a:extLst>
          </p:cNvPr>
          <p:cNvSpPr/>
          <p:nvPr/>
        </p:nvSpPr>
        <p:spPr>
          <a:xfrm>
            <a:off x="2179785" y="3005903"/>
            <a:ext cx="1294042" cy="683754"/>
          </a:xfrm>
          <a:prstGeom prst="rect">
            <a:avLst/>
          </a:prstGeom>
          <a:solidFill>
            <a:schemeClr val="bg1"/>
          </a:solidFill>
          <a:ln>
            <a:solidFill>
              <a:srgbClr val="070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1400" noProof="0" dirty="0">
              <a:solidFill>
                <a:schemeClr val="tx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638D477-35EC-F6FA-B741-6872C3B58A1B}"/>
              </a:ext>
            </a:extLst>
          </p:cNvPr>
          <p:cNvSpPr txBox="1"/>
          <p:nvPr/>
        </p:nvSpPr>
        <p:spPr>
          <a:xfrm>
            <a:off x="4762203" y="1494841"/>
            <a:ext cx="107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/>
              <a:t>ASP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C13849-6B2E-0C9C-72C8-F10301FFA1C0}"/>
              </a:ext>
            </a:extLst>
          </p:cNvPr>
          <p:cNvSpPr/>
          <p:nvPr/>
        </p:nvSpPr>
        <p:spPr>
          <a:xfrm>
            <a:off x="4496456" y="2661225"/>
            <a:ext cx="1079018" cy="6837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7E30E3B-80E2-04A1-7648-8FD307A7D9AB}"/>
              </a:ext>
            </a:extLst>
          </p:cNvPr>
          <p:cNvSpPr txBox="1"/>
          <p:nvPr/>
        </p:nvSpPr>
        <p:spPr>
          <a:xfrm>
            <a:off x="4762203" y="2327451"/>
            <a:ext cx="107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/>
              <a:t>AFA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F917080-8C0E-4DE7-435F-72650E0B70FD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3473827" y="3003102"/>
            <a:ext cx="1022629" cy="344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2" descr="Azure Functions: — What you need to know | by Raj Ranjan Sinha | Medium">
            <a:extLst>
              <a:ext uri="{FF2B5EF4-FFF2-40B4-BE49-F238E27FC236}">
                <a16:creationId xmlns:a16="http://schemas.microsoft.com/office/drawing/2014/main" id="{1175069B-E44E-3F00-B8E0-EFDE5D6D8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357" y="2747930"/>
            <a:ext cx="969388" cy="48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zure Functions: — What you need to know | by Raj Ranjan Sinha | Medium">
            <a:extLst>
              <a:ext uri="{FF2B5EF4-FFF2-40B4-BE49-F238E27FC236}">
                <a16:creationId xmlns:a16="http://schemas.microsoft.com/office/drawing/2014/main" id="{025BA257-795B-BAAF-76B9-742044000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111" y="3134385"/>
            <a:ext cx="969388" cy="48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E1EA9C3D-312D-C8E4-D946-4D3F8E8CB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451" y="4849120"/>
            <a:ext cx="1082497" cy="25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ilindro 17">
            <a:extLst>
              <a:ext uri="{FF2B5EF4-FFF2-40B4-BE49-F238E27FC236}">
                <a16:creationId xmlns:a16="http://schemas.microsoft.com/office/drawing/2014/main" id="{ACC403D8-E5D5-73C8-20BC-705BF1B7CA91}"/>
              </a:ext>
            </a:extLst>
          </p:cNvPr>
          <p:cNvSpPr/>
          <p:nvPr/>
        </p:nvSpPr>
        <p:spPr>
          <a:xfrm>
            <a:off x="4465054" y="4243610"/>
            <a:ext cx="1246628" cy="1137895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pic>
        <p:nvPicPr>
          <p:cNvPr id="19" name="Picture 28" descr="Azure Cosmos DB Driver Comparison">
            <a:extLst>
              <a:ext uri="{FF2B5EF4-FFF2-40B4-BE49-F238E27FC236}">
                <a16:creationId xmlns:a16="http://schemas.microsoft.com/office/drawing/2014/main" id="{243CC230-330A-5B03-3A32-60C7972D641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455" t="-833" r="6726" b="3333"/>
          <a:stretch>
            <a:fillRect/>
          </a:stretch>
        </p:blipFill>
        <p:spPr>
          <a:xfrm>
            <a:off x="4738140" y="4578388"/>
            <a:ext cx="767912" cy="743174"/>
          </a:xfrm>
          <a:prstGeom prst="rect">
            <a:avLst/>
          </a:prstGeom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68EE04E-8D6C-295E-8158-02AA7F98727C}"/>
              </a:ext>
            </a:extLst>
          </p:cNvPr>
          <p:cNvCxnSpPr>
            <a:cxnSpLocks/>
            <a:endCxn id="3" idx="1"/>
          </p:cNvCxnSpPr>
          <p:nvPr/>
        </p:nvCxnSpPr>
        <p:spPr>
          <a:xfrm flipH="1">
            <a:off x="3580700" y="3439674"/>
            <a:ext cx="1415162" cy="803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864C05C9-C80E-478A-615E-BA31FF70F280}"/>
              </a:ext>
            </a:extLst>
          </p:cNvPr>
          <p:cNvCxnSpPr>
            <a:cxnSpLocks/>
          </p:cNvCxnSpPr>
          <p:nvPr/>
        </p:nvCxnSpPr>
        <p:spPr>
          <a:xfrm>
            <a:off x="5233644" y="3439674"/>
            <a:ext cx="1519035" cy="818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Picture 4" descr="ServiceNow Reimagines CRM for the AI Era to Sell, Fulfill, and Service on  One Unified Platform Providing Exceptional End-to-End Experiences">
            <a:extLst>
              <a:ext uri="{FF2B5EF4-FFF2-40B4-BE49-F238E27FC236}">
                <a16:creationId xmlns:a16="http://schemas.microsoft.com/office/drawing/2014/main" id="{EBCB9807-6E21-20BB-E64E-F63B78F33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299" y="3073710"/>
            <a:ext cx="1607872" cy="80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9C6E7E0-1279-C22B-A4EA-CAC4459BB74A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 flipV="1">
            <a:off x="7987940" y="3475678"/>
            <a:ext cx="845359" cy="767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F6517A1-F625-02D2-BCD5-82EE3F2D95F3}"/>
              </a:ext>
            </a:extLst>
          </p:cNvPr>
          <p:cNvCxnSpPr>
            <a:cxnSpLocks/>
            <a:stCxn id="12" idx="3"/>
            <a:endCxn id="2" idx="1"/>
          </p:cNvCxnSpPr>
          <p:nvPr/>
        </p:nvCxnSpPr>
        <p:spPr>
          <a:xfrm flipV="1">
            <a:off x="5575474" y="2314733"/>
            <a:ext cx="3257825" cy="688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áfico 25" descr="Correo electrónico contorno">
            <a:extLst>
              <a:ext uri="{FF2B5EF4-FFF2-40B4-BE49-F238E27FC236}">
                <a16:creationId xmlns:a16="http://schemas.microsoft.com/office/drawing/2014/main" id="{765B43BF-9B3F-D64A-F8EC-5716D08F36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1345" y="2110758"/>
            <a:ext cx="433385" cy="433385"/>
          </a:xfrm>
          <a:prstGeom prst="rect">
            <a:avLst/>
          </a:prstGeom>
        </p:spPr>
      </p:pic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4CFAF10-1663-76FD-B580-3EDB3FAFC169}"/>
              </a:ext>
            </a:extLst>
          </p:cNvPr>
          <p:cNvSpPr txBox="1">
            <a:spLocks/>
          </p:cNvSpPr>
          <p:nvPr/>
        </p:nvSpPr>
        <p:spPr>
          <a:xfrm>
            <a:off x="711024" y="337100"/>
            <a:ext cx="10758734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/>
              <a:t>Modelo de la solución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Arquitectura</a:t>
            </a:r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B88AEA5E-74D2-D3C1-9B9F-3A0AE4D5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34</a:t>
            </a:fld>
            <a:endParaRPr lang="es-ES" noProof="0" dirty="0">
              <a:solidFill>
                <a:srgbClr val="EC0000"/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751E837-E47D-779C-D470-2E7F7718DBB7}"/>
              </a:ext>
            </a:extLst>
          </p:cNvPr>
          <p:cNvCxnSpPr>
            <a:cxnSpLocks/>
            <a:stCxn id="18" idx="1"/>
          </p:cNvCxnSpPr>
          <p:nvPr/>
        </p:nvCxnSpPr>
        <p:spPr>
          <a:xfrm flipV="1">
            <a:off x="5088368" y="3439674"/>
            <a:ext cx="0" cy="803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8207890-13F2-5FED-9796-383A836C7B9E}"/>
              </a:ext>
            </a:extLst>
          </p:cNvPr>
          <p:cNvSpPr txBox="1"/>
          <p:nvPr/>
        </p:nvSpPr>
        <p:spPr>
          <a:xfrm>
            <a:off x="6434575" y="1125509"/>
            <a:ext cx="107901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b="1" noProof="0" dirty="0"/>
              <a:t>AKV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8C51AF0-9275-9C7C-988A-D1F19F41A95A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494745" y="1302382"/>
            <a:ext cx="939830" cy="1687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0CEF930-F551-F913-D081-C39D037FE7DF}"/>
              </a:ext>
            </a:extLst>
          </p:cNvPr>
          <p:cNvSpPr txBox="1"/>
          <p:nvPr/>
        </p:nvSpPr>
        <p:spPr>
          <a:xfrm>
            <a:off x="2555408" y="2359477"/>
            <a:ext cx="107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/>
              <a:t>SPN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0F559A29-92F9-3EBE-7303-F9A51AB54B9B}"/>
              </a:ext>
            </a:extLst>
          </p:cNvPr>
          <p:cNvCxnSpPr/>
          <p:nvPr/>
        </p:nvCxnSpPr>
        <p:spPr>
          <a:xfrm>
            <a:off x="2826193" y="2658917"/>
            <a:ext cx="0" cy="29282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8FE9232-103D-69DF-F948-F75024F82902}"/>
              </a:ext>
            </a:extLst>
          </p:cNvPr>
          <p:cNvSpPr txBox="1"/>
          <p:nvPr/>
        </p:nvSpPr>
        <p:spPr>
          <a:xfrm>
            <a:off x="2795025" y="2618820"/>
            <a:ext cx="1079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noProof="0" dirty="0"/>
              <a:t>(despliegue)</a:t>
            </a:r>
          </a:p>
        </p:txBody>
      </p:sp>
    </p:spTree>
    <p:extLst>
      <p:ext uri="{BB962C8B-B14F-4D97-AF65-F5344CB8AC3E}">
        <p14:creationId xmlns:p14="http://schemas.microsoft.com/office/powerpoint/2010/main" val="324046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8105F-226C-21A7-5156-29C28196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2C396411-028E-715A-96F5-DA0961BFD8A3}"/>
              </a:ext>
            </a:extLst>
          </p:cNvPr>
          <p:cNvSpPr txBox="1">
            <a:spLocks/>
          </p:cNvSpPr>
          <p:nvPr/>
        </p:nvSpPr>
        <p:spPr>
          <a:xfrm>
            <a:off x="711024" y="337100"/>
            <a:ext cx="10758734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/>
              <a:t>Modelo de la solución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Flujo de ejecución</a:t>
            </a:r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BFD052DE-F1C5-2BDF-66BD-53ABB6511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35</a:t>
            </a:fld>
            <a:endParaRPr lang="es-ES" noProof="0" dirty="0">
              <a:solidFill>
                <a:srgbClr val="EC0000"/>
              </a:solidFill>
            </a:endParaRPr>
          </a:p>
        </p:txBody>
      </p:sp>
      <p:pic>
        <p:nvPicPr>
          <p:cNvPr id="29" name="Imagen 28" descr="Diagrama&#10;&#10;El contenido generado por IA puede ser incorrecto.">
            <a:extLst>
              <a:ext uri="{FF2B5EF4-FFF2-40B4-BE49-F238E27FC236}">
                <a16:creationId xmlns:a16="http://schemas.microsoft.com/office/drawing/2014/main" id="{372F0721-4158-46B4-71D6-8E29F4878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2" y="1274361"/>
            <a:ext cx="11406938" cy="430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0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91D21-3AA5-9D97-C812-EFBAA01D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162255-3390-1B6B-48E5-8BE326F3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noProof="0" smtClean="0">
                <a:solidFill>
                  <a:srgbClr val="EC0000"/>
                </a:solidFill>
              </a:rPr>
              <a:pPr/>
              <a:t>36</a:t>
            </a:fld>
            <a:endParaRPr lang="es-ES" noProof="0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2B838-C9C6-E621-153D-CA70A7DC4A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noProof="0" dirty="0"/>
              <a:t>Avance semanal</a:t>
            </a:r>
            <a:r>
              <a:rPr lang="es-ES" noProof="0" dirty="0">
                <a:solidFill>
                  <a:schemeClr val="bg1">
                    <a:lumMod val="50000"/>
                  </a:schemeClr>
                </a:solidFill>
              </a:rPr>
              <a:t>| Tiempos de ejecución manuales y priorización de tareas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AC19A59D-0310-83C7-DB2F-D500D3DF4511}"/>
              </a:ext>
            </a:extLst>
          </p:cNvPr>
          <p:cNvSpPr txBox="1"/>
          <p:nvPr/>
        </p:nvSpPr>
        <p:spPr>
          <a:xfrm>
            <a:off x="3108000" y="1564971"/>
            <a:ext cx="2988000" cy="28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BAU-6 - ALERTAS MOTOR KO	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6A231242-9A5E-C99D-678E-B2C883E18899}"/>
              </a:ext>
            </a:extLst>
          </p:cNvPr>
          <p:cNvSpPr txBox="1"/>
          <p:nvPr/>
        </p:nvSpPr>
        <p:spPr>
          <a:xfrm>
            <a:off x="3108000" y="1939931"/>
            <a:ext cx="2988000" cy="28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BAU-7 - FALLOS ALERTAS MOTOR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A852C569-1B6D-9C5D-7D53-A47A1F9464B1}"/>
              </a:ext>
            </a:extLst>
          </p:cNvPr>
          <p:cNvSpPr txBox="1"/>
          <p:nvPr/>
        </p:nvSpPr>
        <p:spPr>
          <a:xfrm>
            <a:off x="3108000" y="2314891"/>
            <a:ext cx="2988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BAU-1 - REVISION INGESTA DH</a:t>
            </a:r>
          </a:p>
        </p:txBody>
      </p:sp>
      <p:sp>
        <p:nvSpPr>
          <p:cNvPr id="10" name="TextBox 26">
            <a:extLst>
              <a:ext uri="{FF2B5EF4-FFF2-40B4-BE49-F238E27FC236}">
                <a16:creationId xmlns:a16="http://schemas.microsoft.com/office/drawing/2014/main" id="{DFFB8AA6-1614-E01C-BAFE-06CA4A5549DC}"/>
              </a:ext>
            </a:extLst>
          </p:cNvPr>
          <p:cNvSpPr txBox="1"/>
          <p:nvPr/>
        </p:nvSpPr>
        <p:spPr>
          <a:xfrm>
            <a:off x="3108000" y="2689851"/>
            <a:ext cx="2988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BAU-2 - VOLUMETRÍAS DH</a:t>
            </a: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190A13AB-9143-6294-874C-90BFB1DB681C}"/>
              </a:ext>
            </a:extLst>
          </p:cNvPr>
          <p:cNvSpPr txBox="1"/>
          <p:nvPr/>
        </p:nvSpPr>
        <p:spPr>
          <a:xfrm>
            <a:off x="3108000" y="3498689"/>
            <a:ext cx="2988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BAU-4 - INTEGRIDAD REFERENCIAL DH</a:t>
            </a: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067D4688-4D3D-6619-20F6-81B7BC6CC00A}"/>
              </a:ext>
            </a:extLst>
          </p:cNvPr>
          <p:cNvSpPr txBox="1"/>
          <p:nvPr/>
        </p:nvSpPr>
        <p:spPr>
          <a:xfrm>
            <a:off x="3108000" y="3873649"/>
            <a:ext cx="2988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BAU-18 - PROACTIVOS</a:t>
            </a:r>
          </a:p>
        </p:txBody>
      </p:sp>
      <p:sp>
        <p:nvSpPr>
          <p:cNvPr id="14" name="TextBox 30">
            <a:extLst>
              <a:ext uri="{FF2B5EF4-FFF2-40B4-BE49-F238E27FC236}">
                <a16:creationId xmlns:a16="http://schemas.microsoft.com/office/drawing/2014/main" id="{792D1E8C-3C09-A91E-B383-511BA6E0E675}"/>
              </a:ext>
            </a:extLst>
          </p:cNvPr>
          <p:cNvSpPr txBox="1"/>
          <p:nvPr/>
        </p:nvSpPr>
        <p:spPr>
          <a:xfrm>
            <a:off x="3108000" y="4248609"/>
            <a:ext cx="2988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BAU-19 - REACTIVOS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A600CBCF-E4AB-6BA6-C9DD-784D3EF1F83F}"/>
              </a:ext>
            </a:extLst>
          </p:cNvPr>
          <p:cNvSpPr txBox="1"/>
          <p:nvPr/>
        </p:nvSpPr>
        <p:spPr>
          <a:xfrm>
            <a:off x="3108000" y="4623569"/>
            <a:ext cx="2988000" cy="28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BAU-8 - REVISION CONSUMOS TM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F7AF4BA8-7512-1201-9EDE-FA7BDAA9C5E6}"/>
              </a:ext>
            </a:extLst>
          </p:cNvPr>
          <p:cNvSpPr txBox="1"/>
          <p:nvPr/>
        </p:nvSpPr>
        <p:spPr>
          <a:xfrm>
            <a:off x="3108000" y="4998529"/>
            <a:ext cx="2988000" cy="28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BAU-12 - REPORTE PROYECTO Y CORREO TM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C6BE381B-CBD5-792B-046B-777B9455BDF7}"/>
              </a:ext>
            </a:extLst>
          </p:cNvPr>
          <p:cNvSpPr txBox="1"/>
          <p:nvPr/>
        </p:nvSpPr>
        <p:spPr>
          <a:xfrm>
            <a:off x="3108000" y="5373489"/>
            <a:ext cx="2988000" cy="28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BAU-20 - CORREO TRX TYPE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836F726E-E19F-C874-EB8E-DEF28829518F}"/>
              </a:ext>
            </a:extLst>
          </p:cNvPr>
          <p:cNvSpPr txBox="1"/>
          <p:nvPr/>
        </p:nvSpPr>
        <p:spPr>
          <a:xfrm>
            <a:off x="3108000" y="1190011"/>
            <a:ext cx="2988000" cy="28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BAU-5 - ALERTAS MOTOR WARNING	</a:t>
            </a:r>
          </a:p>
        </p:txBody>
      </p:sp>
      <p:sp>
        <p:nvSpPr>
          <p:cNvPr id="20" name="Rectangle 41">
            <a:extLst>
              <a:ext uri="{FF2B5EF4-FFF2-40B4-BE49-F238E27FC236}">
                <a16:creationId xmlns:a16="http://schemas.microsoft.com/office/drawing/2014/main" id="{AE760501-4AD5-308D-F07B-F8C9BB0511EE}"/>
              </a:ext>
            </a:extLst>
          </p:cNvPr>
          <p:cNvSpPr/>
          <p:nvPr/>
        </p:nvSpPr>
        <p:spPr>
          <a:xfrm>
            <a:off x="6223778" y="1190011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30 minutos x 4 países = 2 horas</a:t>
            </a:r>
          </a:p>
        </p:txBody>
      </p:sp>
      <p:sp>
        <p:nvSpPr>
          <p:cNvPr id="104" name="Rectangle 41">
            <a:extLst>
              <a:ext uri="{FF2B5EF4-FFF2-40B4-BE49-F238E27FC236}">
                <a16:creationId xmlns:a16="http://schemas.microsoft.com/office/drawing/2014/main" id="{E975F4E0-D234-9F39-12B1-9DD04CF8EB0A}"/>
              </a:ext>
            </a:extLst>
          </p:cNvPr>
          <p:cNvSpPr/>
          <p:nvPr/>
        </p:nvSpPr>
        <p:spPr>
          <a:xfrm>
            <a:off x="6223778" y="1564971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30 minutos x 4 países = 2 horas</a:t>
            </a:r>
          </a:p>
        </p:txBody>
      </p:sp>
      <p:sp>
        <p:nvSpPr>
          <p:cNvPr id="105" name="Rectangle 41">
            <a:extLst>
              <a:ext uri="{FF2B5EF4-FFF2-40B4-BE49-F238E27FC236}">
                <a16:creationId xmlns:a16="http://schemas.microsoft.com/office/drawing/2014/main" id="{15B65850-D048-7E36-1296-853B34475A25}"/>
              </a:ext>
            </a:extLst>
          </p:cNvPr>
          <p:cNvSpPr/>
          <p:nvPr/>
        </p:nvSpPr>
        <p:spPr>
          <a:xfrm>
            <a:off x="6223778" y="1939931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30 minutos x 4 países = 2 horas</a:t>
            </a:r>
          </a:p>
        </p:txBody>
      </p:sp>
      <p:sp>
        <p:nvSpPr>
          <p:cNvPr id="106" name="Rectangle 41">
            <a:extLst>
              <a:ext uri="{FF2B5EF4-FFF2-40B4-BE49-F238E27FC236}">
                <a16:creationId xmlns:a16="http://schemas.microsoft.com/office/drawing/2014/main" id="{01989265-52A3-42E7-EE35-90D80FEEB1A1}"/>
              </a:ext>
            </a:extLst>
          </p:cNvPr>
          <p:cNvSpPr/>
          <p:nvPr/>
        </p:nvSpPr>
        <p:spPr>
          <a:xfrm>
            <a:off x="6223778" y="2314891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30 minutos x 4 países = 2 horas</a:t>
            </a:r>
          </a:p>
        </p:txBody>
      </p:sp>
      <p:sp>
        <p:nvSpPr>
          <p:cNvPr id="107" name="Rectangle 41">
            <a:extLst>
              <a:ext uri="{FF2B5EF4-FFF2-40B4-BE49-F238E27FC236}">
                <a16:creationId xmlns:a16="http://schemas.microsoft.com/office/drawing/2014/main" id="{65612988-345A-D8B9-D070-DAE00A3468E6}"/>
              </a:ext>
            </a:extLst>
          </p:cNvPr>
          <p:cNvSpPr/>
          <p:nvPr/>
        </p:nvSpPr>
        <p:spPr>
          <a:xfrm>
            <a:off x="6223778" y="2689851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30 minutos x 4 países = 2 horas</a:t>
            </a:r>
          </a:p>
        </p:txBody>
      </p:sp>
      <p:sp>
        <p:nvSpPr>
          <p:cNvPr id="108" name="Rectangle 41">
            <a:extLst>
              <a:ext uri="{FF2B5EF4-FFF2-40B4-BE49-F238E27FC236}">
                <a16:creationId xmlns:a16="http://schemas.microsoft.com/office/drawing/2014/main" id="{18FC1E81-7677-0AB7-2B7C-109E76C3E498}"/>
              </a:ext>
            </a:extLst>
          </p:cNvPr>
          <p:cNvSpPr/>
          <p:nvPr/>
        </p:nvSpPr>
        <p:spPr>
          <a:xfrm>
            <a:off x="6223778" y="3498689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12 minutos x 4 países = 48 min</a:t>
            </a:r>
          </a:p>
        </p:txBody>
      </p:sp>
      <p:sp>
        <p:nvSpPr>
          <p:cNvPr id="109" name="Rectangle 41">
            <a:extLst>
              <a:ext uri="{FF2B5EF4-FFF2-40B4-BE49-F238E27FC236}">
                <a16:creationId xmlns:a16="http://schemas.microsoft.com/office/drawing/2014/main" id="{A732E203-C7ED-8ABE-48DF-1EC775F4A256}"/>
              </a:ext>
            </a:extLst>
          </p:cNvPr>
          <p:cNvSpPr/>
          <p:nvPr/>
        </p:nvSpPr>
        <p:spPr>
          <a:xfrm>
            <a:off x="6223778" y="3873649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90 minutos x 4 países = 6 horas</a:t>
            </a:r>
          </a:p>
        </p:txBody>
      </p:sp>
      <p:sp>
        <p:nvSpPr>
          <p:cNvPr id="110" name="Rectangle 41">
            <a:extLst>
              <a:ext uri="{FF2B5EF4-FFF2-40B4-BE49-F238E27FC236}">
                <a16:creationId xmlns:a16="http://schemas.microsoft.com/office/drawing/2014/main" id="{7055CC4A-3E68-E234-A08B-229EF01FA6D6}"/>
              </a:ext>
            </a:extLst>
          </p:cNvPr>
          <p:cNvSpPr/>
          <p:nvPr/>
        </p:nvSpPr>
        <p:spPr>
          <a:xfrm>
            <a:off x="6223778" y="4253037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90 minutos x 4 países = 6 horas</a:t>
            </a:r>
          </a:p>
        </p:txBody>
      </p:sp>
      <p:sp>
        <p:nvSpPr>
          <p:cNvPr id="111" name="Rectangle 41">
            <a:extLst>
              <a:ext uri="{FF2B5EF4-FFF2-40B4-BE49-F238E27FC236}">
                <a16:creationId xmlns:a16="http://schemas.microsoft.com/office/drawing/2014/main" id="{0FB5205A-E922-AEE4-767A-D8A30A0B8E51}"/>
              </a:ext>
            </a:extLst>
          </p:cNvPr>
          <p:cNvSpPr/>
          <p:nvPr/>
        </p:nvSpPr>
        <p:spPr>
          <a:xfrm>
            <a:off x="6223778" y="4623569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60 minutos x 3 países = 3 horas</a:t>
            </a:r>
          </a:p>
        </p:txBody>
      </p:sp>
      <p:sp>
        <p:nvSpPr>
          <p:cNvPr id="112" name="Rectangle 41">
            <a:extLst>
              <a:ext uri="{FF2B5EF4-FFF2-40B4-BE49-F238E27FC236}">
                <a16:creationId xmlns:a16="http://schemas.microsoft.com/office/drawing/2014/main" id="{F05E5158-3552-CCFF-F2D3-A1B528A37443}"/>
              </a:ext>
            </a:extLst>
          </p:cNvPr>
          <p:cNvSpPr/>
          <p:nvPr/>
        </p:nvSpPr>
        <p:spPr>
          <a:xfrm>
            <a:off x="6223778" y="4998529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30 minutos x 4 países = 2 horas</a:t>
            </a:r>
          </a:p>
        </p:txBody>
      </p:sp>
      <p:sp>
        <p:nvSpPr>
          <p:cNvPr id="113" name="Rectangle 41">
            <a:extLst>
              <a:ext uri="{FF2B5EF4-FFF2-40B4-BE49-F238E27FC236}">
                <a16:creationId xmlns:a16="http://schemas.microsoft.com/office/drawing/2014/main" id="{4B31D2CE-3D67-AF1C-2F33-9699D4847DD4}"/>
              </a:ext>
            </a:extLst>
          </p:cNvPr>
          <p:cNvSpPr/>
          <p:nvPr/>
        </p:nvSpPr>
        <p:spPr>
          <a:xfrm>
            <a:off x="6223778" y="5373489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30 min x 3 países = 1.5 horas</a:t>
            </a:r>
          </a:p>
        </p:txBody>
      </p:sp>
      <p:sp>
        <p:nvSpPr>
          <p:cNvPr id="115" name="TextBox 27">
            <a:extLst>
              <a:ext uri="{FF2B5EF4-FFF2-40B4-BE49-F238E27FC236}">
                <a16:creationId xmlns:a16="http://schemas.microsoft.com/office/drawing/2014/main" id="{9461B0FE-B85E-0015-A608-4B1FF8809695}"/>
              </a:ext>
            </a:extLst>
          </p:cNvPr>
          <p:cNvSpPr txBox="1"/>
          <p:nvPr/>
        </p:nvSpPr>
        <p:spPr>
          <a:xfrm>
            <a:off x="3108000" y="3092943"/>
            <a:ext cx="2988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1200" noProof="0" dirty="0"/>
              <a:t>BAU-3 – ALERTAS ING</a:t>
            </a:r>
          </a:p>
        </p:txBody>
      </p:sp>
      <p:sp>
        <p:nvSpPr>
          <p:cNvPr id="116" name="Rectangle 41">
            <a:extLst>
              <a:ext uri="{FF2B5EF4-FFF2-40B4-BE49-F238E27FC236}">
                <a16:creationId xmlns:a16="http://schemas.microsoft.com/office/drawing/2014/main" id="{97CCA52B-5A21-BC4F-D9C0-A8CE41EDB5C0}"/>
              </a:ext>
            </a:extLst>
          </p:cNvPr>
          <p:cNvSpPr/>
          <p:nvPr/>
        </p:nvSpPr>
        <p:spPr>
          <a:xfrm>
            <a:off x="6223778" y="3092943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30 minutos x 4 países = 2 horas</a:t>
            </a:r>
          </a:p>
        </p:txBody>
      </p:sp>
      <p:sp>
        <p:nvSpPr>
          <p:cNvPr id="119" name="Cerrar llave 118">
            <a:extLst>
              <a:ext uri="{FF2B5EF4-FFF2-40B4-BE49-F238E27FC236}">
                <a16:creationId xmlns:a16="http://schemas.microsoft.com/office/drawing/2014/main" id="{F0721C6E-2B3A-CA0F-B953-61DCBD28B907}"/>
              </a:ext>
            </a:extLst>
          </p:cNvPr>
          <p:cNvSpPr/>
          <p:nvPr/>
        </p:nvSpPr>
        <p:spPr>
          <a:xfrm>
            <a:off x="8587540" y="2314891"/>
            <a:ext cx="275303" cy="1471798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0" name="Rectangle 41">
            <a:extLst>
              <a:ext uri="{FF2B5EF4-FFF2-40B4-BE49-F238E27FC236}">
                <a16:creationId xmlns:a16="http://schemas.microsoft.com/office/drawing/2014/main" id="{33B626BD-59E0-DA61-6BD4-29457C3AEF5B}"/>
              </a:ext>
            </a:extLst>
          </p:cNvPr>
          <p:cNvSpPr/>
          <p:nvPr/>
        </p:nvSpPr>
        <p:spPr>
          <a:xfrm>
            <a:off x="8912900" y="2906790"/>
            <a:ext cx="2049128" cy="28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noProof="0" dirty="0"/>
              <a:t>Total = 6 horas y 48 min</a:t>
            </a:r>
          </a:p>
        </p:txBody>
      </p:sp>
      <p:sp>
        <p:nvSpPr>
          <p:cNvPr id="121" name="TextBox 38">
            <a:extLst>
              <a:ext uri="{FF2B5EF4-FFF2-40B4-BE49-F238E27FC236}">
                <a16:creationId xmlns:a16="http://schemas.microsoft.com/office/drawing/2014/main" id="{20BBBD28-81BC-90A6-7919-F63977BE7109}"/>
              </a:ext>
            </a:extLst>
          </p:cNvPr>
          <p:cNvSpPr txBox="1"/>
          <p:nvPr/>
        </p:nvSpPr>
        <p:spPr>
          <a:xfrm>
            <a:off x="2685953" y="1190011"/>
            <a:ext cx="360000" cy="10379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noProof="0" dirty="0"/>
              <a:t>R 1</a:t>
            </a:r>
          </a:p>
        </p:txBody>
      </p:sp>
      <p:sp>
        <p:nvSpPr>
          <p:cNvPr id="122" name="TextBox 39">
            <a:extLst>
              <a:ext uri="{FF2B5EF4-FFF2-40B4-BE49-F238E27FC236}">
                <a16:creationId xmlns:a16="http://schemas.microsoft.com/office/drawing/2014/main" id="{B4E91AEC-C7AA-6919-228A-7602FAA5A2BF}"/>
              </a:ext>
            </a:extLst>
          </p:cNvPr>
          <p:cNvSpPr txBox="1"/>
          <p:nvPr/>
        </p:nvSpPr>
        <p:spPr>
          <a:xfrm>
            <a:off x="2685246" y="2314891"/>
            <a:ext cx="360000" cy="22217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noProof="0" dirty="0"/>
              <a:t>R 2</a:t>
            </a:r>
          </a:p>
        </p:txBody>
      </p:sp>
      <p:sp>
        <p:nvSpPr>
          <p:cNvPr id="123" name="TextBox 40">
            <a:extLst>
              <a:ext uri="{FF2B5EF4-FFF2-40B4-BE49-F238E27FC236}">
                <a16:creationId xmlns:a16="http://schemas.microsoft.com/office/drawing/2014/main" id="{7A423032-2D6D-3931-2781-1E75692EFBC1}"/>
              </a:ext>
            </a:extLst>
          </p:cNvPr>
          <p:cNvSpPr txBox="1"/>
          <p:nvPr/>
        </p:nvSpPr>
        <p:spPr>
          <a:xfrm>
            <a:off x="2685246" y="4623569"/>
            <a:ext cx="360000" cy="1037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noProof="0" dirty="0"/>
              <a:t>R 3</a:t>
            </a:r>
          </a:p>
        </p:txBody>
      </p:sp>
    </p:spTree>
    <p:extLst>
      <p:ext uri="{BB962C8B-B14F-4D97-AF65-F5344CB8AC3E}">
        <p14:creationId xmlns:p14="http://schemas.microsoft.com/office/powerpoint/2010/main" val="281847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Tema de Office">
  <a:themeElements>
    <a:clrScheme name="SANTANDER 2018">
      <a:dk1>
        <a:sysClr val="windowText" lastClr="000000"/>
      </a:dk1>
      <a:lt1>
        <a:srgbClr val="FFFFFF"/>
      </a:lt1>
      <a:dk2>
        <a:srgbClr val="595959"/>
      </a:dk2>
      <a:lt2>
        <a:srgbClr val="E7E6E6"/>
      </a:lt2>
      <a:accent1>
        <a:srgbClr val="EC0000"/>
      </a:accent1>
      <a:accent2>
        <a:srgbClr val="C00000"/>
      </a:accent2>
      <a:accent3>
        <a:srgbClr val="9E3667"/>
      </a:accent3>
      <a:accent4>
        <a:srgbClr val="63BA68"/>
      </a:accent4>
      <a:accent5>
        <a:srgbClr val="9BC3D3"/>
      </a:accent5>
      <a:accent6>
        <a:srgbClr val="FFCC33"/>
      </a:accent6>
      <a:hlink>
        <a:srgbClr val="9E3667"/>
      </a:hlink>
      <a:folHlink>
        <a:srgbClr val="C3DEE7"/>
      </a:folHlink>
    </a:clrScheme>
    <a:fontScheme name="Santander Text">
      <a:majorFont>
        <a:latin typeface="santander Headline"/>
        <a:ea typeface=""/>
        <a:cs typeface=""/>
      </a:majorFont>
      <a:minorFont>
        <a:latin typeface="Santander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C241B9AB8204C8F2B925E6F064CB7" ma:contentTypeVersion="12" ma:contentTypeDescription="Create a new document." ma:contentTypeScope="" ma:versionID="0b409432d3ecd30919230805a805c2f1">
  <xsd:schema xmlns:xsd="http://www.w3.org/2001/XMLSchema" xmlns:xs="http://www.w3.org/2001/XMLSchema" xmlns:p="http://schemas.microsoft.com/office/2006/metadata/properties" xmlns:ns2="046b0b33-5eed-4fe5-a8ca-fbc9f283cec7" xmlns:ns3="a5940a1a-ef88-45f0-9b55-9425e74901c8" targetNamespace="http://schemas.microsoft.com/office/2006/metadata/properties" ma:root="true" ma:fieldsID="60db6cf27893869fab90531d816b78f6" ns2:_="" ns3:_="">
    <xsd:import namespace="046b0b33-5eed-4fe5-a8ca-fbc9f283cec7"/>
    <xsd:import namespace="a5940a1a-ef88-45f0-9b55-9425e74901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b0b33-5eed-4fe5-a8ca-fbc9f283c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940a1a-ef88-45f0-9b55-9425e74901c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c855d4b-c1e5-4529-8ebb-5ab02bb16d83}" ma:internalName="TaxCatchAll" ma:showField="CatchAllData" ma:web="a5940a1a-ef88-45f0-9b55-9425e74901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6b0b33-5eed-4fe5-a8ca-fbc9f283cec7">
      <Terms xmlns="http://schemas.microsoft.com/office/infopath/2007/PartnerControls"/>
    </lcf76f155ced4ddcb4097134ff3c332f>
    <TaxCatchAll xmlns="a5940a1a-ef88-45f0-9b55-9425e74901c8" xsi:nil="true"/>
  </documentManagement>
</p:properties>
</file>

<file path=customXml/itemProps1.xml><?xml version="1.0" encoding="utf-8"?>
<ds:datastoreItem xmlns:ds="http://schemas.openxmlformats.org/officeDocument/2006/customXml" ds:itemID="{51BEC2EB-C958-4234-A36F-1F1841B380E9}">
  <ds:schemaRefs>
    <ds:schemaRef ds:uri="046b0b33-5eed-4fe5-a8ca-fbc9f283cec7"/>
    <ds:schemaRef ds:uri="a5940a1a-ef88-45f0-9b55-9425e74901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3A6EC3E-D3B7-4C6B-8AD8-290EB9DCFE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8C8427-13F9-44A9-A938-DAC6F6855F4B}">
  <ds:schemaRefs>
    <ds:schemaRef ds:uri="046b0b33-5eed-4fe5-a8ca-fbc9f283cec7"/>
    <ds:schemaRef ds:uri="a5940a1a-ef88-45f0-9b55-9425e74901c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995</TotalTime>
  <Words>5190</Words>
  <Application>Microsoft Office PowerPoint</Application>
  <PresentationFormat>Panorámica</PresentationFormat>
  <Paragraphs>621</Paragraphs>
  <Slides>36</Slides>
  <Notes>25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8" baseType="lpstr">
      <vt:lpstr>Appian Open Sans</vt:lpstr>
      <vt:lpstr>Arial</vt:lpstr>
      <vt:lpstr>Calibri</vt:lpstr>
      <vt:lpstr>Roboto</vt:lpstr>
      <vt:lpstr>Roboto Black</vt:lpstr>
      <vt:lpstr>santander Headline</vt:lpstr>
      <vt:lpstr>santander Headline</vt:lpstr>
      <vt:lpstr>Santander Text</vt:lpstr>
      <vt:lpstr>Santander Text Light</vt:lpstr>
      <vt:lpstr>Segoe UI Light</vt:lpstr>
      <vt:lpstr>1_Tema de Office</vt:lpstr>
      <vt:lpstr>Worksheet</vt:lpstr>
      <vt:lpstr>Presentación de PowerPoint</vt:lpstr>
      <vt:lpstr>Presentación de PowerPoint</vt:lpstr>
      <vt:lpstr>Avance semanal</vt:lpstr>
      <vt:lpstr>Presentación de PowerPoint</vt:lpstr>
      <vt:lpstr>Presentación de PowerPoint</vt:lpstr>
      <vt:lpstr>Presentación de PowerPoint</vt:lpstr>
      <vt:lpstr>Riesgos</vt:lpstr>
      <vt:lpstr>Presentación de PowerPoint</vt:lpstr>
      <vt:lpstr>Presentación de PowerPoint</vt:lpstr>
      <vt:lpstr>Cronograma</vt:lpstr>
      <vt:lpstr>Presentación de PowerPoint</vt:lpstr>
      <vt:lpstr>Anexos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Modelo de la solución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Reporting @ a glance</dc:title>
  <dc:creator>Álvaro Alonso</dc:creator>
  <cp:lastModifiedBy>Malo Delgado Aitor</cp:lastModifiedBy>
  <cp:revision>4</cp:revision>
  <dcterms:created xsi:type="dcterms:W3CDTF">2022-01-24T12:37:22Z</dcterms:created>
  <dcterms:modified xsi:type="dcterms:W3CDTF">2026-05-19T07:25:41Z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2022-01-24T12:37:58Z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85ee008b-eb91-4769-a061-aa85e736dc1d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0x01010007AC241B9AB8204C8F2B925E6F064CB7</vt:lpwstr>
  </property>
  <property fmtid="{D5CDD505-2E9C-101B-9397-08002B2CF9AE}" pid="10" name="MediaServiceImageTags">
    <vt:lpwstr/>
  </property>
</Properties>
</file>